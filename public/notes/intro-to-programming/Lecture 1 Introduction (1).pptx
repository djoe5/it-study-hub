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335" r:id="rId3"/>
    <p:sldId id="336" r:id="rId4"/>
    <p:sldId id="351" r:id="rId5"/>
    <p:sldId id="337" r:id="rId6"/>
    <p:sldId id="325" r:id="rId7"/>
    <p:sldId id="31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447" autoAdjust="0"/>
  </p:normalViewPr>
  <p:slideViewPr>
    <p:cSldViewPr>
      <p:cViewPr varScale="1">
        <p:scale>
          <a:sx n="64" d="100"/>
          <a:sy n="64" d="100"/>
        </p:scale>
        <p:origin x="1377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4E276-7D1F-42D8-A171-284D73575D1F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C52C6-0320-4B5F-8334-EB87A0B30F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27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24D47-3486-4AE5-B0F8-A0ADEB15F751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A17F8-ACF4-426B-9698-112FA0C689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4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Controversial but important: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 is a task of writing programs for humans to read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740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Controversial but important: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 is a task of writing programs for humans to read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767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Controversial but important: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 is a task of writing programs for humans to read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532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Controversial but important: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 is a task of writing programs for humans to read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35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Controversial but important: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coding is a task of writing programs for humans to read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1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1610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972005" y="6114663"/>
            <a:ext cx="1171996" cy="756216"/>
            <a:chOff x="7778839" y="4853722"/>
            <a:chExt cx="1171996" cy="75621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ight Triangle 14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ight Triangle 15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005" y="6356353"/>
            <a:ext cx="414556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ight Triangle 8"/>
          <p:cNvSpPr/>
          <p:nvPr/>
        </p:nvSpPr>
        <p:spPr>
          <a:xfrm flipV="1">
            <a:off x="1" y="0"/>
            <a:ext cx="1142431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ight Triangle 9"/>
          <p:cNvSpPr/>
          <p:nvPr/>
        </p:nvSpPr>
        <p:spPr>
          <a:xfrm>
            <a:off x="-3138" y="40944"/>
            <a:ext cx="886265" cy="6073721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ight Triangle 10"/>
          <p:cNvSpPr/>
          <p:nvPr/>
        </p:nvSpPr>
        <p:spPr>
          <a:xfrm flipV="1">
            <a:off x="1" y="-1"/>
            <a:ext cx="668740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7034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9583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2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8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B793A9B3-CA40-4F9D-A0C8-F4EDA8B6F9E1}" type="datetime1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0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66355CFD-B392-48D8-88A5-3F76B0F03BCA}" type="datetime1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959144" y="6356353"/>
            <a:ext cx="427416" cy="365125"/>
          </a:xfrm>
        </p:spPr>
        <p:txBody>
          <a:bodyPr/>
          <a:lstStyle>
            <a:lvl1pPr algn="ctr">
              <a:defRPr/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88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3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9787ADF8-7971-4E2D-90C6-01BF4353FCFD}" type="datetime1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9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7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325E7E42-09EA-4DC3-BE1C-B6F0D788B8F3}" type="datetime1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5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97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9806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972005" y="6101784"/>
            <a:ext cx="1171996" cy="756216"/>
            <a:chOff x="7778839" y="4853722"/>
            <a:chExt cx="1171996" cy="756216"/>
          </a:xfrm>
        </p:grpSpPr>
        <p:sp>
          <p:nvSpPr>
            <p:cNvPr id="8" name="Rectangle 7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ight Triangle 8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ight Triangle 9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1" y="6115851"/>
            <a:ext cx="7972004" cy="756216"/>
          </a:xfrm>
          <a:prstGeom prst="rect">
            <a:avLst/>
          </a:prstGeom>
          <a:solidFill>
            <a:srgbClr val="DBB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703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29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2005" y="6293778"/>
            <a:ext cx="414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201127" y="6360922"/>
            <a:ext cx="4301877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675" i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Advancing Knowledge, Driving Change </a:t>
            </a:r>
            <a:r>
              <a:rPr lang="en-US" altLang="en-US" sz="675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675" b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www.kcau.ac.ke</a:t>
            </a:r>
          </a:p>
        </p:txBody>
      </p:sp>
      <p:sp>
        <p:nvSpPr>
          <p:cNvPr id="13" name="Right Triangle 12"/>
          <p:cNvSpPr/>
          <p:nvPr/>
        </p:nvSpPr>
        <p:spPr>
          <a:xfrm flipV="1">
            <a:off x="1" y="0"/>
            <a:ext cx="1142431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ight Triangle 13"/>
          <p:cNvSpPr/>
          <p:nvPr/>
        </p:nvSpPr>
        <p:spPr>
          <a:xfrm>
            <a:off x="-3138" y="40944"/>
            <a:ext cx="886265" cy="6074909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ight Triangle 14"/>
          <p:cNvSpPr/>
          <p:nvPr/>
        </p:nvSpPr>
        <p:spPr>
          <a:xfrm flipV="1">
            <a:off x="1" y="-1"/>
            <a:ext cx="668740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/>
          <p:cNvSpPr/>
          <p:nvPr/>
        </p:nvSpPr>
        <p:spPr>
          <a:xfrm>
            <a:off x="-3138" y="6101786"/>
            <a:ext cx="1038665" cy="770283"/>
          </a:xfrm>
          <a:custGeom>
            <a:avLst/>
            <a:gdLst>
              <a:gd name="connsiteX0" fmla="*/ 0 w 886265"/>
              <a:gd name="connsiteY0" fmla="*/ 0 h 770283"/>
              <a:gd name="connsiteX1" fmla="*/ 886265 w 886265"/>
              <a:gd name="connsiteY1" fmla="*/ 0 h 770283"/>
              <a:gd name="connsiteX2" fmla="*/ 886265 w 886265"/>
              <a:gd name="connsiteY2" fmla="*/ 770283 h 770283"/>
              <a:gd name="connsiteX3" fmla="*/ 0 w 886265"/>
              <a:gd name="connsiteY3" fmla="*/ 770283 h 770283"/>
              <a:gd name="connsiteX4" fmla="*/ 0 w 886265"/>
              <a:gd name="connsiteY4" fmla="*/ 0 h 770283"/>
              <a:gd name="connsiteX0" fmla="*/ 0 w 1038665"/>
              <a:gd name="connsiteY0" fmla="*/ 0 h 770283"/>
              <a:gd name="connsiteX1" fmla="*/ 886265 w 1038665"/>
              <a:gd name="connsiteY1" fmla="*/ 0 h 770283"/>
              <a:gd name="connsiteX2" fmla="*/ 1038665 w 1038665"/>
              <a:gd name="connsiteY2" fmla="*/ 770283 h 770283"/>
              <a:gd name="connsiteX3" fmla="*/ 0 w 1038665"/>
              <a:gd name="connsiteY3" fmla="*/ 770283 h 770283"/>
              <a:gd name="connsiteX4" fmla="*/ 0 w 1038665"/>
              <a:gd name="connsiteY4" fmla="*/ 0 h 770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665" h="770283">
                <a:moveTo>
                  <a:pt x="0" y="0"/>
                </a:moveTo>
                <a:lnTo>
                  <a:pt x="886265" y="0"/>
                </a:lnTo>
                <a:lnTo>
                  <a:pt x="1038665" y="770283"/>
                </a:lnTo>
                <a:lnTo>
                  <a:pt x="0" y="7702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8" y="6156700"/>
            <a:ext cx="594992" cy="63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6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in/c-tutorial/" TargetMode="External"/><Relationship Id="rId7" Type="http://schemas.openxmlformats.org/officeDocument/2006/relationships/hyperlink" Target="https://www.youtube.com/watch?v=_NethtgMc64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tudysmarter.co.uk/explanations/computer-science/computer-programming/c-main/" TargetMode="External"/><Relationship Id="rId5" Type="http://schemas.openxmlformats.org/officeDocument/2006/relationships/hyperlink" Target="https://www.learn-c.org/" TargetMode="External"/><Relationship Id="rId4" Type="http://schemas.openxmlformats.org/officeDocument/2006/relationships/hyperlink" Target="https://www.tutorialspoint.com/cprogramming/index.htm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04800"/>
            <a:ext cx="7696200" cy="56388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Introduction:</a:t>
            </a:r>
            <a:endParaRPr lang="en-US" sz="26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600" b="1" dirty="0"/>
              <a:t>Lesson objectives:</a:t>
            </a:r>
          </a:p>
          <a:p>
            <a:pPr algn="l"/>
            <a:r>
              <a:rPr lang="en-US" sz="2000" dirty="0"/>
              <a:t>By the end of this lesson the learner will be able to: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Describe the basic concepts in computer programming.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Describe the general operations of a computer program.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/>
              <a:t>Formulate simple code to get the console to display text and read input in C language.</a:t>
            </a:r>
          </a:p>
          <a:p>
            <a:pPr algn="l"/>
            <a:endParaRPr lang="en-US" sz="26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04800"/>
            <a:ext cx="7696200" cy="56388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Introduction:</a:t>
            </a:r>
            <a:endParaRPr lang="en-US" sz="26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Program</a:t>
            </a:r>
            <a:r>
              <a:rPr lang="en-US" sz="2200" b="1" dirty="0">
                <a:solidFill>
                  <a:schemeClr val="tx1"/>
                </a:solidFill>
              </a:rPr>
              <a:t>: </a:t>
            </a:r>
            <a:r>
              <a:rPr lang="en-US" sz="2200" dirty="0">
                <a:solidFill>
                  <a:schemeClr val="tx1"/>
                </a:solidFill>
              </a:rPr>
              <a:t>Sequence of instructions that a computer can </a:t>
            </a:r>
            <a:r>
              <a:rPr lang="en-US" sz="2200" b="1" dirty="0">
                <a:solidFill>
                  <a:schemeClr val="tx1"/>
                </a:solidFill>
              </a:rPr>
              <a:t>decode</a:t>
            </a:r>
            <a:r>
              <a:rPr lang="en-US" sz="2200" dirty="0">
                <a:solidFill>
                  <a:schemeClr val="tx1"/>
                </a:solidFill>
              </a:rPr>
              <a:t> and </a:t>
            </a:r>
            <a:r>
              <a:rPr lang="en-US" sz="2200" b="1" dirty="0">
                <a:solidFill>
                  <a:schemeClr val="tx1"/>
                </a:solidFill>
              </a:rPr>
              <a:t>execute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Programming language: </a:t>
            </a:r>
            <a:r>
              <a:rPr lang="en-US" sz="2200" dirty="0"/>
              <a:t>A software used to write instructions for a computer.</a:t>
            </a:r>
            <a:endParaRPr lang="en-US" sz="2200" dirty="0">
              <a:solidFill>
                <a:schemeClr val="tx1"/>
              </a:solidFill>
            </a:endParaRP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Program design</a:t>
            </a:r>
            <a:r>
              <a:rPr lang="en-US" sz="2200" dirty="0">
                <a:solidFill>
                  <a:srgbClr val="FF0000"/>
                </a:solidFill>
              </a:rPr>
              <a:t>: </a:t>
            </a:r>
            <a:r>
              <a:rPr lang="en-US" sz="2200" dirty="0">
                <a:solidFill>
                  <a:schemeClr val="tx1"/>
                </a:solidFill>
              </a:rPr>
              <a:t>A blueprint of a program(</a:t>
            </a:r>
            <a:r>
              <a:rPr lang="en-US" sz="2200" b="1" dirty="0">
                <a:solidFill>
                  <a:schemeClr val="tx1"/>
                </a:solidFill>
              </a:rPr>
              <a:t>algorithm</a:t>
            </a:r>
            <a:r>
              <a:rPr lang="en-US" sz="2200" dirty="0">
                <a:solidFill>
                  <a:schemeClr val="tx1"/>
                </a:solidFill>
              </a:rPr>
              <a:t>).</a:t>
            </a: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Pre-processor: </a:t>
            </a:r>
            <a:r>
              <a:rPr lang="en-US" sz="2200" dirty="0">
                <a:solidFill>
                  <a:schemeClr val="tx1"/>
                </a:solidFill>
              </a:rPr>
              <a:t>A small program that prepares the source code for compilation</a:t>
            </a:r>
            <a:r>
              <a:rPr lang="en-US" sz="2200" dirty="0"/>
              <a:t>.  </a:t>
            </a:r>
            <a:endParaRPr lang="en-US" sz="2200" dirty="0">
              <a:solidFill>
                <a:schemeClr val="tx1"/>
              </a:solidFill>
            </a:endParaRP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Header file</a:t>
            </a:r>
            <a:r>
              <a:rPr lang="en-US" sz="2200" dirty="0">
                <a:solidFill>
                  <a:schemeClr val="tx1"/>
                </a:solidFill>
              </a:rPr>
              <a:t>: File that store built-in functions</a:t>
            </a:r>
            <a:r>
              <a:rPr lang="en-US" sz="2200" dirty="0"/>
              <a:t> e.g. </a:t>
            </a:r>
            <a:r>
              <a:rPr lang="en-US" sz="2200" b="1" dirty="0">
                <a:solidFill>
                  <a:schemeClr val="tx1"/>
                </a:solidFill>
              </a:rPr>
              <a:t>&lt;</a:t>
            </a:r>
            <a:r>
              <a:rPr lang="en-US" sz="2200" b="1" dirty="0" err="1">
                <a:solidFill>
                  <a:schemeClr val="tx1"/>
                </a:solidFill>
              </a:rPr>
              <a:t>stdio.h</a:t>
            </a:r>
            <a:r>
              <a:rPr lang="en-US" sz="2200" b="1" dirty="0">
                <a:solidFill>
                  <a:schemeClr val="tx1"/>
                </a:solidFill>
              </a:rPr>
              <a:t>&gt;</a:t>
            </a: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Bugs/Errors</a:t>
            </a:r>
            <a:r>
              <a:rPr lang="en-US" sz="2200" dirty="0">
                <a:solidFill>
                  <a:srgbClr val="FF0000"/>
                </a:solidFill>
              </a:rPr>
              <a:t>: </a:t>
            </a:r>
            <a:r>
              <a:rPr lang="en-US" sz="2200" dirty="0">
                <a:solidFill>
                  <a:schemeClr val="tx1"/>
                </a:solidFill>
              </a:rPr>
              <a:t>A mistake or omission that stops the program from compilation, running or causes the program to generate unexpected results.</a:t>
            </a: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Program testing</a:t>
            </a:r>
            <a:r>
              <a:rPr lang="en-US" sz="2200" b="1" dirty="0">
                <a:solidFill>
                  <a:schemeClr val="tx1"/>
                </a:solidFill>
              </a:rPr>
              <a:t>: </a:t>
            </a:r>
            <a:r>
              <a:rPr lang="en-US" sz="2200" dirty="0">
                <a:solidFill>
                  <a:schemeClr val="tx1"/>
                </a:solidFill>
              </a:rPr>
              <a:t>Running the program to detect errors</a:t>
            </a: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Debugging: </a:t>
            </a:r>
            <a:r>
              <a:rPr lang="en-US" sz="2200" dirty="0">
                <a:solidFill>
                  <a:schemeClr val="tx1"/>
                </a:solidFill>
              </a:rPr>
              <a:t>Process of removing errors from a program.</a:t>
            </a: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Program profiling</a:t>
            </a:r>
            <a:r>
              <a:rPr lang="en-US" sz="2200" dirty="0">
                <a:solidFill>
                  <a:schemeClr val="tx1"/>
                </a:solidFill>
              </a:rPr>
              <a:t>: Running the program to estimate its efficiency.</a:t>
            </a:r>
          </a:p>
          <a:p>
            <a:pPr algn="l">
              <a:buFont typeface="Wingdings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Programmer: </a:t>
            </a:r>
            <a:r>
              <a:rPr lang="en-US" sz="2200" dirty="0">
                <a:solidFill>
                  <a:schemeClr val="tx1"/>
                </a:solidFill>
              </a:rPr>
              <a:t>An individual with knowledge and skills for computer programming. </a:t>
            </a: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03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04800"/>
            <a:ext cx="7696200" cy="56388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Introduction:</a:t>
            </a:r>
            <a:endParaRPr lang="en-US" sz="26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200" b="1" dirty="0"/>
              <a:t>How a program works: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All programs in general work as follows: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Read data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from an input device, such as the keyboard, a disk ﬁle, the internet, etc., into main memory.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Load data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from main memory into CPU registers.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Perform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arithmetic/logic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on the data.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the results in main memory.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Write the results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an output device, such as the screen, a disk ﬁle, audio speakers, etc.</a:t>
            </a:r>
          </a:p>
          <a:p>
            <a:pPr algn="l"/>
            <a:endParaRPr lang="en-US" sz="2200" b="1" dirty="0">
              <a:solidFill>
                <a:srgbClr val="FF0000"/>
              </a:solidFill>
            </a:endParaRPr>
          </a:p>
          <a:p>
            <a:pPr algn="l">
              <a:buFont typeface="Wingdings" pitchFamily="2" charset="2"/>
              <a:buChar char="§"/>
            </a:pPr>
            <a:endParaRPr lang="en-US" sz="2200" dirty="0">
              <a:solidFill>
                <a:schemeClr val="tx1"/>
              </a:solidFill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7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04800"/>
            <a:ext cx="7696200" cy="56388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Introduction:</a:t>
            </a:r>
            <a:endParaRPr lang="en-US" sz="26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200" b="1" dirty="0">
                <a:solidFill>
                  <a:srgbClr val="FF0000"/>
                </a:solidFill>
              </a:rPr>
              <a:t>Activity 1: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Define the term “programming”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Learn print and scan function in </a:t>
            </a:r>
            <a:r>
              <a:rPr lang="en-US" i="1" dirty="0"/>
              <a:t>C</a:t>
            </a:r>
            <a:endParaRPr lang="en-US" dirty="0"/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Run your first working program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Make your our own code</a:t>
            </a:r>
          </a:p>
          <a:p>
            <a:pPr algn="l"/>
            <a:endParaRPr lang="en-US" sz="2200" b="1" dirty="0">
              <a:solidFill>
                <a:srgbClr val="FF0000"/>
              </a:solidFill>
            </a:endParaRPr>
          </a:p>
          <a:p>
            <a:pPr algn="l">
              <a:buFont typeface="Wingdings" pitchFamily="2" charset="2"/>
              <a:buChar char="§"/>
            </a:pPr>
            <a:endParaRPr lang="en-US" sz="2200" dirty="0">
              <a:solidFill>
                <a:schemeClr val="tx1"/>
              </a:solidFill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30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04800"/>
            <a:ext cx="7696200" cy="56388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entury Gothic" pitchFamily="34" charset="0"/>
                <a:hlinkClick r:id="rId3" action="ppaction://hlinksldjump"/>
              </a:rPr>
              <a:t>Introduction:</a:t>
            </a:r>
            <a:endParaRPr lang="en-US" sz="2600" b="1" u="sng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r>
              <a:rPr lang="en-US" sz="2400" b="1" dirty="0">
                <a:solidFill>
                  <a:srgbClr val="FF0000"/>
                </a:solidFill>
              </a:rPr>
              <a:t>Exercise 1:</a:t>
            </a:r>
          </a:p>
          <a:p>
            <a:pPr marL="342900" indent="-342900" algn="l">
              <a:buFont typeface="+mj-lt"/>
              <a:buAutoNum type="alphaLcParenR"/>
            </a:pPr>
            <a:r>
              <a:rPr lang="en-US" sz="2400" dirty="0"/>
              <a:t>Define the following concepts:</a:t>
            </a:r>
          </a:p>
          <a:p>
            <a:pPr marL="742950" lvl="1" indent="-400050" algn="l">
              <a:buFont typeface="+mj-lt"/>
              <a:buAutoNum type="romanLcPeriod"/>
            </a:pPr>
            <a:r>
              <a:rPr lang="en-US" sz="2400" dirty="0"/>
              <a:t>Program testing</a:t>
            </a:r>
          </a:p>
          <a:p>
            <a:pPr marL="742950" lvl="1" indent="-400050" algn="l">
              <a:buFont typeface="+mj-lt"/>
              <a:buAutoNum type="romanLcPeriod"/>
            </a:pPr>
            <a:r>
              <a:rPr lang="en-US" sz="2400" dirty="0"/>
              <a:t>Program profiling</a:t>
            </a:r>
          </a:p>
          <a:p>
            <a:pPr marL="742950" lvl="1" indent="-400050" algn="l">
              <a:buFont typeface="+mj-lt"/>
              <a:buAutoNum type="romanLcPeriod"/>
            </a:pPr>
            <a:r>
              <a:rPr lang="en-US" sz="2400" dirty="0"/>
              <a:t>Program design</a:t>
            </a:r>
          </a:p>
          <a:p>
            <a:pPr marL="342900" indent="-342900" algn="l">
              <a:buFont typeface="+mj-lt"/>
              <a:buAutoNum type="alphaLcParenR"/>
            </a:pPr>
            <a:r>
              <a:rPr lang="en-US" sz="2400" dirty="0"/>
              <a:t>Differentiate between printf() and </a:t>
            </a:r>
            <a:r>
              <a:rPr lang="en-US" sz="2400" dirty="0" err="1"/>
              <a:t>scanf</a:t>
            </a:r>
            <a:r>
              <a:rPr lang="en-US" sz="2400" dirty="0"/>
              <a:t>()</a:t>
            </a:r>
          </a:p>
          <a:p>
            <a:pPr marL="342900" indent="-342900" algn="l">
              <a:buFont typeface="+mj-lt"/>
              <a:buAutoNum type="alphaLcParenR"/>
            </a:pPr>
            <a:r>
              <a:rPr lang="en-US" sz="2400" dirty="0"/>
              <a:t>Differentiate between data and information.</a:t>
            </a:r>
          </a:p>
          <a:p>
            <a:pPr algn="l"/>
            <a:endParaRPr lang="en-US" sz="2200" b="1" dirty="0">
              <a:solidFill>
                <a:srgbClr val="FF0000"/>
              </a:solidFill>
            </a:endParaRPr>
          </a:p>
          <a:p>
            <a:pPr algn="l">
              <a:buFont typeface="Wingdings" pitchFamily="2" charset="2"/>
              <a:buChar char="§"/>
            </a:pPr>
            <a:endParaRPr lang="en-US" sz="2200" dirty="0">
              <a:solidFill>
                <a:schemeClr val="tx1"/>
              </a:solidFill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5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81000"/>
            <a:ext cx="8001000" cy="518160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hlinkClick r:id="rId2" action="ppaction://hlinksldjump"/>
              </a:rPr>
              <a:t>Reference:</a:t>
            </a:r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An introduction to programming by Wu Thomas, Norman and Theodore: </a:t>
            </a:r>
            <a:r>
              <a:rPr lang="en-US" sz="2000" dirty="0" err="1">
                <a:solidFill>
                  <a:schemeClr val="tx1"/>
                </a:solidFill>
              </a:rPr>
              <a:t>McGrill</a:t>
            </a:r>
            <a:r>
              <a:rPr lang="en-US" sz="2000" dirty="0">
                <a:solidFill>
                  <a:schemeClr val="tx1"/>
                </a:solidFill>
              </a:rPr>
              <a:t> (1997).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 programming language by Brian W. Kernighan, Dennis Ritchie, 2</a:t>
            </a:r>
            <a:r>
              <a:rPr lang="en-US" sz="2000" baseline="30000" dirty="0">
                <a:solidFill>
                  <a:schemeClr val="tx1"/>
                </a:solidFill>
              </a:rPr>
              <a:t>nd </a:t>
            </a:r>
            <a:r>
              <a:rPr lang="en-US" sz="2000" dirty="0" err="1">
                <a:solidFill>
                  <a:schemeClr val="tx1"/>
                </a:solidFill>
              </a:rPr>
              <a:t>ed</a:t>
            </a:r>
            <a:r>
              <a:rPr lang="en-US" sz="2000" dirty="0">
                <a:solidFill>
                  <a:schemeClr val="tx1"/>
                </a:solidFill>
              </a:rPr>
              <a:t>: prentice hall(2003).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 how to program by H.M. </a:t>
            </a:r>
            <a:r>
              <a:rPr lang="en-US" sz="2000" dirty="0" err="1">
                <a:solidFill>
                  <a:schemeClr val="tx1"/>
                </a:solidFill>
              </a:rPr>
              <a:t>Deitel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dirty="0" err="1">
                <a:solidFill>
                  <a:schemeClr val="tx1"/>
                </a:solidFill>
              </a:rPr>
              <a:t>P.J.Deitel</a:t>
            </a:r>
            <a:r>
              <a:rPr lang="en-US" sz="2000" dirty="0">
                <a:solidFill>
                  <a:schemeClr val="tx1"/>
                </a:solidFill>
              </a:rPr>
              <a:t>, 3</a:t>
            </a:r>
            <a:r>
              <a:rPr lang="en-US" sz="2000" baseline="30000" dirty="0">
                <a:solidFill>
                  <a:schemeClr val="tx1"/>
                </a:solidFill>
              </a:rPr>
              <a:t>rd </a:t>
            </a:r>
            <a:r>
              <a:rPr lang="en-US" sz="2000" dirty="0" err="1">
                <a:solidFill>
                  <a:schemeClr val="tx1"/>
                </a:solidFill>
              </a:rPr>
              <a:t>ed</a:t>
            </a:r>
            <a:r>
              <a:rPr lang="en-US" sz="2000" dirty="0">
                <a:solidFill>
                  <a:schemeClr val="tx1"/>
                </a:solidFill>
              </a:rPr>
              <a:t>: Prentice hall(2001).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https://www.w3schools.in/c-tutorial/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4"/>
              </a:rPr>
              <a:t>https://www.tutorialspoint.com/cprogramming/index.htm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https://www.learn-c.org/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6"/>
              </a:rPr>
              <a:t>https://www.studysmarter.co.uk/explanations/computer-science/computer-programming/c-main/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>
                <a:hlinkClick r:id="rId7"/>
              </a:rPr>
              <a:t>https://www.youtube.com/watch?v=_NethtgMc64</a:t>
            </a:r>
            <a:endParaRPr lang="en-US" sz="2000"/>
          </a:p>
          <a:p>
            <a:pPr marL="514350" indent="-514350" algn="l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514350" indent="-514350"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marL="342900" indent="-342900" algn="l">
              <a:buFont typeface="+mj-lt"/>
              <a:buAutoNum type="alphaLcParenR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9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76200"/>
            <a:ext cx="8001000" cy="5181600"/>
          </a:xfrm>
        </p:spPr>
        <p:txBody>
          <a:bodyPr>
            <a:normAutofit/>
          </a:bodyPr>
          <a:lstStyle/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r>
              <a:rPr lang="en-US" sz="4400" b="1" dirty="0">
                <a:solidFill>
                  <a:schemeClr val="tx1"/>
                </a:solidFill>
                <a:latin typeface="Broadway" panose="04040905080B02020502" pitchFamily="82" charset="0"/>
              </a:rPr>
              <a:t>THANK YOU</a:t>
            </a:r>
          </a:p>
          <a:p>
            <a:pPr marL="514350" indent="-514350"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marL="342900" indent="-342900" algn="l">
              <a:buFont typeface="+mj-lt"/>
              <a:buAutoNum type="alphaLcParenR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155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239C5CE-4C2A-4629-950F-21F475BF1A6E}" vid="{3EE141AC-8660-4AB8-A964-6AF4CBBFA7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class_notes</Template>
  <TotalTime>16447</TotalTime>
  <Words>551</Words>
  <Application>Microsoft Office PowerPoint</Application>
  <PresentationFormat>On-screen Show (4:3)</PresentationFormat>
  <Paragraphs>93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Broadway</vt:lpstr>
      <vt:lpstr>Calibri</vt:lpstr>
      <vt:lpstr>Calibri Light</vt:lpstr>
      <vt:lpstr>Century Gothic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BBIT 105/bit 1303A: Programming methodology</dc:title>
  <dc:creator>owner</dc:creator>
  <cp:lastModifiedBy>Kenga</cp:lastModifiedBy>
  <cp:revision>771</cp:revision>
  <dcterms:created xsi:type="dcterms:W3CDTF">2015-12-10T07:41:17Z</dcterms:created>
  <dcterms:modified xsi:type="dcterms:W3CDTF">2026-05-12T17:32:19Z</dcterms:modified>
</cp:coreProperties>
</file>