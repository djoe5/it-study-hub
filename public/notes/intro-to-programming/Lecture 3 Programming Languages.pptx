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341" r:id="rId2"/>
    <p:sldId id="259" r:id="rId3"/>
    <p:sldId id="399" r:id="rId4"/>
    <p:sldId id="393" r:id="rId5"/>
    <p:sldId id="312" r:id="rId6"/>
    <p:sldId id="394" r:id="rId7"/>
    <p:sldId id="392" r:id="rId8"/>
    <p:sldId id="395" r:id="rId9"/>
    <p:sldId id="396" r:id="rId10"/>
    <p:sldId id="397" r:id="rId11"/>
    <p:sldId id="398" r:id="rId12"/>
    <p:sldId id="342" r:id="rId13"/>
    <p:sldId id="400" r:id="rId14"/>
    <p:sldId id="343" r:id="rId15"/>
    <p:sldId id="325" r:id="rId16"/>
    <p:sldId id="316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CC00"/>
    <a:srgbClr val="CC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3447" autoAdjust="0"/>
  </p:normalViewPr>
  <p:slideViewPr>
    <p:cSldViewPr>
      <p:cViewPr varScale="1">
        <p:scale>
          <a:sx n="64" d="100"/>
          <a:sy n="64" d="100"/>
        </p:scale>
        <p:origin x="1377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94E276-7D1F-42D8-A171-284D73575D1F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5C52C6-0320-4B5F-8334-EB87A0B30F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7277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24D47-3486-4AE5-B0F8-A0ADEB15F751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9A17F8-ACF4-426B-9698-112FA0C689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64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learn languages: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Increased capacity to express ideas.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Improved ability to choose an appropriate language.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Increased ability to learn new languages.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Better understanding of implementation issues (i.e., how language constructs are implemented)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Improved use of languages one already "knows":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Advancement of computing in general.</a:t>
            </a:r>
          </a:p>
          <a:p>
            <a:r>
              <a:rPr lang="en-US" dirty="0"/>
              <a:t>Qualities</a:t>
            </a:r>
            <a:r>
              <a:rPr lang="en-US" baseline="0" dirty="0"/>
              <a:t> of a good language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Reliability: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program is said to be reliable if it performs to its specifications under all conditions. Affected by Type checking.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Writability: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measure of how easily a language can be used to create programs for a chosen problem domain.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ultimate cost of a programming language is affected by compiling, training e.t.c.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Readability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ease with which programs can be read and understood is called readability.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17F8-ACF4-426B-9698-112FA0C6897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769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learn languages: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Increased capacity to express ideas.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Improved ability to choose an appropriate language.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Increased ability to learn new languages.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Better understanding of implementation issues (i.e., how language constructs are implemented)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Improved use of languages one already "knows":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Advancement of computing in general.</a:t>
            </a:r>
          </a:p>
          <a:p>
            <a:r>
              <a:rPr lang="en-US" dirty="0"/>
              <a:t>Qualities</a:t>
            </a:r>
            <a:r>
              <a:rPr lang="en-US" baseline="0" dirty="0"/>
              <a:t> of a good language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Reliability: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program is said to be reliable if it performs to its specifications under all conditions. Affected by Type checking.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Writability: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measure of how easily a language can be used to create programs for a chosen problem domain. </a:t>
            </a:r>
            <a:r>
              <a:rPr lang="en-US" b="0" dirty="0"/>
              <a:t>Should be clear, concise, quick and correct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ultimate cost of a programming language is affected by compiling, training e.t.c.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Readability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ease with which programs can be read and understood is called readability.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17F8-ACF4-426B-9698-112FA0C6897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256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E003F-DF66-977B-8126-B154C0765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09F4BB-971A-A6BE-D240-348D06FBC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F868E6-B480-5BA2-DBA8-ABA93DCD1B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learn languages: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Increased capacity to express ideas.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Improved ability to choose an appropriate language.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Increased ability to learn new languages.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Better understanding of implementation issues (i.e., how language constructs are implemented)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Improved use of languages one already "knows":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Advancement of computing in general.</a:t>
            </a:r>
          </a:p>
          <a:p>
            <a:r>
              <a:rPr lang="en-US" dirty="0"/>
              <a:t>Qualities</a:t>
            </a:r>
            <a:r>
              <a:rPr lang="en-US" baseline="0" dirty="0"/>
              <a:t> of a good language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Reliability: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program is said to be reliable if it performs to its specifications under all conditions. Affected by Type checking.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Writability: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measure of how easily a language can be used to create programs for a chosen problem domain. </a:t>
            </a:r>
            <a:r>
              <a:rPr lang="en-US" b="0" dirty="0"/>
              <a:t>Should be clear, concise, quick and correct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ultimate cost of a programming language is affected by compiling, training e.t.c.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Readability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ease with which programs can be read and understood is called readability.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FAC6B-7B7F-1F5D-F554-8926251B38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17F8-ACF4-426B-9698-112FA0C6897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110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learn languages: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Increased capacity to express ideas.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Improved ability to choose an appropriate language.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Increased ability to learn new languages.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Better understanding of implementation issues (i.e., how language constructs are implemented)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Improved use of languages one already "knows":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Advancement of computing in general.</a:t>
            </a:r>
          </a:p>
          <a:p>
            <a:r>
              <a:rPr lang="en-US" dirty="0"/>
              <a:t>Qualities</a:t>
            </a:r>
            <a:r>
              <a:rPr lang="en-US" baseline="0" dirty="0"/>
              <a:t> of a good language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Reliability: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program is said to be reliable if it performs to its specifications under all conditions. Affected by Type checking.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Writability: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measure of how easily a language can be used to create programs for a chosen problem domain.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ultimate cost of a programming language is affected by compiling, training e.t.c.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Readability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ease with which programs can be read and understood is called readability.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17F8-ACF4-426B-9698-112FA0C6897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0688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learn languages: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Increased capacity to express ideas.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Improved ability to choose an appropriate language.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Increased ability to learn new languages.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Better understanding of implementation issues (i.e., how language constructs are implemented)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Improved use of languages one already "knows":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Advancement of computing in general.</a:t>
            </a:r>
          </a:p>
          <a:p>
            <a:r>
              <a:rPr lang="en-US" dirty="0"/>
              <a:t>Qualities</a:t>
            </a:r>
            <a:r>
              <a:rPr lang="en-US" baseline="0" dirty="0"/>
              <a:t> of a good language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Reliability: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program is said to be reliable if it performs to its specifications under all conditions. Affected by Type checking.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Writability: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measure of how easily a language can be used to create programs for a chosen problem domain.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ultimate cost of a programming language is affected by compiling, training e.t.c.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Readability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ease with which programs can be read and understood is called readability.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17F8-ACF4-426B-9698-112FA0C6897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779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learn languages: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Increased capacity to express ideas.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Improved ability to choose an appropriate language.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Increased ability to learn new languages.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Better understanding of implementation issues (i.e., how language constructs are implemented)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Improved use of languages one already "knows":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Advancement of computing in general.</a:t>
            </a:r>
          </a:p>
          <a:p>
            <a:r>
              <a:rPr lang="en-US" dirty="0"/>
              <a:t>Qualities</a:t>
            </a:r>
            <a:r>
              <a:rPr lang="en-US" baseline="0" dirty="0"/>
              <a:t> of a good language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Reliability: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program is said to be reliable if it performs to its specifications under all conditions. Affected by Type checking.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Writability: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measure of how easily a language can be used to create programs for a chosen problem domain.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ultimate cost of a programming language is affected by compiling, training e.t.c.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Readability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ease with which programs can be read and understood is called readability.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17F8-ACF4-426B-9698-112FA0C6897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7475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learn languages: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Increased capacity to express ideas.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Improved ability to choose an appropriate language.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Increased ability to learn new languages.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Better understanding of implementation issues (i.e., how language constructs are implemented)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Improved use of languages one already "knows":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Advancement of computing in general.</a:t>
            </a:r>
          </a:p>
          <a:p>
            <a:r>
              <a:rPr lang="en-US" dirty="0"/>
              <a:t>Qualities</a:t>
            </a:r>
            <a:r>
              <a:rPr lang="en-US" baseline="0" dirty="0"/>
              <a:t> of a good language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Reliability: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program is said to be reliable if it performs to its specifications under all conditions. Affected by Type checking.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Writability: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measure of how easily a language can be used to create programs for a chosen problem domain.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ultimate cost of a programming language is affected by compiling, training e.t.c.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Readability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ease with which programs can be read and understood is called readability.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17F8-ACF4-426B-9698-112FA0C6897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626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learn languages: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Increased capacity to express ideas.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Improved ability to choose an appropriate language.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Increased ability to learn new languages.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Better understanding of implementation issues (i.e., how language constructs are implemented)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Improved use of languages one already "knows":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Advancement of computing in general.</a:t>
            </a:r>
          </a:p>
          <a:p>
            <a:r>
              <a:rPr lang="en-US" dirty="0"/>
              <a:t>Qualities</a:t>
            </a:r>
            <a:r>
              <a:rPr lang="en-US" baseline="0" dirty="0"/>
              <a:t> of a good language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Reliability: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program is said to be reliable if it performs to its specifications under all conditions. Affected by Type checking.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Writability: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measure of how easily a language can be used to create programs for a chosen problem domain.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ultimate cost of a programming language is affected by compiling, training e.t.c.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Readability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ease with which programs can be read and understood is called readability.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17F8-ACF4-426B-9698-112FA0C6897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163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learn languages: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Increased capacity to express ideas.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Improved ability to choose an appropriate language.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Increased ability to learn new languages.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Better understanding of implementation issues (i.e., how language constructs are implemented)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Improved use of languages one already "knows":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Advancement of computing in general.</a:t>
            </a:r>
          </a:p>
          <a:p>
            <a:r>
              <a:rPr lang="en-US" dirty="0"/>
              <a:t>Qualities</a:t>
            </a:r>
            <a:r>
              <a:rPr lang="en-US" baseline="0" dirty="0"/>
              <a:t> of a good language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Reliability: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program is said to be reliable if it performs to its specifications under all conditions. Affected by Type checking.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Writability: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measure of how easily a language can be used to create programs for a chosen problem domain.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ultimate cost of a programming language is affected by compiling, training e.t.c.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Readability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ease with which programs can be read and understood is called readability.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17F8-ACF4-426B-9698-112FA0C6897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196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learn languages: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Increased capacity to express ideas.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Improved ability to choose an appropriate language.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Increased ability to learn new languages.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Better understanding of implementation issues (i.e., how language constructs are implemented)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Improved use of languages one already "knows":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Advancement of computing in general.</a:t>
            </a:r>
          </a:p>
          <a:p>
            <a:r>
              <a:rPr lang="en-US" dirty="0"/>
              <a:t>Qualities</a:t>
            </a:r>
            <a:r>
              <a:rPr lang="en-US" baseline="0" dirty="0"/>
              <a:t> of a good language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Reliability: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program is said to be reliable if it performs to its specifications under all conditions. Affected by Type checking.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Writability: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measure of how easily a language can be used to create programs for a chosen problem domain.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ultimate cost of a programming language is affected by compiling, training e.t.c.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Readability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ease with which programs can be read and understood is called readability.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17F8-ACF4-426B-9698-112FA0C6897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243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learn languages: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Increased capacity to express ideas.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Improved ability to choose an appropriate language.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Increased ability to learn new languages.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Better understanding of implementation issues (i.e., how language constructs are implemented)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Improved use of languages one already "knows":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Advancement of computing in general.</a:t>
            </a:r>
          </a:p>
          <a:p>
            <a:r>
              <a:rPr lang="en-US" dirty="0"/>
              <a:t>Qualities</a:t>
            </a:r>
            <a:r>
              <a:rPr lang="en-US" baseline="0" dirty="0"/>
              <a:t> of a good language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Reliability: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program is said to be reliable if it performs to its specifications under all conditions. Affected by Type checking.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Writability: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measure of how easily a language can be used to create programs for a chosen problem domain.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ultimate cost of a programming language is affected by compiling, training e.t.c.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Readability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ease with which programs can be read and understood is called readability.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17F8-ACF4-426B-9698-112FA0C6897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255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learn languages: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Increased capacity to express ideas.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Improved ability to choose an appropriate language.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Increased ability to learn new languages.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Better understanding of implementation issues (i.e., how language constructs are implemented)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Improved use of languages one already "knows":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Advancement of computing in general.</a:t>
            </a:r>
          </a:p>
          <a:p>
            <a:r>
              <a:rPr lang="en-US" dirty="0"/>
              <a:t>Qualities</a:t>
            </a:r>
            <a:r>
              <a:rPr lang="en-US" baseline="0" dirty="0"/>
              <a:t> of a good language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Reliability: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program is said to be reliable if it performs to its specifications under all conditions. Affected by Type checking.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Writability: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measure of how easily a language can be used to create programs for a chosen problem domain.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ultimate cost of a programming language is affected by compiling, training e.t.c.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Readability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ease with which programs can be read and understood is called readability.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17F8-ACF4-426B-9698-112FA0C6897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166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8AD3E-9834-31D6-CCD0-42FF54D7F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AA0483-F8F7-756C-14A9-75C77898DA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2CA38A-5250-1FB8-7E56-EC2A68E03F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learn languages: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Increased capacity to express ideas.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Improved ability to choose an appropriate language.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Increased ability to learn new languages.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Better understanding of implementation issues (i.e., how language constructs are implemented)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Improved use of languages one already "knows":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Advancement of computing in general.</a:t>
            </a:r>
          </a:p>
          <a:p>
            <a:r>
              <a:rPr lang="en-US" dirty="0"/>
              <a:t>Qualities</a:t>
            </a:r>
            <a:r>
              <a:rPr lang="en-US" baseline="0" dirty="0"/>
              <a:t> of a good language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Reliability: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program is said to be reliable if it performs to its specifications under all conditions. Affected by Type checking.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Writability: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measure of how easily a language can be used to create programs for a chosen problem domain.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ultimate cost of a programming language is affected by compiling, training e.t.c.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Readability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ease with which programs can be read and understood is called readability.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D0C88-AE08-C824-C013-38579E2285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17F8-ACF4-426B-9698-112FA0C6897C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7124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learn languages: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Increased capacity to express ideas.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Improved ability to choose an appropriate language.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Increased ability to learn new languages.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Better understanding of implementation issues (i.e., how language constructs are implemented)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Improved use of languages one already "knows":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Advancement of computing in general.</a:t>
            </a:r>
          </a:p>
          <a:p>
            <a:r>
              <a:rPr lang="en-US" dirty="0"/>
              <a:t>Qualities</a:t>
            </a:r>
            <a:r>
              <a:rPr lang="en-US" baseline="0" dirty="0"/>
              <a:t> of a good language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Reliability: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program is said to be reliable if it performs to its specifications under all conditions. Affected by Type checking.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Writability: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measure of how easily a language can be used to create programs for a chosen problem domain.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ultimate cost of a programming language is affected by compiling, training e.t.c.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Readability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ease with which programs can be read and understood is called readability.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9A17F8-ACF4-426B-9698-112FA0C6897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769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16107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7972005" y="6114663"/>
            <a:ext cx="1171996" cy="756216"/>
            <a:chOff x="7778839" y="4853722"/>
            <a:chExt cx="1171996" cy="756216"/>
          </a:xfrm>
        </p:grpSpPr>
        <p:sp>
          <p:nvSpPr>
            <p:cNvPr id="14" name="Rectangle 13"/>
            <p:cNvSpPr/>
            <p:nvPr userDrawn="1"/>
          </p:nvSpPr>
          <p:spPr>
            <a:xfrm>
              <a:off x="7778839" y="4853722"/>
              <a:ext cx="1171996" cy="756216"/>
            </a:xfrm>
            <a:prstGeom prst="rect">
              <a:avLst/>
            </a:prstGeom>
            <a:solidFill>
              <a:srgbClr val="1A2C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Right Triangle 14"/>
            <p:cNvSpPr/>
            <p:nvPr userDrawn="1"/>
          </p:nvSpPr>
          <p:spPr>
            <a:xfrm flipH="1">
              <a:off x="7778839" y="4853722"/>
              <a:ext cx="1171996" cy="756216"/>
            </a:xfrm>
            <a:prstGeom prst="rtTriangle">
              <a:avLst/>
            </a:prstGeom>
            <a:solidFill>
              <a:srgbClr val="DBB85B">
                <a:alpha val="8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6" name="Right Triangle 15"/>
            <p:cNvSpPr/>
            <p:nvPr userDrawn="1"/>
          </p:nvSpPr>
          <p:spPr>
            <a:xfrm flipH="1" flipV="1">
              <a:off x="7778839" y="4853722"/>
              <a:ext cx="1171996" cy="756216"/>
            </a:xfrm>
            <a:prstGeom prst="rtTriangle">
              <a:avLst/>
            </a:prstGeom>
            <a:solidFill>
              <a:srgbClr val="DBB85B">
                <a:alpha val="8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2005" y="6356353"/>
            <a:ext cx="414556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ight Triangle 8"/>
          <p:cNvSpPr/>
          <p:nvPr/>
        </p:nvSpPr>
        <p:spPr>
          <a:xfrm flipV="1">
            <a:off x="1" y="0"/>
            <a:ext cx="1142431" cy="1685782"/>
          </a:xfrm>
          <a:prstGeom prst="rtTriangle">
            <a:avLst/>
          </a:prstGeom>
          <a:solidFill>
            <a:srgbClr val="1A2C57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ight Triangle 9"/>
          <p:cNvSpPr/>
          <p:nvPr/>
        </p:nvSpPr>
        <p:spPr>
          <a:xfrm>
            <a:off x="-3138" y="40944"/>
            <a:ext cx="886265" cy="6073721"/>
          </a:xfrm>
          <a:prstGeom prst="rtTriangle">
            <a:avLst/>
          </a:prstGeom>
          <a:solidFill>
            <a:srgbClr val="1A2C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Right Triangle 10"/>
          <p:cNvSpPr/>
          <p:nvPr/>
        </p:nvSpPr>
        <p:spPr>
          <a:xfrm flipV="1">
            <a:off x="1" y="-1"/>
            <a:ext cx="668740" cy="5029484"/>
          </a:xfrm>
          <a:prstGeom prst="rtTriangle">
            <a:avLst/>
          </a:prstGeom>
          <a:solidFill>
            <a:srgbClr val="1A2C57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870342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095839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820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784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B793A9B3-CA40-4F9D-A0C8-F4EDA8B6F9E1}" type="datetime1">
              <a:rPr lang="en-US" smtClean="0"/>
              <a:pPr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Kenga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07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66355CFD-B392-48D8-88A5-3F76B0F03BCA}" type="datetime1">
              <a:rPr lang="en-US" smtClean="0"/>
              <a:pPr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Kenga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959144" y="6356353"/>
            <a:ext cx="427416" cy="365125"/>
          </a:xfrm>
        </p:spPr>
        <p:txBody>
          <a:bodyPr/>
          <a:lstStyle>
            <a:lvl1pPr algn="ctr">
              <a:defRPr/>
            </a:lvl1pPr>
          </a:lstStyle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588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738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9787ADF8-7971-4E2D-90C6-01BF4353FCFD}" type="datetime1">
              <a:rPr lang="en-US" smtClean="0"/>
              <a:pPr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Kenga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291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073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fld id="{325E7E42-09EA-4DC3-BE1C-B6F0D788B8F3}" type="datetime1">
              <a:rPr lang="en-US" smtClean="0"/>
              <a:pPr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Kenga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2577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Kenga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42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977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198063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7972005" y="6101784"/>
            <a:ext cx="1171996" cy="756216"/>
            <a:chOff x="7778839" y="4853722"/>
            <a:chExt cx="1171996" cy="756216"/>
          </a:xfrm>
        </p:grpSpPr>
        <p:sp>
          <p:nvSpPr>
            <p:cNvPr id="8" name="Rectangle 7"/>
            <p:cNvSpPr/>
            <p:nvPr userDrawn="1"/>
          </p:nvSpPr>
          <p:spPr>
            <a:xfrm>
              <a:off x="7778839" y="4853722"/>
              <a:ext cx="1171996" cy="756216"/>
            </a:xfrm>
            <a:prstGeom prst="rect">
              <a:avLst/>
            </a:prstGeom>
            <a:solidFill>
              <a:srgbClr val="1A2C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Right Triangle 8"/>
            <p:cNvSpPr/>
            <p:nvPr userDrawn="1"/>
          </p:nvSpPr>
          <p:spPr>
            <a:xfrm flipH="1">
              <a:off x="7778839" y="4853722"/>
              <a:ext cx="1171996" cy="756216"/>
            </a:xfrm>
            <a:prstGeom prst="rtTriangle">
              <a:avLst/>
            </a:prstGeom>
            <a:solidFill>
              <a:srgbClr val="DBB85B">
                <a:alpha val="8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" name="Right Triangle 9"/>
            <p:cNvSpPr/>
            <p:nvPr userDrawn="1"/>
          </p:nvSpPr>
          <p:spPr>
            <a:xfrm flipH="1" flipV="1">
              <a:off x="7778839" y="4853722"/>
              <a:ext cx="1171996" cy="756216"/>
            </a:xfrm>
            <a:prstGeom prst="rtTriangle">
              <a:avLst/>
            </a:prstGeom>
            <a:solidFill>
              <a:srgbClr val="DBB85B">
                <a:alpha val="8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11" name="Rectangle 10"/>
          <p:cNvSpPr/>
          <p:nvPr/>
        </p:nvSpPr>
        <p:spPr>
          <a:xfrm>
            <a:off x="1" y="6115851"/>
            <a:ext cx="7972004" cy="756216"/>
          </a:xfrm>
          <a:prstGeom prst="rect">
            <a:avLst/>
          </a:prstGeom>
          <a:solidFill>
            <a:srgbClr val="DBB8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37037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729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72005" y="6293778"/>
            <a:ext cx="414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2FCE09EE-5FC0-45A8-98C3-14B1035360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2"/>
          <p:cNvSpPr txBox="1">
            <a:spLocks noChangeArrowheads="1"/>
          </p:cNvSpPr>
          <p:nvPr/>
        </p:nvSpPr>
        <p:spPr bwMode="auto">
          <a:xfrm>
            <a:off x="201127" y="6360922"/>
            <a:ext cx="4301877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403350" fontAlgn="base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403350" fontAlgn="base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403350" fontAlgn="base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403350" fontAlgn="base">
              <a:spcBef>
                <a:spcPct val="0"/>
              </a:spcBef>
              <a:spcAft>
                <a:spcPct val="0"/>
              </a:spcAft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675" i="1" dirty="0">
                <a:solidFill>
                  <a:srgbClr val="1A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Advancing Knowledge, Driving Change </a:t>
            </a:r>
            <a:r>
              <a:rPr lang="en-US" altLang="en-US" sz="675" dirty="0">
                <a:solidFill>
                  <a:srgbClr val="1A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altLang="en-US" sz="675" b="1" dirty="0">
                <a:solidFill>
                  <a:srgbClr val="1A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www.kcau.ac.ke</a:t>
            </a:r>
          </a:p>
        </p:txBody>
      </p:sp>
      <p:sp>
        <p:nvSpPr>
          <p:cNvPr id="13" name="Right Triangle 12"/>
          <p:cNvSpPr/>
          <p:nvPr/>
        </p:nvSpPr>
        <p:spPr>
          <a:xfrm flipV="1">
            <a:off x="1" y="0"/>
            <a:ext cx="1142431" cy="1685782"/>
          </a:xfrm>
          <a:prstGeom prst="rtTriangle">
            <a:avLst/>
          </a:prstGeom>
          <a:solidFill>
            <a:srgbClr val="1A2C57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Right Triangle 13"/>
          <p:cNvSpPr/>
          <p:nvPr/>
        </p:nvSpPr>
        <p:spPr>
          <a:xfrm>
            <a:off x="-3138" y="40944"/>
            <a:ext cx="886265" cy="6074909"/>
          </a:xfrm>
          <a:prstGeom prst="rtTriangle">
            <a:avLst/>
          </a:prstGeom>
          <a:solidFill>
            <a:srgbClr val="1A2C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ight Triangle 14"/>
          <p:cNvSpPr/>
          <p:nvPr/>
        </p:nvSpPr>
        <p:spPr>
          <a:xfrm flipV="1">
            <a:off x="1" y="-1"/>
            <a:ext cx="668740" cy="5029484"/>
          </a:xfrm>
          <a:prstGeom prst="rtTriangle">
            <a:avLst/>
          </a:prstGeom>
          <a:solidFill>
            <a:srgbClr val="1A2C57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/>
          <p:cNvSpPr/>
          <p:nvPr/>
        </p:nvSpPr>
        <p:spPr>
          <a:xfrm>
            <a:off x="-3138" y="6101786"/>
            <a:ext cx="1038665" cy="770283"/>
          </a:xfrm>
          <a:custGeom>
            <a:avLst/>
            <a:gdLst>
              <a:gd name="connsiteX0" fmla="*/ 0 w 886265"/>
              <a:gd name="connsiteY0" fmla="*/ 0 h 770283"/>
              <a:gd name="connsiteX1" fmla="*/ 886265 w 886265"/>
              <a:gd name="connsiteY1" fmla="*/ 0 h 770283"/>
              <a:gd name="connsiteX2" fmla="*/ 886265 w 886265"/>
              <a:gd name="connsiteY2" fmla="*/ 770283 h 770283"/>
              <a:gd name="connsiteX3" fmla="*/ 0 w 886265"/>
              <a:gd name="connsiteY3" fmla="*/ 770283 h 770283"/>
              <a:gd name="connsiteX4" fmla="*/ 0 w 886265"/>
              <a:gd name="connsiteY4" fmla="*/ 0 h 770283"/>
              <a:gd name="connsiteX0" fmla="*/ 0 w 1038665"/>
              <a:gd name="connsiteY0" fmla="*/ 0 h 770283"/>
              <a:gd name="connsiteX1" fmla="*/ 886265 w 1038665"/>
              <a:gd name="connsiteY1" fmla="*/ 0 h 770283"/>
              <a:gd name="connsiteX2" fmla="*/ 1038665 w 1038665"/>
              <a:gd name="connsiteY2" fmla="*/ 770283 h 770283"/>
              <a:gd name="connsiteX3" fmla="*/ 0 w 1038665"/>
              <a:gd name="connsiteY3" fmla="*/ 770283 h 770283"/>
              <a:gd name="connsiteX4" fmla="*/ 0 w 1038665"/>
              <a:gd name="connsiteY4" fmla="*/ 0 h 770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8665" h="770283">
                <a:moveTo>
                  <a:pt x="0" y="0"/>
                </a:moveTo>
                <a:lnTo>
                  <a:pt x="886265" y="0"/>
                </a:lnTo>
                <a:lnTo>
                  <a:pt x="1038665" y="770283"/>
                </a:lnTo>
                <a:lnTo>
                  <a:pt x="0" y="77028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58" y="6156700"/>
            <a:ext cx="594992" cy="63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763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in/c-tutorial/" TargetMode="Externa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learn-c.org/" TargetMode="External"/><Relationship Id="rId4" Type="http://schemas.openxmlformats.org/officeDocument/2006/relationships/hyperlink" Target="https://www.tutorialspoint.com/cprogramming/index.htm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3723" y="228600"/>
            <a:ext cx="7781677" cy="5867400"/>
          </a:xfrm>
        </p:spPr>
        <p:txBody>
          <a:bodyPr>
            <a:normAutofit/>
          </a:bodyPr>
          <a:lstStyle/>
          <a:p>
            <a:pPr algn="l"/>
            <a:r>
              <a:rPr lang="en-US" sz="1800" b="1" u="sng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 action="ppaction://hlinksldjump"/>
              </a:rPr>
              <a:t>Lecture 3: Programming languages</a:t>
            </a:r>
            <a:r>
              <a:rPr lang="en-US" sz="1800" b="1" u="sng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l"/>
            <a:r>
              <a:rPr lang="en-US" sz="1800" b="1" u="sng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Lesson Objectives: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By the end of this lesson , you will be able to: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Define the term programming language.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Describe various ways of classifying programming languages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Describe key characteristics of a good programming language.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Choose a suitable programming language for a given problem do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main.</a:t>
            </a:r>
            <a:endParaRPr lang="en-US"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1800" dirty="0">
              <a:solidFill>
                <a:schemeClr val="tx1"/>
              </a:solidFill>
            </a:endParaRPr>
          </a:p>
          <a:p>
            <a:pPr algn="l"/>
            <a:endParaRPr lang="en-US" sz="1800" dirty="0">
              <a:solidFill>
                <a:schemeClr val="tx1"/>
              </a:solidFill>
              <a:latin typeface="Century Gothic" pitchFamily="34" charset="0"/>
            </a:endParaRPr>
          </a:p>
          <a:p>
            <a:endParaRPr lang="en-US" sz="1800" b="1" u="sng" dirty="0">
              <a:latin typeface="Century Gothic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969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3723" y="228600"/>
            <a:ext cx="7781677" cy="5867400"/>
          </a:xfrm>
        </p:spPr>
        <p:txBody>
          <a:bodyPr>
            <a:normAutofit/>
          </a:bodyPr>
          <a:lstStyle/>
          <a:p>
            <a:pPr algn="l"/>
            <a:r>
              <a:rPr lang="en-US" sz="2400" b="1" u="sng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 action="ppaction://hlinksldjump"/>
              </a:rPr>
              <a:t>Programming languages</a:t>
            </a:r>
            <a:endParaRPr lang="en-US" sz="2400" b="1" u="sng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400" b="1" u="sng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Definition</a:t>
            </a:r>
            <a:r>
              <a:rPr lang="en-US" sz="2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a set of conventions in which instructions for the machine are written.</a:t>
            </a:r>
          </a:p>
          <a:p>
            <a:pPr algn="l"/>
            <a:r>
              <a:rPr lang="en-US" sz="2400" b="1" dirty="0">
                <a:solidFill>
                  <a:schemeClr val="tx1"/>
                </a:solidFill>
              </a:rPr>
              <a:t>Why learn languages:</a:t>
            </a:r>
          </a:p>
          <a:p>
            <a:pPr marL="571500" lvl="0" indent="-571500" algn="l">
              <a:buFont typeface="+mj-lt"/>
              <a:buAutoNum type="romanLcPeriod"/>
            </a:pPr>
            <a:r>
              <a:rPr lang="en-US" sz="2400" dirty="0"/>
              <a:t>Improved ability to express programming ideas clearly and effectively</a:t>
            </a:r>
          </a:p>
          <a:p>
            <a:pPr marL="571500" lvl="0" indent="-571500" algn="l">
              <a:buFont typeface="+mj-lt"/>
              <a:buAutoNum type="romanLcPeriod"/>
            </a:pPr>
            <a:r>
              <a:rPr lang="en-US" sz="2400" dirty="0"/>
              <a:t>Enhanced ability to choose an appropriate programming language for a given problem</a:t>
            </a:r>
          </a:p>
          <a:p>
            <a:pPr marL="571500" lvl="0" indent="-571500" algn="l">
              <a:buFont typeface="+mj-lt"/>
              <a:buAutoNum type="romanLcPeriod"/>
            </a:pPr>
            <a:r>
              <a:rPr lang="en-US" sz="2400" dirty="0"/>
              <a:t>Increased ability to learn new programming languages.</a:t>
            </a:r>
          </a:p>
          <a:p>
            <a:pPr marL="571500" lvl="0" indent="-571500" algn="l">
              <a:buFont typeface="+mj-lt"/>
              <a:buAutoNum type="romanLcPeriod"/>
            </a:pPr>
            <a:r>
              <a:rPr lang="en-US" sz="2400" dirty="0"/>
              <a:t>Improved proficiency in already learned programming languages</a:t>
            </a:r>
          </a:p>
          <a:p>
            <a:pPr marL="571500" lvl="0" indent="-571500" algn="l">
              <a:buFont typeface="+mj-lt"/>
              <a:buAutoNum type="romanLcPeriod"/>
            </a:pPr>
            <a:r>
              <a:rPr lang="en-US" sz="2400" dirty="0"/>
              <a:t>Overall improvement in computing knowledge and problem-solving skills</a:t>
            </a:r>
            <a:endParaRPr lang="en-US" sz="2400" dirty="0">
              <a:solidFill>
                <a:schemeClr val="tx1"/>
              </a:solidFill>
              <a:latin typeface="Century Gothic" pitchFamily="34" charset="0"/>
            </a:endParaRPr>
          </a:p>
          <a:p>
            <a:endParaRPr lang="en-US" sz="2400" b="1" u="sng" dirty="0">
              <a:latin typeface="Century Gothic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54247-18E4-DF78-4177-F0596DB23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678CAB1-8660-47FD-90A1-1B8CE44D0C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228600"/>
            <a:ext cx="8077199" cy="5867400"/>
          </a:xfrm>
        </p:spPr>
        <p:txBody>
          <a:bodyPr>
            <a:normAutofit/>
          </a:bodyPr>
          <a:lstStyle/>
          <a:p>
            <a:pPr algn="l"/>
            <a:r>
              <a:rPr lang="en-US" sz="1800" b="1" u="sng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 action="ppaction://hlinksldjump"/>
              </a:rPr>
              <a:t>Programming languages</a:t>
            </a:r>
            <a:endParaRPr lang="en-US" sz="1800" b="1" u="sng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</a:rPr>
              <a:t>Qualities of a good language: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romanLcPeriod"/>
            </a:pPr>
            <a:r>
              <a:rPr lang="en-US" b="1" dirty="0">
                <a:solidFill>
                  <a:srgbClr val="0000FF"/>
                </a:solidFill>
              </a:rPr>
              <a:t>Reliability (dependability) </a:t>
            </a:r>
            <a:r>
              <a:rPr lang="en-US" dirty="0"/>
              <a:t>refers to the extent to which a program performs according to its specifications under all conditions. It is influenced by features such as type checking and error handling.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romanLcPeriod"/>
            </a:pPr>
            <a:r>
              <a:rPr lang="en-US" b="1" dirty="0">
                <a:solidFill>
                  <a:srgbClr val="0000FF"/>
                </a:solidFill>
              </a:rPr>
              <a:t>Writability (expressivity): </a:t>
            </a:r>
            <a:r>
              <a:rPr lang="en-US" dirty="0">
                <a:solidFill>
                  <a:schemeClr val="tx1"/>
                </a:solidFill>
              </a:rPr>
              <a:t>M</a:t>
            </a:r>
            <a:r>
              <a:rPr lang="en-US" dirty="0"/>
              <a:t>easures how easily a language can be used to create programs for a given problem domain.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romanLcPeriod"/>
            </a:pPr>
            <a:r>
              <a:rPr lang="en-US" b="1" dirty="0">
                <a:solidFill>
                  <a:srgbClr val="0000FF"/>
                </a:solidFill>
              </a:rPr>
              <a:t>Cost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/>
              <a:t>The overall cost of a programming language is affected by factors such as compilation, training, licensing, and maintenance.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romanLcPeriod"/>
            </a:pPr>
            <a:r>
              <a:rPr lang="en-US" b="1" dirty="0">
                <a:solidFill>
                  <a:srgbClr val="0000FF"/>
                </a:solidFill>
              </a:rPr>
              <a:t>Readability (Understandability): </a:t>
            </a:r>
            <a:r>
              <a:rPr lang="en-US" dirty="0"/>
              <a:t>The ease with which programs written in the language can be read and understood.</a:t>
            </a:r>
            <a:endParaRPr lang="en-US" sz="1800" dirty="0">
              <a:solidFill>
                <a:schemeClr val="tx1"/>
              </a:solidFill>
              <a:latin typeface="Century Gothic" pitchFamily="34" charset="0"/>
            </a:endParaRPr>
          </a:p>
          <a:p>
            <a:endParaRPr lang="en-US" sz="1800" b="1" u="sng" dirty="0">
              <a:latin typeface="Century Gothic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AFB50-AEB7-B109-94A8-F4B7C6440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841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9146" y="228600"/>
            <a:ext cx="8001000" cy="5867400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600" b="1" u="sng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 action="ppaction://hlinksldjump"/>
              </a:rPr>
              <a:t>Programming languages</a:t>
            </a:r>
            <a:endParaRPr lang="en-US" sz="2600" b="1" u="sng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600" b="1" u="sng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Definition</a:t>
            </a:r>
            <a:r>
              <a:rPr lang="en-US" sz="2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a set of conventions in which instructions for the machine are written.</a:t>
            </a:r>
          </a:p>
          <a:p>
            <a:pPr algn="l"/>
            <a:r>
              <a:rPr lang="en-US" sz="20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a) According to generations(1GL to 5GL):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Chronological development of languages :-</a:t>
            </a:r>
          </a:p>
          <a:p>
            <a:pPr lvl="1" algn="l"/>
            <a:r>
              <a:rPr lang="en-US" sz="20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1-GL= First generation languages</a:t>
            </a:r>
          </a:p>
          <a:p>
            <a:pPr marL="1028700" lvl="2" indent="-342900" algn="l">
              <a:buFont typeface="Wingdings" panose="05000000000000000000" pitchFamily="2" charset="2"/>
              <a:buChar char="F"/>
            </a:pPr>
            <a:r>
              <a:rPr lang="en-US" sz="185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Specific to a machine/CPU</a:t>
            </a:r>
          </a:p>
          <a:p>
            <a:pPr marL="1028700" lvl="2" indent="-342900" algn="l">
              <a:buFont typeface="Wingdings" panose="05000000000000000000" pitchFamily="2" charset="2"/>
              <a:buChar char="F"/>
            </a:pPr>
            <a:r>
              <a:rPr lang="en-US" sz="1850" dirty="0">
                <a:latin typeface="Calibri" panose="020F0502020204030204" pitchFamily="34" charset="0"/>
                <a:cs typeface="Calibri" panose="020F0502020204030204" pitchFamily="34" charset="0"/>
              </a:rPr>
              <a:t>No abstraction from hardware</a:t>
            </a:r>
            <a:endParaRPr lang="en-US" sz="185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028700" lvl="2" indent="-342900" algn="l">
              <a:buFont typeface="Wingdings" panose="05000000000000000000" pitchFamily="2" charset="2"/>
              <a:buChar char="F"/>
            </a:pPr>
            <a:r>
              <a:rPr lang="en-US" sz="1850" dirty="0">
                <a:latin typeface="Calibri" panose="020F0502020204030204" pitchFamily="34" charset="0"/>
                <a:cs typeface="Calibri" panose="020F0502020204030204" pitchFamily="34" charset="0"/>
              </a:rPr>
              <a:t>Directly executed by CPU</a:t>
            </a:r>
          </a:p>
          <a:p>
            <a:pPr marL="1028700" lvl="2" indent="-342900" algn="l">
              <a:buFont typeface="Wingdings" panose="05000000000000000000" pitchFamily="2" charset="2"/>
              <a:buChar char="F"/>
            </a:pPr>
            <a:r>
              <a:rPr lang="en-US" sz="1850" dirty="0">
                <a:latin typeface="Calibri" panose="020F0502020204030204" pitchFamily="34" charset="0"/>
                <a:cs typeface="Calibri" panose="020F0502020204030204" pitchFamily="34" charset="0"/>
              </a:rPr>
              <a:t>Faster execution but hard to code with</a:t>
            </a:r>
          </a:p>
          <a:p>
            <a:pPr marL="1028700" lvl="2" indent="-342900" algn="l">
              <a:buFont typeface="Wingdings" panose="05000000000000000000" pitchFamily="2" charset="2"/>
              <a:buChar char="F"/>
            </a:pPr>
            <a:r>
              <a:rPr lang="en-US" sz="185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 machine language</a:t>
            </a:r>
          </a:p>
          <a:p>
            <a:pPr lvl="1" algn="l">
              <a:lnSpc>
                <a:spcPct val="100000"/>
              </a:lnSpc>
            </a:pPr>
            <a:r>
              <a:rPr lang="en-US" sz="20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2-GL= Second generation languages </a:t>
            </a:r>
          </a:p>
          <a:p>
            <a:pPr marL="1028700" lvl="2" indent="-342900" algn="l">
              <a:buFont typeface="Wingdings" panose="05000000000000000000" pitchFamily="2" charset="2"/>
              <a:buChar char="F"/>
            </a:pPr>
            <a:r>
              <a:rPr lang="en-US" sz="1850" dirty="0">
                <a:latin typeface="Calibri" panose="020F0502020204030204" pitchFamily="34" charset="0"/>
                <a:cs typeface="Calibri" panose="020F0502020204030204" pitchFamily="34" charset="0"/>
              </a:rPr>
              <a:t>Improvement from 1GL.</a:t>
            </a:r>
          </a:p>
          <a:p>
            <a:pPr marL="1028700" lvl="2" indent="-342900" algn="l">
              <a:buFont typeface="Wingdings" panose="05000000000000000000" pitchFamily="2" charset="2"/>
              <a:buChar char="F"/>
            </a:pPr>
            <a:r>
              <a:rPr lang="en-US" sz="1850" dirty="0">
                <a:latin typeface="Calibri" panose="020F0502020204030204" pitchFamily="34" charset="0"/>
                <a:cs typeface="Calibri" panose="020F0502020204030204" pitchFamily="34" charset="0"/>
              </a:rPr>
              <a:t>Use of mnemonics ADD, MOV,SUB,MUL</a:t>
            </a:r>
          </a:p>
          <a:p>
            <a:pPr marL="1028700" lvl="2" indent="-342900" algn="l">
              <a:buFont typeface="Wingdings" panose="05000000000000000000" pitchFamily="2" charset="2"/>
              <a:buChar char="F"/>
            </a:pPr>
            <a:r>
              <a:rPr lang="en-US" sz="1850" dirty="0">
                <a:latin typeface="Calibri" panose="020F0502020204030204" pitchFamily="34" charset="0"/>
                <a:cs typeface="Calibri" panose="020F0502020204030204" pitchFamily="34" charset="0"/>
              </a:rPr>
              <a:t>Some abstraction</a:t>
            </a:r>
          </a:p>
          <a:p>
            <a:pPr marL="1028700" lvl="2" indent="-342900" algn="l">
              <a:buFont typeface="Wingdings" panose="05000000000000000000" pitchFamily="2" charset="2"/>
              <a:buChar char="F"/>
            </a:pPr>
            <a:r>
              <a:rPr lang="en-US" sz="1850" dirty="0">
                <a:latin typeface="Calibri" panose="020F0502020204030204" pitchFamily="34" charset="0"/>
                <a:cs typeface="Calibri" panose="020F0502020204030204" pitchFamily="34" charset="0"/>
              </a:rPr>
              <a:t>Translation required use of assembler</a:t>
            </a:r>
          </a:p>
          <a:p>
            <a:pPr marL="1028700" lvl="2" indent="-342900" algn="l">
              <a:buFont typeface="Wingdings" panose="05000000000000000000" pitchFamily="2" charset="2"/>
              <a:buChar char="F"/>
            </a:pPr>
            <a:r>
              <a:rPr lang="en-US" sz="1850" dirty="0">
                <a:latin typeface="Calibri" panose="020F0502020204030204" pitchFamily="34" charset="0"/>
                <a:cs typeface="Calibri" panose="020F0502020204030204" pitchFamily="34" charset="0"/>
              </a:rPr>
              <a:t> Execution speed is comparable to machine language</a:t>
            </a:r>
          </a:p>
          <a:p>
            <a:pPr marL="1028700" lvl="2" indent="-342900" algn="l">
              <a:buFont typeface="Wingdings" panose="05000000000000000000" pitchFamily="2" charset="2"/>
              <a:buChar char="F"/>
            </a:pPr>
            <a:r>
              <a:rPr lang="en-US" sz="1850" dirty="0">
                <a:latin typeface="Calibri" panose="020F0502020204030204" pitchFamily="34" charset="0"/>
                <a:cs typeface="Calibri" panose="020F0502020204030204" pitchFamily="34" charset="0"/>
              </a:rPr>
              <a:t>Example assembly language</a:t>
            </a:r>
            <a:endParaRPr lang="en-US" sz="26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525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28600"/>
            <a:ext cx="8001000" cy="5867400"/>
          </a:xfrm>
        </p:spPr>
        <p:txBody>
          <a:bodyPr>
            <a:normAutofit/>
          </a:bodyPr>
          <a:lstStyle/>
          <a:p>
            <a:pPr algn="l"/>
            <a:r>
              <a:rPr lang="en-US" sz="23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3-GL= Third generation languages</a:t>
            </a:r>
          </a:p>
          <a:p>
            <a:pPr marL="1028700" lvl="2" indent="-342900" algn="l">
              <a:buFont typeface="Wingdings" panose="05000000000000000000" pitchFamily="2" charset="2"/>
              <a:buChar char="F"/>
            </a:pPr>
            <a:r>
              <a:rPr lang="en-US" sz="1850" dirty="0">
                <a:latin typeface="Calibri" panose="020F0502020204030204" pitchFamily="34" charset="0"/>
                <a:cs typeface="Calibri" panose="020F0502020204030204" pitchFamily="34" charset="0"/>
              </a:rPr>
              <a:t>Provide higher abstraction from hardware</a:t>
            </a:r>
          </a:p>
          <a:p>
            <a:pPr marL="1028700" lvl="2" indent="-342900" algn="l">
              <a:buFont typeface="Wingdings" panose="05000000000000000000" pitchFamily="2" charset="2"/>
              <a:buChar char="F"/>
            </a:pPr>
            <a:r>
              <a:rPr lang="en-US" sz="1850" dirty="0">
                <a:latin typeface="Calibri" panose="020F0502020204030204" pitchFamily="34" charset="0"/>
                <a:cs typeface="Calibri" panose="020F0502020204030204" pitchFamily="34" charset="0"/>
              </a:rPr>
              <a:t>Use English-like, text-based statements</a:t>
            </a:r>
          </a:p>
          <a:p>
            <a:pPr marL="1028700" lvl="2" indent="-342900" algn="l">
              <a:buFont typeface="Wingdings" panose="05000000000000000000" pitchFamily="2" charset="2"/>
              <a:buChar char="F"/>
            </a:pPr>
            <a:r>
              <a:rPr lang="en-US" sz="1850" dirty="0">
                <a:latin typeface="Calibri" panose="020F0502020204030204" pitchFamily="34" charset="0"/>
                <a:cs typeface="Calibri" panose="020F0502020204030204" pitchFamily="34" charset="0"/>
              </a:rPr>
              <a:t>Require compilers or interpreters for translation</a:t>
            </a:r>
          </a:p>
          <a:p>
            <a:pPr marL="1028700" lvl="2" indent="-342900" algn="l">
              <a:buFont typeface="Wingdings" panose="05000000000000000000" pitchFamily="2" charset="2"/>
              <a:buChar char="F"/>
            </a:pPr>
            <a:r>
              <a:rPr lang="en-US" sz="1850" dirty="0">
                <a:latin typeface="Calibri" panose="020F0502020204030204" pitchFamily="34" charset="0"/>
                <a:cs typeface="Calibri" panose="020F0502020204030204" pitchFamily="34" charset="0"/>
              </a:rPr>
              <a:t>Easier to read, write, and maintain</a:t>
            </a:r>
          </a:p>
          <a:p>
            <a:pPr marL="1028700" lvl="2" indent="-342900" algn="l">
              <a:buFont typeface="Wingdings" panose="05000000000000000000" pitchFamily="2" charset="2"/>
              <a:buChar char="F"/>
            </a:pPr>
            <a:r>
              <a:rPr lang="en-US" sz="1850" dirty="0">
                <a:latin typeface="Calibri" panose="020F0502020204030204" pitchFamily="34" charset="0"/>
                <a:cs typeface="Calibri" panose="020F0502020204030204" pitchFamily="34" charset="0"/>
              </a:rPr>
              <a:t>Better support for error detection and debugging</a:t>
            </a:r>
          </a:p>
          <a:p>
            <a:pPr marL="1028700" lvl="2" indent="-342900" algn="l">
              <a:buFont typeface="Wingdings" panose="05000000000000000000" pitchFamily="2" charset="2"/>
              <a:buChar char="F"/>
            </a:pPr>
            <a:r>
              <a:rPr lang="en-US" sz="1850" dirty="0">
                <a:latin typeface="Calibri" panose="020F0502020204030204" pitchFamily="34" charset="0"/>
                <a:cs typeface="Calibri" panose="020F0502020204030204" pitchFamily="34" charset="0"/>
              </a:rPr>
              <a:t>Generally slower than 2GL due to abstraction</a:t>
            </a:r>
          </a:p>
          <a:p>
            <a:pPr marL="1028700" lvl="2" indent="-342900" algn="l">
              <a:buFont typeface="Wingdings" panose="05000000000000000000" pitchFamily="2" charset="2"/>
              <a:buChar char="F"/>
            </a:pPr>
            <a:r>
              <a:rPr lang="en-US" sz="1850" dirty="0">
                <a:latin typeface="Calibri" panose="020F0502020204030204" pitchFamily="34" charset="0"/>
                <a:cs typeface="Calibri" panose="020F0502020204030204" pitchFamily="34" charset="0"/>
              </a:rPr>
              <a:t>Examples: C, C++, Java, Pascal</a:t>
            </a:r>
          </a:p>
          <a:p>
            <a:pPr algn="l"/>
            <a:r>
              <a:rPr lang="en-US" sz="23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4-GL= Fourth generation languages</a:t>
            </a:r>
          </a:p>
          <a:p>
            <a:pPr marL="1028700" lvl="2" indent="-342900" algn="l">
              <a:buFont typeface="Wingdings" panose="05000000000000000000" pitchFamily="2" charset="2"/>
              <a:buChar char="F"/>
            </a:pPr>
            <a:r>
              <a:rPr lang="en-US" sz="1850" dirty="0">
                <a:latin typeface="Calibri" panose="020F0502020204030204" pitchFamily="34" charset="0"/>
                <a:cs typeface="Calibri" panose="020F0502020204030204" pitchFamily="34" charset="0"/>
              </a:rPr>
              <a:t>Provide very high abstraction</a:t>
            </a:r>
          </a:p>
          <a:p>
            <a:pPr marL="1028700" lvl="2" indent="-342900" algn="l">
              <a:buFont typeface="Wingdings" panose="05000000000000000000" pitchFamily="2" charset="2"/>
              <a:buChar char="F"/>
            </a:pPr>
            <a:r>
              <a:rPr lang="en-US" sz="1850" dirty="0">
                <a:latin typeface="Calibri" panose="020F0502020204030204" pitchFamily="34" charset="0"/>
                <a:cs typeface="Calibri" panose="020F0502020204030204" pitchFamily="34" charset="0"/>
              </a:rPr>
              <a:t>Emphasize problem solving over algorithm design</a:t>
            </a:r>
          </a:p>
          <a:p>
            <a:pPr marL="1028700" lvl="2" indent="-342900" algn="l">
              <a:buFont typeface="Wingdings" panose="05000000000000000000" pitchFamily="2" charset="2"/>
              <a:buChar char="F"/>
            </a:pPr>
            <a:r>
              <a:rPr lang="en-US" sz="1850" dirty="0">
                <a:latin typeface="Calibri" panose="020F0502020204030204" pitchFamily="34" charset="0"/>
                <a:cs typeface="Calibri" panose="020F0502020204030204" pitchFamily="34" charset="0"/>
              </a:rPr>
              <a:t>Reduce the amount of code required</a:t>
            </a:r>
          </a:p>
          <a:p>
            <a:pPr marL="1028700" lvl="2" indent="-342900" algn="l">
              <a:buFont typeface="Wingdings" panose="05000000000000000000" pitchFamily="2" charset="2"/>
              <a:buChar char="F"/>
            </a:pPr>
            <a:r>
              <a:rPr lang="en-US" sz="1850" dirty="0">
                <a:latin typeface="Calibri" panose="020F0502020204030204" pitchFamily="34" charset="0"/>
                <a:cs typeface="Calibri" panose="020F0502020204030204" pitchFamily="34" charset="0"/>
              </a:rPr>
              <a:t>Improve programmer productivity and usability</a:t>
            </a:r>
          </a:p>
          <a:p>
            <a:pPr marL="1028700" lvl="2" indent="-342900" algn="l">
              <a:buFont typeface="Wingdings" panose="05000000000000000000" pitchFamily="2" charset="2"/>
              <a:buChar char="F"/>
            </a:pPr>
            <a:r>
              <a:rPr lang="en-US" sz="1850" dirty="0">
                <a:latin typeface="Calibri" panose="020F0502020204030204" pitchFamily="34" charset="0"/>
                <a:cs typeface="Calibri" panose="020F0502020204030204" pitchFamily="34" charset="0"/>
              </a:rPr>
              <a:t>Require compilers or interpreters</a:t>
            </a:r>
          </a:p>
          <a:p>
            <a:pPr marL="1028700" lvl="2" indent="-342900" algn="l">
              <a:buFont typeface="Wingdings" panose="05000000000000000000" pitchFamily="2" charset="2"/>
              <a:buChar char="F"/>
            </a:pPr>
            <a:r>
              <a:rPr lang="en-US" sz="1850" dirty="0">
                <a:latin typeface="Calibri" panose="020F0502020204030204" pitchFamily="34" charset="0"/>
                <a:cs typeface="Calibri" panose="020F0502020204030204" pitchFamily="34" charset="0"/>
              </a:rPr>
              <a:t>Generally, less efficient than 3GLs in execution speed</a:t>
            </a:r>
          </a:p>
          <a:p>
            <a:pPr marL="1028700" lvl="2" indent="-342900" algn="l">
              <a:buFont typeface="Wingdings" panose="05000000000000000000" pitchFamily="2" charset="2"/>
              <a:buChar char="F"/>
            </a:pPr>
            <a:r>
              <a:rPr lang="en-US" sz="1850" dirty="0">
                <a:latin typeface="Calibri" panose="020F0502020204030204" pitchFamily="34" charset="0"/>
                <a:cs typeface="Calibri" panose="020F0502020204030204" pitchFamily="34" charset="0"/>
              </a:rPr>
              <a:t>Examples: SQL, MATLAB</a:t>
            </a:r>
            <a:endParaRPr lang="en-US" sz="2600" dirty="0">
              <a:solidFill>
                <a:schemeClr val="tx1"/>
              </a:solidFill>
              <a:latin typeface="Century Gothic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590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9146" y="228600"/>
            <a:ext cx="8001000" cy="5867400"/>
          </a:xfrm>
        </p:spPr>
        <p:txBody>
          <a:bodyPr>
            <a:normAutofit/>
          </a:bodyPr>
          <a:lstStyle/>
          <a:p>
            <a:pPr algn="l"/>
            <a:r>
              <a:rPr lang="en-US" sz="23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5-GL= Fifth generation languages</a:t>
            </a:r>
          </a:p>
          <a:p>
            <a:pPr marL="1028700" lvl="2" indent="-342900" algn="l">
              <a:buFont typeface="Wingdings" panose="05000000000000000000" pitchFamily="2" charset="2"/>
              <a:buChar char="F"/>
            </a:pPr>
            <a:r>
              <a:rPr lang="en-US" sz="1850" dirty="0">
                <a:latin typeface="Calibri" panose="020F0502020204030204" pitchFamily="34" charset="0"/>
                <a:cs typeface="Calibri" panose="020F0502020204030204" pitchFamily="34" charset="0"/>
              </a:rPr>
              <a:t>Focus on specifying what problem to solve rather than how to solve it</a:t>
            </a:r>
          </a:p>
          <a:p>
            <a:pPr marL="1028700" lvl="2" indent="-342900" algn="l">
              <a:buFont typeface="Wingdings" panose="05000000000000000000" pitchFamily="2" charset="2"/>
              <a:buChar char="F"/>
            </a:pPr>
            <a:r>
              <a:rPr lang="en-US" sz="1850" dirty="0">
                <a:latin typeface="Calibri" panose="020F0502020204030204" pitchFamily="34" charset="0"/>
                <a:cs typeface="Calibri" panose="020F0502020204030204" pitchFamily="34" charset="0"/>
              </a:rPr>
              <a:t>Primarily used in artificial intelligence and intelligent systems</a:t>
            </a:r>
          </a:p>
          <a:p>
            <a:pPr marL="1028700" lvl="2" indent="-342900" algn="l">
              <a:buFont typeface="Wingdings" panose="05000000000000000000" pitchFamily="2" charset="2"/>
              <a:buChar char="F"/>
            </a:pPr>
            <a:r>
              <a:rPr lang="en-US" sz="1850" dirty="0">
                <a:latin typeface="Calibri" panose="020F0502020204030204" pitchFamily="34" charset="0"/>
                <a:cs typeface="Calibri" panose="020F0502020204030204" pitchFamily="34" charset="0"/>
              </a:rPr>
              <a:t>Based on logic, rules, and constraints</a:t>
            </a:r>
          </a:p>
          <a:p>
            <a:pPr marL="1028700" lvl="2" indent="-342900" algn="l">
              <a:buFont typeface="Wingdings" panose="05000000000000000000" pitchFamily="2" charset="2"/>
              <a:buChar char="F"/>
            </a:pPr>
            <a:r>
              <a:rPr lang="en-US" sz="1850" dirty="0">
                <a:latin typeface="Calibri" panose="020F0502020204030204" pitchFamily="34" charset="0"/>
                <a:cs typeface="Calibri" panose="020F0502020204030204" pitchFamily="34" charset="0"/>
              </a:rPr>
              <a:t>Provide a very high level of abstraction</a:t>
            </a:r>
          </a:p>
          <a:p>
            <a:pPr marL="1028700" lvl="2" indent="-342900" algn="l">
              <a:buFont typeface="Wingdings" panose="05000000000000000000" pitchFamily="2" charset="2"/>
              <a:buChar char="F"/>
            </a:pPr>
            <a:r>
              <a:rPr lang="en-US" sz="1850" dirty="0">
                <a:latin typeface="Calibri" panose="020F0502020204030204" pitchFamily="34" charset="0"/>
                <a:cs typeface="Calibri" panose="020F0502020204030204" pitchFamily="34" charset="0"/>
              </a:rPr>
              <a:t>Generally slower in execution due to inference and search mechanisms</a:t>
            </a:r>
          </a:p>
          <a:p>
            <a:pPr marL="1028700" lvl="2" indent="-342900" algn="l">
              <a:buFont typeface="Wingdings" panose="05000000000000000000" pitchFamily="2" charset="2"/>
              <a:buChar char="F"/>
            </a:pPr>
            <a:r>
              <a:rPr lang="en-US" sz="1850" dirty="0">
                <a:latin typeface="Calibri" panose="020F0502020204030204" pitchFamily="34" charset="0"/>
                <a:cs typeface="Calibri" panose="020F0502020204030204" pitchFamily="34" charset="0"/>
              </a:rPr>
              <a:t>Example: Prolog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850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9146" y="228600"/>
            <a:ext cx="8001000" cy="586740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2600" b="1" u="sng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 action="ppaction://hlinksldjump"/>
              </a:rPr>
              <a:t>Programming languages</a:t>
            </a:r>
            <a:endParaRPr lang="en-US" sz="2600" b="1" u="sng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2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b) According to abstraction(LLL to HLL)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US" sz="22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ability to hide details of execution at the processor level.</a:t>
            </a:r>
          </a:p>
          <a:p>
            <a:pPr algn="l"/>
            <a:r>
              <a:rPr lang="en-US" sz="22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Low level languages(LLL)</a:t>
            </a:r>
          </a:p>
          <a:p>
            <a:pPr marL="1028700" lvl="2" indent="-342900" algn="l">
              <a:lnSpc>
                <a:spcPct val="100000"/>
              </a:lnSpc>
              <a:buFont typeface="Wingdings" panose="05000000000000000000" pitchFamily="2" charset="2"/>
              <a:buChar char="F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Generally,  less abstract</a:t>
            </a:r>
          </a:p>
          <a:p>
            <a:pPr marL="1028700" lvl="2" indent="-342900" algn="l">
              <a:lnSpc>
                <a:spcPct val="100000"/>
              </a:lnSpc>
              <a:buFont typeface="Wingdings" panose="05000000000000000000" pitchFamily="2" charset="2"/>
              <a:buChar char="F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Closely related to the CPU and hardware</a:t>
            </a:r>
          </a:p>
          <a:p>
            <a:pPr marL="1028700" lvl="2" indent="-342900" algn="l">
              <a:lnSpc>
                <a:spcPct val="100000"/>
              </a:lnSpc>
              <a:buFont typeface="Wingdings" panose="05000000000000000000" pitchFamily="2" charset="2"/>
              <a:buChar char="F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Faster execution speed</a:t>
            </a:r>
          </a:p>
          <a:p>
            <a:pPr marL="1028700" lvl="2" indent="-342900" algn="l">
              <a:lnSpc>
                <a:spcPct val="100000"/>
              </a:lnSpc>
              <a:buFont typeface="Wingdings" panose="05000000000000000000" pitchFamily="2" charset="2"/>
              <a:buChar char="F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Difficult to write, read, and maintain</a:t>
            </a:r>
          </a:p>
          <a:p>
            <a:pPr marL="1028700" lvl="2" indent="-342900" algn="l">
              <a:lnSpc>
                <a:spcPct val="100000"/>
              </a:lnSpc>
              <a:buFont typeface="Wingdings" panose="05000000000000000000" pitchFamily="2" charset="2"/>
              <a:buChar char="F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Less portable (machine dependent)</a:t>
            </a:r>
          </a:p>
          <a:p>
            <a:pPr marL="1028700" lvl="2" indent="-342900" algn="l">
              <a:lnSpc>
                <a:spcPct val="100000"/>
              </a:lnSpc>
              <a:buFont typeface="Wingdings" panose="05000000000000000000" pitchFamily="2" charset="2"/>
              <a:buChar char="F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Examples: Machine language, Assembly language</a:t>
            </a:r>
          </a:p>
          <a:p>
            <a:pPr algn="l">
              <a:lnSpc>
                <a:spcPct val="100000"/>
              </a:lnSpc>
            </a:pPr>
            <a:r>
              <a:rPr lang="en-US" sz="22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High level languages(HLL)</a:t>
            </a:r>
          </a:p>
          <a:p>
            <a:pPr marL="1028700" lvl="2" indent="-342900" algn="l">
              <a:lnSpc>
                <a:spcPct val="100000"/>
              </a:lnSpc>
              <a:buFont typeface="Wingdings" panose="05000000000000000000" pitchFamily="2" charset="2"/>
              <a:buChar char="F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Provide a high level of abstraction</a:t>
            </a:r>
          </a:p>
          <a:p>
            <a:pPr marL="1028700" lvl="2" indent="-342900" algn="l">
              <a:lnSpc>
                <a:spcPct val="100000"/>
              </a:lnSpc>
              <a:buFont typeface="Wingdings" panose="05000000000000000000" pitchFamily="2" charset="2"/>
              <a:buChar char="F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Use instructions that are easy for humans to understand</a:t>
            </a:r>
          </a:p>
          <a:p>
            <a:pPr marL="1028700" lvl="2" indent="-342900" algn="l">
              <a:lnSpc>
                <a:spcPct val="100000"/>
              </a:lnSpc>
              <a:buFont typeface="Wingdings" panose="05000000000000000000" pitchFamily="2" charset="2"/>
              <a:buChar char="F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Require translation using a compiler or interpreter</a:t>
            </a:r>
          </a:p>
          <a:p>
            <a:pPr marL="1028700" lvl="2" indent="-342900" algn="l">
              <a:lnSpc>
                <a:spcPct val="100000"/>
              </a:lnSpc>
              <a:buFont typeface="Wingdings" panose="05000000000000000000" pitchFamily="2" charset="2"/>
              <a:buChar char="F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Generally slower than low-level languages due to abstraction</a:t>
            </a:r>
          </a:p>
          <a:p>
            <a:pPr marL="1028700" lvl="2" indent="-342900" algn="l">
              <a:lnSpc>
                <a:spcPct val="100000"/>
              </a:lnSpc>
              <a:buFont typeface="Wingdings" panose="05000000000000000000" pitchFamily="2" charset="2"/>
              <a:buChar char="F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Portable across different platforms</a:t>
            </a:r>
          </a:p>
          <a:p>
            <a:pPr marL="1028700" lvl="2" indent="-342900" algn="l">
              <a:lnSpc>
                <a:spcPct val="100000"/>
              </a:lnSpc>
              <a:buFont typeface="Wingdings" panose="05000000000000000000" pitchFamily="2" charset="2"/>
              <a:buChar char="F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Examples: Pascal, C, C++, Java, Python, Prolog</a:t>
            </a:r>
          </a:p>
          <a:p>
            <a:pPr algn="l">
              <a:buFont typeface="Wingdings" pitchFamily="2" charset="2"/>
              <a:buChar char="§"/>
            </a:pPr>
            <a:endParaRPr lang="en-US" sz="2600" dirty="0">
              <a:solidFill>
                <a:schemeClr val="tx1"/>
              </a:solidFill>
              <a:latin typeface="Century Gothic" pitchFamily="34" charset="0"/>
            </a:endParaRPr>
          </a:p>
          <a:p>
            <a:endParaRPr lang="en-US" sz="2600" b="1" u="sng" dirty="0">
              <a:latin typeface="Century Gothic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496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136522"/>
            <a:ext cx="8510546" cy="5959478"/>
          </a:xfrm>
        </p:spPr>
        <p:txBody>
          <a:bodyPr>
            <a:normAutofit/>
          </a:bodyPr>
          <a:lstStyle/>
          <a:p>
            <a:pPr algn="l"/>
            <a:r>
              <a:rPr lang="en-US" sz="2600" b="1" u="sng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 action="ppaction://hlinksldjump"/>
              </a:rPr>
              <a:t>Programming languages</a:t>
            </a:r>
            <a:endParaRPr lang="en-US" sz="2600" b="1" u="sng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0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c) According to use/function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=This classification is based on the kind of tasks the language is used for</a:t>
            </a:r>
          </a:p>
          <a:p>
            <a:pPr marL="1028700" lvl="2" indent="-342900" algn="l">
              <a:buFont typeface="Wingdings" panose="05000000000000000000" pitchFamily="2" charset="2"/>
              <a:buChar char="F"/>
            </a:pPr>
            <a:r>
              <a:rPr lang="en-US" sz="20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Artificial Intelligence languages</a:t>
            </a:r>
            <a:r>
              <a:rPr lang="en-US" sz="20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Designed for AI applications (e.g., Prolog, Lisp)</a:t>
            </a:r>
          </a:p>
          <a:p>
            <a:pPr marL="1028700" lvl="2" indent="-342900" algn="l">
              <a:buFont typeface="Wingdings" panose="05000000000000000000" pitchFamily="2" charset="2"/>
              <a:buChar char="F"/>
            </a:pPr>
            <a:r>
              <a:rPr lang="en-US" sz="20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Business languages: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Used for business and administrative applications (e.g., COBOL, SQL)</a:t>
            </a:r>
          </a:p>
          <a:p>
            <a:pPr marL="1028700" lvl="2" indent="-342900" algn="l">
              <a:buFont typeface="Wingdings" panose="05000000000000000000" pitchFamily="2" charset="2"/>
              <a:buChar char="F"/>
            </a:pPr>
            <a:r>
              <a:rPr lang="en-US" sz="20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Scientific languages</a:t>
            </a:r>
            <a:r>
              <a:rPr lang="en-US" sz="20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Used for scientific and engineering computations (e.g., FORTRAN, MATLAB)</a:t>
            </a:r>
          </a:p>
          <a:p>
            <a:pPr marL="1028700" lvl="2" indent="-342900" algn="l">
              <a:buFont typeface="Wingdings" panose="05000000000000000000" pitchFamily="2" charset="2"/>
              <a:buChar char="F"/>
            </a:pPr>
            <a:r>
              <a:rPr lang="en-US" sz="200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languages: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Used for system software and hardware-level programming (e.g., C, C++, Rust)</a:t>
            </a:r>
          </a:p>
          <a:p>
            <a:pPr lvl="1" algn="l">
              <a:buFont typeface="Wingdings" pitchFamily="2" charset="2"/>
              <a:buChar char="§"/>
            </a:pPr>
            <a:endParaRPr lang="en-US" sz="2300" dirty="0">
              <a:solidFill>
                <a:schemeClr val="tx1"/>
              </a:solidFill>
              <a:latin typeface="Century Gothic" pitchFamily="34" charset="0"/>
            </a:endParaRPr>
          </a:p>
          <a:p>
            <a:endParaRPr lang="en-US" sz="2600" b="1" u="sng" dirty="0">
              <a:latin typeface="Century Gothic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343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28600"/>
            <a:ext cx="8001000" cy="5867400"/>
          </a:xfrm>
        </p:spPr>
        <p:txBody>
          <a:bodyPr>
            <a:normAutofit/>
          </a:bodyPr>
          <a:lstStyle/>
          <a:p>
            <a:pPr algn="l"/>
            <a:r>
              <a:rPr lang="en-US" sz="2600" b="1" u="sng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 action="ppaction://hlinksldjump"/>
              </a:rPr>
              <a:t>Programming languages</a:t>
            </a:r>
            <a:endParaRPr lang="en-US" sz="2600" b="1" u="sng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b="1" dirty="0">
                <a:solidFill>
                  <a:srgbClr val="00B050"/>
                </a:solidFill>
              </a:rPr>
              <a:t>d) According to generality</a:t>
            </a:r>
            <a:r>
              <a:rPr lang="en-US" dirty="0"/>
              <a:t>=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Groups languages by the range of tasks</a:t>
            </a:r>
          </a:p>
          <a:p>
            <a:pPr marL="685800" lvl="1" indent="-342900" algn="l">
              <a:buFont typeface="Wingdings" panose="05000000000000000000" pitchFamily="2" charset="2"/>
              <a:buChar char="F"/>
            </a:pPr>
            <a:r>
              <a:rPr lang="en-US" sz="215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Special-purpose languages</a:t>
            </a:r>
            <a:r>
              <a:rPr lang="en-US" sz="2150" dirty="0">
                <a:latin typeface="Calibri" panose="020F0502020204030204" pitchFamily="34" charset="0"/>
                <a:cs typeface="Calibri" panose="020F0502020204030204" pitchFamily="34" charset="0"/>
              </a:rPr>
              <a:t>: Designed for specific tasks or domains e.g., SQL for databases.</a:t>
            </a:r>
          </a:p>
          <a:p>
            <a:pPr marL="685800" lvl="1" indent="-342900" algn="l">
              <a:buFont typeface="Wingdings" panose="05000000000000000000" pitchFamily="2" charset="2"/>
              <a:buChar char="F"/>
            </a:pPr>
            <a:r>
              <a:rPr lang="en-US" sz="215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General-purpose languages: </a:t>
            </a:r>
            <a:r>
              <a:rPr lang="en-US" sz="2150" dirty="0">
                <a:latin typeface="Calibri" panose="020F0502020204030204" pitchFamily="34" charset="0"/>
                <a:cs typeface="Calibri" panose="020F0502020204030204" pitchFamily="34" charset="0"/>
              </a:rPr>
              <a:t>Can be used for a wide range of applications  e.g., C, Java, Python.</a:t>
            </a:r>
          </a:p>
          <a:p>
            <a:endParaRPr lang="en-US" sz="2600" b="1" u="sng" dirty="0">
              <a:latin typeface="Century Gothic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278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28600"/>
            <a:ext cx="8205746" cy="5867400"/>
          </a:xfrm>
        </p:spPr>
        <p:txBody>
          <a:bodyPr>
            <a:normAutofit/>
          </a:bodyPr>
          <a:lstStyle/>
          <a:p>
            <a:pPr algn="l"/>
            <a:r>
              <a:rPr lang="en-US" sz="2600" b="1" u="sng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 action="ppaction://hlinksldjump"/>
              </a:rPr>
              <a:t>Programming languages</a:t>
            </a:r>
            <a:endParaRPr lang="en-US" sz="2600" b="1" u="sng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b="1" dirty="0">
                <a:solidFill>
                  <a:srgbClr val="00B050"/>
                </a:solidFill>
              </a:rPr>
              <a:t>e) According to programming paradigm</a:t>
            </a:r>
            <a:r>
              <a:rPr lang="en-US" dirty="0"/>
              <a:t>= Programming languages can be classified based on the style or paradigm they follow:</a:t>
            </a:r>
          </a:p>
          <a:p>
            <a:pPr marL="685800" lvl="1" indent="-342900" algn="just">
              <a:buFont typeface="Wingdings" panose="05000000000000000000" pitchFamily="2" charset="2"/>
              <a:buChar char="F"/>
            </a:pPr>
            <a:r>
              <a:rPr lang="en-US" sz="215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Event-driven languages: </a:t>
            </a:r>
            <a:r>
              <a:rPr lang="en-US" sz="2150" dirty="0">
                <a:latin typeface="Calibri" panose="020F0502020204030204" pitchFamily="34" charset="0"/>
                <a:cs typeface="Calibri" panose="020F0502020204030204" pitchFamily="34" charset="0"/>
              </a:rPr>
              <a:t>Designed to respond to events e.g., Visual Basic</a:t>
            </a:r>
          </a:p>
          <a:p>
            <a:pPr marL="685800" lvl="1" indent="-342900" algn="just">
              <a:buFont typeface="Wingdings" panose="05000000000000000000" pitchFamily="2" charset="2"/>
              <a:buChar char="F"/>
            </a:pPr>
            <a:r>
              <a:rPr lang="en-US" sz="215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Functional languages: </a:t>
            </a:r>
            <a:r>
              <a:rPr lang="en-US" sz="2150" dirty="0">
                <a:latin typeface="Calibri" panose="020F0502020204030204" pitchFamily="34" charset="0"/>
                <a:cs typeface="Calibri" panose="020F0502020204030204" pitchFamily="34" charset="0"/>
              </a:rPr>
              <a:t>Based on mathematical functions and immutability e.g., Haskell, R</a:t>
            </a:r>
          </a:p>
          <a:p>
            <a:pPr marL="685800" lvl="1" indent="-342900" algn="just">
              <a:buFont typeface="Wingdings" panose="05000000000000000000" pitchFamily="2" charset="2"/>
              <a:buChar char="F"/>
            </a:pPr>
            <a:r>
              <a:rPr lang="en-US" sz="215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Procedural languages: </a:t>
            </a:r>
            <a:r>
              <a:rPr lang="en-US" sz="2150" dirty="0">
                <a:latin typeface="Calibri" panose="020F0502020204030204" pitchFamily="34" charset="0"/>
                <a:cs typeface="Calibri" panose="020F0502020204030204" pitchFamily="34" charset="0"/>
              </a:rPr>
              <a:t>Follow step-by-step procedures or routines e.g., C, Pascal</a:t>
            </a:r>
          </a:p>
          <a:p>
            <a:pPr marL="685800" lvl="1" indent="-342900" algn="just">
              <a:buFont typeface="Wingdings" panose="05000000000000000000" pitchFamily="2" charset="2"/>
              <a:buChar char="F"/>
            </a:pPr>
            <a:r>
              <a:rPr lang="en-US" sz="215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Object-oriented languages: </a:t>
            </a:r>
            <a:r>
              <a:rPr lang="en-US" sz="2150" dirty="0">
                <a:latin typeface="Calibri" panose="020F0502020204030204" pitchFamily="34" charset="0"/>
                <a:cs typeface="Calibri" panose="020F0502020204030204" pitchFamily="34" charset="0"/>
              </a:rPr>
              <a:t>Use objects and classes to structure code e.g., C++, Java</a:t>
            </a:r>
          </a:p>
          <a:p>
            <a:pPr marL="685800" lvl="1" indent="-342900" algn="just">
              <a:buFont typeface="Wingdings" panose="05000000000000000000" pitchFamily="2" charset="2"/>
              <a:buChar char="F"/>
            </a:pPr>
            <a:r>
              <a:rPr lang="en-US" sz="2150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Logic languages: </a:t>
            </a:r>
            <a:r>
              <a:rPr lang="en-US" sz="2150" dirty="0">
                <a:latin typeface="Calibri" panose="020F0502020204030204" pitchFamily="34" charset="0"/>
                <a:cs typeface="Calibri" panose="020F0502020204030204" pitchFamily="34" charset="0"/>
              </a:rPr>
              <a:t>Based on formal logic and rules e.g., Prolog</a:t>
            </a:r>
          </a:p>
          <a:p>
            <a:endParaRPr lang="en-US" sz="2600" b="1" u="sng" dirty="0">
              <a:latin typeface="Century Gothic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596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9146" y="228600"/>
            <a:ext cx="8001000" cy="5867400"/>
          </a:xfrm>
        </p:spPr>
        <p:txBody>
          <a:bodyPr>
            <a:normAutofit/>
          </a:bodyPr>
          <a:lstStyle/>
          <a:p>
            <a:pPr algn="l"/>
            <a:r>
              <a:rPr lang="en-US" sz="2600" b="1" u="sng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 action="ppaction://hlinksldjump"/>
              </a:rPr>
              <a:t>Programming languages</a:t>
            </a:r>
            <a:endParaRPr lang="en-US" sz="2600" b="1" u="sng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b="1" dirty="0">
                <a:solidFill>
                  <a:srgbClr val="00B050"/>
                </a:solidFill>
              </a:rPr>
              <a:t>f) According to execution</a:t>
            </a:r>
            <a:r>
              <a:rPr lang="en-US" dirty="0"/>
              <a:t>= Languages can be classified based on how their source code is translated into executable code:</a:t>
            </a:r>
          </a:p>
          <a:p>
            <a:pPr marL="285750" indent="-285750" algn="just">
              <a:buFont typeface="Wingdings" panose="05000000000000000000" pitchFamily="2" charset="2"/>
              <a:buChar char="F"/>
            </a:pPr>
            <a:r>
              <a:rPr lang="en-US" b="1" dirty="0">
                <a:solidFill>
                  <a:srgbClr val="0000FF"/>
                </a:solidFill>
              </a:rPr>
              <a:t>Interpreted languages: </a:t>
            </a:r>
            <a:r>
              <a:rPr lang="en-US" dirty="0"/>
              <a:t>Executed line by line by an interpreter e.g., JavaScript, Python.</a:t>
            </a:r>
          </a:p>
          <a:p>
            <a:pPr marL="285750" indent="-285750" algn="just">
              <a:buFont typeface="Wingdings" panose="05000000000000000000" pitchFamily="2" charset="2"/>
              <a:buChar char="F"/>
            </a:pPr>
            <a:r>
              <a:rPr lang="en-US" b="1" dirty="0">
                <a:solidFill>
                  <a:srgbClr val="0000FF"/>
                </a:solidFill>
              </a:rPr>
              <a:t>Compiled languages: </a:t>
            </a:r>
            <a:r>
              <a:rPr lang="en-US" dirty="0"/>
              <a:t>Translated entirely into machine code by a compiler before execution  e.g., C, C++.</a:t>
            </a:r>
          </a:p>
          <a:p>
            <a:pPr algn="just"/>
            <a:endParaRPr lang="en-US" dirty="0"/>
          </a:p>
          <a:p>
            <a:pPr algn="just"/>
            <a:r>
              <a:rPr lang="en-US" b="1" dirty="0">
                <a:solidFill>
                  <a:srgbClr val="00B050"/>
                </a:solidFill>
              </a:rPr>
              <a:t>g) According to type= </a:t>
            </a:r>
            <a:r>
              <a:rPr lang="en-US" dirty="0"/>
              <a:t>Languages can be classified based on how strictly they enforce data types:</a:t>
            </a:r>
          </a:p>
          <a:p>
            <a:pPr marL="285750" indent="-285750" algn="just">
              <a:buFont typeface="Wingdings" panose="05000000000000000000" pitchFamily="2" charset="2"/>
              <a:buChar char="F"/>
            </a:pPr>
            <a:r>
              <a:rPr lang="en-US" b="1" dirty="0">
                <a:solidFill>
                  <a:srgbClr val="0000FF"/>
                </a:solidFill>
              </a:rPr>
              <a:t>Loosely typed languages: </a:t>
            </a:r>
            <a:r>
              <a:rPr lang="en-US" dirty="0"/>
              <a:t>Data types do not need to be explicitly declared and may change dynamically e.g., JavaScript, Python.</a:t>
            </a:r>
          </a:p>
          <a:p>
            <a:pPr marL="285750" indent="-285750" algn="just">
              <a:buFont typeface="Wingdings" panose="05000000000000000000" pitchFamily="2" charset="2"/>
              <a:buChar char="F"/>
            </a:pPr>
            <a:r>
              <a:rPr lang="en-US" b="1" dirty="0">
                <a:solidFill>
                  <a:srgbClr val="0000FF"/>
                </a:solidFill>
              </a:rPr>
              <a:t>Strongly typed languages: </a:t>
            </a:r>
            <a:r>
              <a:rPr lang="en-US" dirty="0"/>
              <a:t>Data types must be explicitly declared and are strictly enforced  e.g., C, Java.</a:t>
            </a:r>
          </a:p>
          <a:p>
            <a:pPr algn="l"/>
            <a:endParaRPr lang="en-US" sz="2600" b="1" dirty="0">
              <a:latin typeface="Century Gothic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885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9146" y="228600"/>
            <a:ext cx="8001000" cy="5867400"/>
          </a:xfrm>
        </p:spPr>
        <p:txBody>
          <a:bodyPr>
            <a:normAutofit/>
          </a:bodyPr>
          <a:lstStyle/>
          <a:p>
            <a:pPr algn="l"/>
            <a:r>
              <a:rPr lang="en-US" sz="2600" b="1" u="sng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 action="ppaction://hlinksldjump"/>
              </a:rPr>
              <a:t>Programming languages</a:t>
            </a:r>
            <a:endParaRPr lang="en-US" sz="2600" b="1" u="sng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600" b="1" u="sng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Activity 3:</a:t>
            </a:r>
          </a:p>
          <a:p>
            <a:pPr algn="l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Use a comparison matrix for programming languages Ada, C#, Python, C, Java and Prolog based on the following metrics.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Generation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Major application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Key feature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Main advantage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Main limitation</a:t>
            </a:r>
          </a:p>
          <a:p>
            <a:pPr algn="l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Wingdings" pitchFamily="2" charset="2"/>
              <a:buChar char="§"/>
            </a:pPr>
            <a:endParaRPr lang="en-US" sz="2600" dirty="0">
              <a:solidFill>
                <a:schemeClr val="tx1"/>
              </a:solidFill>
              <a:latin typeface="Century Gothic" pitchFamily="34" charset="0"/>
            </a:endParaRPr>
          </a:p>
          <a:p>
            <a:endParaRPr lang="en-US" sz="2600" b="1" u="sng" dirty="0">
              <a:latin typeface="Century Gothic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144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9595F-F467-B400-13CF-E7198C54B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0894B4D-F3B0-DC41-A734-28C1C4A9C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228600"/>
            <a:ext cx="8281946" cy="5867400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000" b="1" u="sng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 action="ppaction://hlinksldjump"/>
              </a:rPr>
              <a:t>Programming languages</a:t>
            </a:r>
            <a:endParaRPr lang="en-US" sz="2000" b="1" u="sng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US" sz="2000" b="1" u="sng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Activity 3: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Analyze and Select Languages for Problems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Breakout room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Not more than 5 participants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Duration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Not more than 30 minutes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Scope: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 presentation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Objective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Apply knowledge of language characteristics to different scenarios.</a:t>
            </a:r>
          </a:p>
          <a:p>
            <a:pPr algn="l">
              <a:lnSpc>
                <a:spcPct val="100000"/>
              </a:lnSpc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Task: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For each of the following problems, suggest one or more programming languages that could be suitable. Explain your reasoning for the choice.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Consider the following problems: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Building software to manage business transactions.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Developing a simulation for scientific calculations.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Creating a system capable of reasoning or AI-based decision-making.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Designing software that interacts closely with hardware or an operating system.</a:t>
            </a:r>
          </a:p>
          <a:p>
            <a:pPr algn="l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Wingdings" pitchFamily="2" charset="2"/>
              <a:buChar char="§"/>
            </a:pPr>
            <a:endParaRPr lang="en-US" sz="2600" dirty="0">
              <a:solidFill>
                <a:schemeClr val="tx1"/>
              </a:solidFill>
              <a:latin typeface="Century Gothic" pitchFamily="34" charset="0"/>
            </a:endParaRPr>
          </a:p>
          <a:p>
            <a:endParaRPr lang="en-US" sz="2600" b="1" u="sng" dirty="0">
              <a:latin typeface="Century Gothic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37C01-727C-020D-4BF3-EA506B2F1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212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9146" y="228600"/>
            <a:ext cx="8001000" cy="5867400"/>
          </a:xfrm>
        </p:spPr>
        <p:txBody>
          <a:bodyPr>
            <a:normAutofit/>
          </a:bodyPr>
          <a:lstStyle/>
          <a:p>
            <a:pPr algn="l"/>
            <a:r>
              <a:rPr lang="en-US" sz="2600" b="1" u="sng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 action="ppaction://hlinksldjump"/>
              </a:rPr>
              <a:t>Programming languages</a:t>
            </a:r>
            <a:endParaRPr lang="en-US" sz="2600" b="1" u="sng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600" b="1" u="sng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Exercise 3:</a:t>
            </a:r>
          </a:p>
          <a:p>
            <a:pPr marL="457200" indent="-457200" algn="l">
              <a:buFont typeface="+mj-lt"/>
              <a:buAutoNum type="alphaLcParenR"/>
            </a:pPr>
            <a:r>
              <a:rPr lang="en-US" sz="2000" dirty="0"/>
              <a:t>What does it mean for a program to be reliable?</a:t>
            </a:r>
          </a:p>
          <a:p>
            <a:pPr marL="457200" indent="-457200" algn="l">
              <a:buFont typeface="+mj-lt"/>
              <a:buAutoNum type="alphaLcParenR"/>
            </a:pPr>
            <a:r>
              <a:rPr lang="en-US" sz="2000" dirty="0"/>
              <a:t>Outline three fundamental features of an object-oriented programming language</a:t>
            </a:r>
          </a:p>
          <a:p>
            <a:pPr marL="457200" indent="-457200" algn="l">
              <a:buFont typeface="+mj-lt"/>
              <a:buAutoNum type="alphaLcParenR"/>
            </a:pPr>
            <a:r>
              <a:rPr lang="en-US" sz="2000" dirty="0"/>
              <a:t>Explain the different aspects of the cost of a programming language.</a:t>
            </a:r>
          </a:p>
          <a:p>
            <a:pPr marL="457200" indent="-457200" algn="l">
              <a:buFont typeface="+mj-lt"/>
              <a:buAutoNum type="alphaLcParenR"/>
            </a:pPr>
            <a:r>
              <a:rPr lang="en-US" sz="2000" dirty="0"/>
              <a:t>In your opinion, what major features would a perfect programming language include?</a:t>
            </a:r>
          </a:p>
          <a:p>
            <a:pPr algn="l"/>
            <a:endParaRPr lang="en-US" sz="2600" dirty="0">
              <a:solidFill>
                <a:schemeClr val="tx1"/>
              </a:solidFill>
              <a:latin typeface="Century Gothic" pitchFamily="34" charset="0"/>
            </a:endParaRPr>
          </a:p>
          <a:p>
            <a:endParaRPr lang="en-US" sz="2600" b="1" u="sng" dirty="0">
              <a:latin typeface="Century Gothic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20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381000"/>
            <a:ext cx="8001000" cy="5181600"/>
          </a:xfrm>
        </p:spPr>
        <p:txBody>
          <a:bodyPr>
            <a:normAutofit/>
          </a:bodyPr>
          <a:lstStyle/>
          <a:p>
            <a:pPr marL="514350" indent="-514350" algn="l"/>
            <a:r>
              <a:rPr lang="en-US" sz="2400" b="1" dirty="0">
                <a:solidFill>
                  <a:schemeClr val="tx1"/>
                </a:solidFill>
                <a:latin typeface="Century Gothic" pitchFamily="34" charset="0"/>
                <a:hlinkClick r:id="rId2" action="ppaction://hlinksldjump"/>
              </a:rPr>
              <a:t>Reference:</a:t>
            </a:r>
            <a:endParaRPr lang="en-US" sz="2400" b="1" dirty="0">
              <a:solidFill>
                <a:schemeClr val="tx1"/>
              </a:solidFill>
              <a:latin typeface="Century Gothic" pitchFamily="34" charset="0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An introduction to programming by Wu Thomas, Norman and Theodore: </a:t>
            </a:r>
            <a:r>
              <a:rPr lang="en-US" sz="2000" dirty="0" err="1">
                <a:solidFill>
                  <a:schemeClr val="tx1"/>
                </a:solidFill>
              </a:rPr>
              <a:t>McGrill</a:t>
            </a:r>
            <a:r>
              <a:rPr lang="en-US" sz="2000" dirty="0">
                <a:solidFill>
                  <a:schemeClr val="tx1"/>
                </a:solidFill>
              </a:rPr>
              <a:t> (1997). 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C programming language by Brian W. Kernighan, Dennis Ritchie, 2</a:t>
            </a:r>
            <a:r>
              <a:rPr lang="en-US" sz="2000" baseline="30000" dirty="0">
                <a:solidFill>
                  <a:schemeClr val="tx1"/>
                </a:solidFill>
              </a:rPr>
              <a:t>nd </a:t>
            </a:r>
            <a:r>
              <a:rPr lang="en-US" sz="2000" dirty="0" err="1">
                <a:solidFill>
                  <a:schemeClr val="tx1"/>
                </a:solidFill>
              </a:rPr>
              <a:t>ed</a:t>
            </a:r>
            <a:r>
              <a:rPr lang="en-US" sz="2000" dirty="0">
                <a:solidFill>
                  <a:schemeClr val="tx1"/>
                </a:solidFill>
              </a:rPr>
              <a:t>: prentice hall(2003). 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C how to program by H.M. </a:t>
            </a:r>
            <a:r>
              <a:rPr lang="en-US" sz="2000" dirty="0" err="1">
                <a:solidFill>
                  <a:schemeClr val="tx1"/>
                </a:solidFill>
              </a:rPr>
              <a:t>Deitel</a:t>
            </a:r>
            <a:r>
              <a:rPr lang="en-US" sz="2000" dirty="0">
                <a:solidFill>
                  <a:schemeClr val="tx1"/>
                </a:solidFill>
              </a:rPr>
              <a:t> and </a:t>
            </a:r>
            <a:r>
              <a:rPr lang="en-US" sz="2000" dirty="0" err="1">
                <a:solidFill>
                  <a:schemeClr val="tx1"/>
                </a:solidFill>
              </a:rPr>
              <a:t>P.J.Deitel</a:t>
            </a:r>
            <a:r>
              <a:rPr lang="en-US" sz="2000" dirty="0">
                <a:solidFill>
                  <a:schemeClr val="tx1"/>
                </a:solidFill>
              </a:rPr>
              <a:t>, 3</a:t>
            </a:r>
            <a:r>
              <a:rPr lang="en-US" sz="2000" baseline="30000" dirty="0">
                <a:solidFill>
                  <a:schemeClr val="tx1"/>
                </a:solidFill>
              </a:rPr>
              <a:t>rd </a:t>
            </a:r>
            <a:r>
              <a:rPr lang="en-US" sz="2000" dirty="0" err="1">
                <a:solidFill>
                  <a:schemeClr val="tx1"/>
                </a:solidFill>
              </a:rPr>
              <a:t>ed</a:t>
            </a:r>
            <a:r>
              <a:rPr lang="en-US" sz="2000" dirty="0">
                <a:solidFill>
                  <a:schemeClr val="tx1"/>
                </a:solidFill>
              </a:rPr>
              <a:t>: Prentice hall(2001). 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2000" dirty="0">
                <a:hlinkClick r:id="rId3"/>
              </a:rPr>
              <a:t>https://www.w3schools.in/c-tutorial/</a:t>
            </a:r>
            <a:endParaRPr lang="en-US" sz="2000" dirty="0"/>
          </a:p>
          <a:p>
            <a:pPr marL="514350" indent="-514350" algn="l">
              <a:buFont typeface="+mj-lt"/>
              <a:buAutoNum type="arabicPeriod"/>
            </a:pPr>
            <a:r>
              <a:rPr lang="en-US" sz="2000" dirty="0">
                <a:hlinkClick r:id="rId4"/>
              </a:rPr>
              <a:t>https://www.tutorialspoint.com/cprogramming/index.htm</a:t>
            </a:r>
            <a:endParaRPr lang="en-US" sz="2000" dirty="0"/>
          </a:p>
          <a:p>
            <a:pPr marL="514350" indent="-514350" algn="l">
              <a:buFont typeface="+mj-lt"/>
              <a:buAutoNum type="arabicPeriod"/>
            </a:pPr>
            <a:r>
              <a:rPr lang="en-US" sz="2000" dirty="0">
                <a:hlinkClick r:id="rId5"/>
              </a:rPr>
              <a:t>https://www.learn-c.org/</a:t>
            </a:r>
            <a:endParaRPr lang="en-US" sz="2000" dirty="0"/>
          </a:p>
          <a:p>
            <a:pPr algn="l"/>
            <a:endParaRPr lang="en-US" sz="2000" dirty="0">
              <a:solidFill>
                <a:schemeClr val="tx1"/>
              </a:solidFill>
            </a:endParaRPr>
          </a:p>
          <a:p>
            <a:pPr marL="514350" indent="-514350" algn="l"/>
            <a:endParaRPr lang="en-US" sz="2400" dirty="0">
              <a:solidFill>
                <a:schemeClr val="tx1"/>
              </a:solidFill>
              <a:latin typeface="Century Gothic" pitchFamily="34" charset="0"/>
            </a:endParaRPr>
          </a:p>
          <a:p>
            <a:pPr algn="l"/>
            <a:endParaRPr lang="en-US" sz="2400" dirty="0">
              <a:solidFill>
                <a:schemeClr val="tx1"/>
              </a:solidFill>
              <a:latin typeface="Century Gothic" pitchFamily="34" charset="0"/>
            </a:endParaRPr>
          </a:p>
          <a:p>
            <a:pPr algn="l">
              <a:buFont typeface="Wingdings" pitchFamily="2" charset="2"/>
              <a:buChar char="§"/>
            </a:pPr>
            <a:endParaRPr lang="en-US" sz="2400" dirty="0">
              <a:solidFill>
                <a:schemeClr val="tx1"/>
              </a:solidFill>
              <a:latin typeface="Century Gothic" pitchFamily="34" charset="0"/>
            </a:endParaRPr>
          </a:p>
          <a:p>
            <a:pPr algn="l">
              <a:buFont typeface="Wingdings" pitchFamily="2" charset="2"/>
              <a:buChar char="§"/>
            </a:pPr>
            <a:endParaRPr lang="en-US" sz="2400" dirty="0">
              <a:solidFill>
                <a:schemeClr val="tx1"/>
              </a:solidFill>
              <a:latin typeface="Century Gothic" pitchFamily="34" charset="0"/>
            </a:endParaRPr>
          </a:p>
          <a:p>
            <a:pPr marL="342900" indent="-342900" algn="l">
              <a:buFont typeface="+mj-lt"/>
              <a:buAutoNum type="alphaLcParenR"/>
            </a:pPr>
            <a:endParaRPr lang="en-US" sz="2400" dirty="0">
              <a:solidFill>
                <a:schemeClr val="tx1"/>
              </a:solidFill>
              <a:latin typeface="Century Gothic" pitchFamily="34" charset="0"/>
            </a:endParaRPr>
          </a:p>
          <a:p>
            <a:pPr algn="l"/>
            <a:endParaRPr lang="en-US" sz="2400" dirty="0">
              <a:solidFill>
                <a:schemeClr val="tx1"/>
              </a:solidFill>
              <a:latin typeface="Century Gothic" pitchFamily="34" charset="0"/>
            </a:endParaRPr>
          </a:p>
          <a:p>
            <a:endParaRPr lang="en-US" sz="2400" b="1" u="sng" dirty="0">
              <a:latin typeface="Century Gothic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5941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76200"/>
            <a:ext cx="8001000" cy="5181600"/>
          </a:xfrm>
        </p:spPr>
        <p:txBody>
          <a:bodyPr>
            <a:normAutofit/>
          </a:bodyPr>
          <a:lstStyle/>
          <a:p>
            <a:endParaRPr lang="en-US" sz="2400" b="1" dirty="0">
              <a:solidFill>
                <a:schemeClr val="tx1"/>
              </a:solidFill>
              <a:latin typeface="Century Gothic" pitchFamily="34" charset="0"/>
            </a:endParaRPr>
          </a:p>
          <a:p>
            <a:endParaRPr lang="en-US" sz="2400" b="1" dirty="0">
              <a:solidFill>
                <a:schemeClr val="tx1"/>
              </a:solidFill>
              <a:latin typeface="Century Gothic" pitchFamily="34" charset="0"/>
            </a:endParaRPr>
          </a:p>
          <a:p>
            <a:endParaRPr lang="en-US" sz="2400" b="1" dirty="0">
              <a:solidFill>
                <a:schemeClr val="tx1"/>
              </a:solidFill>
              <a:latin typeface="Century Gothic" pitchFamily="34" charset="0"/>
            </a:endParaRPr>
          </a:p>
          <a:p>
            <a:pPr algn="just"/>
            <a:endParaRPr lang="en-US" sz="2400" b="1" dirty="0">
              <a:solidFill>
                <a:schemeClr val="tx1"/>
              </a:solidFill>
              <a:latin typeface="Century Gothic" pitchFamily="34" charset="0"/>
            </a:endParaRPr>
          </a:p>
          <a:p>
            <a:pPr algn="just"/>
            <a:endParaRPr lang="en-US" sz="2400" b="1" dirty="0">
              <a:solidFill>
                <a:schemeClr val="tx1"/>
              </a:solidFill>
              <a:latin typeface="Century Gothic" pitchFamily="34" charset="0"/>
            </a:endParaRPr>
          </a:p>
          <a:p>
            <a:endParaRPr lang="en-US" sz="2400" b="1" dirty="0">
              <a:solidFill>
                <a:schemeClr val="tx1"/>
              </a:solidFill>
              <a:latin typeface="Century Gothic" pitchFamily="34" charset="0"/>
            </a:endParaRPr>
          </a:p>
          <a:p>
            <a:endParaRPr lang="en-US" sz="2400" b="1" dirty="0">
              <a:solidFill>
                <a:schemeClr val="tx1"/>
              </a:solidFill>
              <a:latin typeface="Century Gothic" pitchFamily="34" charset="0"/>
            </a:endParaRPr>
          </a:p>
          <a:p>
            <a:r>
              <a:rPr lang="en-US" sz="4400" b="1" dirty="0">
                <a:solidFill>
                  <a:schemeClr val="tx1"/>
                </a:solidFill>
                <a:latin typeface="Broadway" panose="04040905080B02020502" pitchFamily="82" charset="0"/>
              </a:rPr>
              <a:t>THANK YOU</a:t>
            </a:r>
          </a:p>
          <a:p>
            <a:pPr marL="514350" indent="-514350" algn="l"/>
            <a:endParaRPr lang="en-US" sz="2400" dirty="0">
              <a:solidFill>
                <a:schemeClr val="tx1"/>
              </a:solidFill>
              <a:latin typeface="Century Gothic" pitchFamily="34" charset="0"/>
            </a:endParaRPr>
          </a:p>
          <a:p>
            <a:pPr algn="l"/>
            <a:endParaRPr lang="en-US" sz="2400" dirty="0">
              <a:solidFill>
                <a:schemeClr val="tx1"/>
              </a:solidFill>
              <a:latin typeface="Century Gothic" pitchFamily="34" charset="0"/>
            </a:endParaRPr>
          </a:p>
          <a:p>
            <a:pPr algn="l">
              <a:buFont typeface="Wingdings" pitchFamily="2" charset="2"/>
              <a:buChar char="§"/>
            </a:pPr>
            <a:endParaRPr lang="en-US" sz="2400" dirty="0">
              <a:solidFill>
                <a:schemeClr val="tx1"/>
              </a:solidFill>
              <a:latin typeface="Century Gothic" pitchFamily="34" charset="0"/>
            </a:endParaRPr>
          </a:p>
          <a:p>
            <a:pPr algn="l">
              <a:buFont typeface="Wingdings" pitchFamily="2" charset="2"/>
              <a:buChar char="§"/>
            </a:pPr>
            <a:endParaRPr lang="en-US" sz="2400" dirty="0">
              <a:solidFill>
                <a:schemeClr val="tx1"/>
              </a:solidFill>
              <a:latin typeface="Century Gothic" pitchFamily="34" charset="0"/>
            </a:endParaRPr>
          </a:p>
          <a:p>
            <a:pPr marL="342900" indent="-342900" algn="l">
              <a:buFont typeface="+mj-lt"/>
              <a:buAutoNum type="alphaLcParenR"/>
            </a:pPr>
            <a:endParaRPr lang="en-US" sz="2400" dirty="0">
              <a:solidFill>
                <a:schemeClr val="tx1"/>
              </a:solidFill>
              <a:latin typeface="Century Gothic" pitchFamily="34" charset="0"/>
            </a:endParaRPr>
          </a:p>
          <a:p>
            <a:pPr algn="l"/>
            <a:endParaRPr lang="en-US" sz="2400" dirty="0">
              <a:solidFill>
                <a:schemeClr val="tx1"/>
              </a:solidFill>
              <a:latin typeface="Century Gothic" pitchFamily="34" charset="0"/>
            </a:endParaRPr>
          </a:p>
          <a:p>
            <a:endParaRPr lang="en-US" sz="2400" b="1" u="sng" dirty="0">
              <a:latin typeface="Century Gothic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E09EE-5FC0-45A8-98C3-14B1035360E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91550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239C5CE-4C2A-4629-950F-21F475BF1A6E}" vid="{3EE141AC-8660-4AB8-A964-6AF4CBBFA78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class_notes</Template>
  <TotalTime>16873</TotalTime>
  <Words>3318</Words>
  <Application>Microsoft Office PowerPoint</Application>
  <PresentationFormat>On-screen Show (4:3)</PresentationFormat>
  <Paragraphs>355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Broadway</vt:lpstr>
      <vt:lpstr>Calibri</vt:lpstr>
      <vt:lpstr>Calibri Light</vt:lpstr>
      <vt:lpstr>Century Gothic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BBIT 105/bit 1303A: Programming methodology</dc:title>
  <dc:creator>owner</dc:creator>
  <cp:lastModifiedBy>Kenga</cp:lastModifiedBy>
  <cp:revision>793</cp:revision>
  <dcterms:created xsi:type="dcterms:W3CDTF">2015-12-10T07:41:17Z</dcterms:created>
  <dcterms:modified xsi:type="dcterms:W3CDTF">2026-02-03T20:29:51Z</dcterms:modified>
</cp:coreProperties>
</file>