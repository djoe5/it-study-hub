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8" r:id="rId2"/>
    <p:sldId id="338" r:id="rId3"/>
    <p:sldId id="343" r:id="rId4"/>
    <p:sldId id="344" r:id="rId5"/>
    <p:sldId id="346" r:id="rId6"/>
    <p:sldId id="345" r:id="rId7"/>
    <p:sldId id="333" r:id="rId8"/>
    <p:sldId id="339" r:id="rId9"/>
    <p:sldId id="340" r:id="rId10"/>
    <p:sldId id="341" r:id="rId11"/>
    <p:sldId id="342" r:id="rId12"/>
    <p:sldId id="325" r:id="rId13"/>
    <p:sldId id="31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0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390" autoAdjust="0"/>
  </p:normalViewPr>
  <p:slideViewPr>
    <p:cSldViewPr>
      <p:cViewPr varScale="1">
        <p:scale>
          <a:sx n="64" d="100"/>
          <a:sy n="64" d="100"/>
        </p:scale>
        <p:origin x="1377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4E276-7D1F-42D8-A171-284D73575D1F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C52C6-0320-4B5F-8334-EB87A0B30F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27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24D47-3486-4AE5-B0F8-A0ADEB15F751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A17F8-ACF4-426B-9698-112FA0C689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4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3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7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695E1-76D6-26FD-2DA5-3586D3DD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45C9C-FAA1-A9B5-55EB-416E6653F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1EC9F-49C2-AC76-CEAD-41E608491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04AC8-D0C6-61B8-8B00-FC3EE60AB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7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5F54-D1BA-7445-7A2C-530FB7B7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986DC-C762-3744-5DC9-D1ADBB012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4F458-685A-EF55-3F0A-003DB140D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7F2B8-4E5F-679E-B90F-C8CE3D2F10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47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0D7A-EBFA-289B-8E55-7E0285C2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21BC9-4D37-BB8C-0461-9AE7C23FA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C96C3-68C2-9D48-AF03-3E71ACDF5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11B9A-BFE9-AE37-506C-8F25C8363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88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FC74-D5C0-B082-7114-90EF0893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CE07-FBE8-E549-99BF-02452A49A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6047C-6EFC-6ADA-8170-B4CD2A3A1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A816F-03D8-9A06-8DD0-587A624FEF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14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28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81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57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8D43-06FA-2EBF-6D06-9B26BC68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23B54-8978-035F-8C2D-0B9789693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947FF-FE61-639F-8B7A-6E3ECAE9A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2E31D-C87D-1340-047C-0A089F8968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48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5E9C-F444-70C8-21B9-0612C900D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104CB-C0AD-64D5-7CF1-EF550B449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5FB69-3238-FA65-EFFB-C4274DE56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programming, structured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specifies the steps a program must take to reach a desired state.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defines program logic, but not detailed control flow. This paradigm views computation as automated reasoning over a body of knowledge. 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treats programs as evaluating mathematical functions and avoids state and mutable data.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avoid use of control structures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use of anonymous functions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programming (OOP)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organizes programs as 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data structures consisting of data fields and methods together with their interactions.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program control flow is determined by events, such as sensor inputs or user actions (mouse clicks, key presses) or messages from other programs or threads.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A0E28-06F3-7509-3FB7-E5A226A64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10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1610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972005" y="6114663"/>
            <a:ext cx="1171996" cy="756216"/>
            <a:chOff x="7778839" y="4853722"/>
            <a:chExt cx="1171996" cy="75621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7778839" y="4853722"/>
              <a:ext cx="1171996" cy="756216"/>
            </a:xfrm>
            <a:prstGeom prst="rect">
              <a:avLst/>
            </a:prstGeom>
            <a:solidFill>
              <a:srgbClr val="1A2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ight Triangle 14"/>
            <p:cNvSpPr/>
            <p:nvPr userDrawn="1"/>
          </p:nvSpPr>
          <p:spPr>
            <a:xfrm flipH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ight Triangle 15"/>
            <p:cNvSpPr/>
            <p:nvPr userDrawn="1"/>
          </p:nvSpPr>
          <p:spPr>
            <a:xfrm flipH="1" flipV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005" y="6356353"/>
            <a:ext cx="414556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ight Triangle 8"/>
          <p:cNvSpPr/>
          <p:nvPr/>
        </p:nvSpPr>
        <p:spPr>
          <a:xfrm flipV="1">
            <a:off x="1" y="0"/>
            <a:ext cx="1142431" cy="1685782"/>
          </a:xfrm>
          <a:prstGeom prst="rtTriangle">
            <a:avLst/>
          </a:prstGeom>
          <a:solidFill>
            <a:srgbClr val="1A2C5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ight Triangle 9"/>
          <p:cNvSpPr/>
          <p:nvPr/>
        </p:nvSpPr>
        <p:spPr>
          <a:xfrm>
            <a:off x="-3138" y="40944"/>
            <a:ext cx="886265" cy="6073721"/>
          </a:xfrm>
          <a:prstGeom prst="rtTriangle">
            <a:avLst/>
          </a:prstGeom>
          <a:solidFill>
            <a:srgbClr val="1A2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ight Triangle 10"/>
          <p:cNvSpPr/>
          <p:nvPr/>
        </p:nvSpPr>
        <p:spPr>
          <a:xfrm flipV="1">
            <a:off x="1" y="-1"/>
            <a:ext cx="668740" cy="5029484"/>
          </a:xfrm>
          <a:prstGeom prst="rtTriangle">
            <a:avLst/>
          </a:prstGeom>
          <a:solidFill>
            <a:srgbClr val="1A2C5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7034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9583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2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8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B793A9B3-CA40-4F9D-A0C8-F4EDA8B6F9E1}" type="datetime1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0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66355CFD-B392-48D8-88A5-3F76B0F03BCA}" type="datetime1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959144" y="6356353"/>
            <a:ext cx="427416" cy="365125"/>
          </a:xfrm>
        </p:spPr>
        <p:txBody>
          <a:bodyPr/>
          <a:lstStyle>
            <a:lvl1pPr algn="ctr">
              <a:defRPr/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88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3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9787ADF8-7971-4E2D-90C6-01BF4353FCFD}" type="datetime1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9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7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325E7E42-09EA-4DC3-BE1C-B6F0D788B8F3}" type="datetime1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5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97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9806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972005" y="6101784"/>
            <a:ext cx="1171996" cy="756216"/>
            <a:chOff x="7778839" y="4853722"/>
            <a:chExt cx="1171996" cy="756216"/>
          </a:xfrm>
        </p:grpSpPr>
        <p:sp>
          <p:nvSpPr>
            <p:cNvPr id="8" name="Rectangle 7"/>
            <p:cNvSpPr/>
            <p:nvPr userDrawn="1"/>
          </p:nvSpPr>
          <p:spPr>
            <a:xfrm>
              <a:off x="7778839" y="4853722"/>
              <a:ext cx="1171996" cy="756216"/>
            </a:xfrm>
            <a:prstGeom prst="rect">
              <a:avLst/>
            </a:prstGeom>
            <a:solidFill>
              <a:srgbClr val="1A2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ight Triangle 8"/>
            <p:cNvSpPr/>
            <p:nvPr userDrawn="1"/>
          </p:nvSpPr>
          <p:spPr>
            <a:xfrm flipH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ight Triangle 9"/>
            <p:cNvSpPr/>
            <p:nvPr userDrawn="1"/>
          </p:nvSpPr>
          <p:spPr>
            <a:xfrm flipH="1" flipV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1" y="6115851"/>
            <a:ext cx="7972004" cy="756216"/>
          </a:xfrm>
          <a:prstGeom prst="rect">
            <a:avLst/>
          </a:prstGeom>
          <a:solidFill>
            <a:srgbClr val="DBB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703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29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2005" y="6293778"/>
            <a:ext cx="414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201127" y="6360922"/>
            <a:ext cx="4301877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675" i="1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Advancing Knowledge, Driving Change </a:t>
            </a:r>
            <a:r>
              <a:rPr lang="en-US" altLang="en-US" sz="675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US" sz="675" b="1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www.kcau.ac.ke</a:t>
            </a:r>
          </a:p>
        </p:txBody>
      </p:sp>
      <p:sp>
        <p:nvSpPr>
          <p:cNvPr id="13" name="Right Triangle 12"/>
          <p:cNvSpPr/>
          <p:nvPr/>
        </p:nvSpPr>
        <p:spPr>
          <a:xfrm flipV="1">
            <a:off x="1" y="0"/>
            <a:ext cx="1142431" cy="1685782"/>
          </a:xfrm>
          <a:prstGeom prst="rtTriangle">
            <a:avLst/>
          </a:prstGeom>
          <a:solidFill>
            <a:srgbClr val="1A2C5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ight Triangle 13"/>
          <p:cNvSpPr/>
          <p:nvPr/>
        </p:nvSpPr>
        <p:spPr>
          <a:xfrm>
            <a:off x="-3138" y="40944"/>
            <a:ext cx="886265" cy="6074909"/>
          </a:xfrm>
          <a:prstGeom prst="rtTriangle">
            <a:avLst/>
          </a:prstGeom>
          <a:solidFill>
            <a:srgbClr val="1A2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ight Triangle 14"/>
          <p:cNvSpPr/>
          <p:nvPr/>
        </p:nvSpPr>
        <p:spPr>
          <a:xfrm flipV="1">
            <a:off x="1" y="-1"/>
            <a:ext cx="668740" cy="5029484"/>
          </a:xfrm>
          <a:prstGeom prst="rtTriangle">
            <a:avLst/>
          </a:prstGeom>
          <a:solidFill>
            <a:srgbClr val="1A2C5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/>
          <p:cNvSpPr/>
          <p:nvPr/>
        </p:nvSpPr>
        <p:spPr>
          <a:xfrm>
            <a:off x="-3138" y="6101786"/>
            <a:ext cx="1038665" cy="770283"/>
          </a:xfrm>
          <a:custGeom>
            <a:avLst/>
            <a:gdLst>
              <a:gd name="connsiteX0" fmla="*/ 0 w 886265"/>
              <a:gd name="connsiteY0" fmla="*/ 0 h 770283"/>
              <a:gd name="connsiteX1" fmla="*/ 886265 w 886265"/>
              <a:gd name="connsiteY1" fmla="*/ 0 h 770283"/>
              <a:gd name="connsiteX2" fmla="*/ 886265 w 886265"/>
              <a:gd name="connsiteY2" fmla="*/ 770283 h 770283"/>
              <a:gd name="connsiteX3" fmla="*/ 0 w 886265"/>
              <a:gd name="connsiteY3" fmla="*/ 770283 h 770283"/>
              <a:gd name="connsiteX4" fmla="*/ 0 w 886265"/>
              <a:gd name="connsiteY4" fmla="*/ 0 h 770283"/>
              <a:gd name="connsiteX0" fmla="*/ 0 w 1038665"/>
              <a:gd name="connsiteY0" fmla="*/ 0 h 770283"/>
              <a:gd name="connsiteX1" fmla="*/ 886265 w 1038665"/>
              <a:gd name="connsiteY1" fmla="*/ 0 h 770283"/>
              <a:gd name="connsiteX2" fmla="*/ 1038665 w 1038665"/>
              <a:gd name="connsiteY2" fmla="*/ 770283 h 770283"/>
              <a:gd name="connsiteX3" fmla="*/ 0 w 1038665"/>
              <a:gd name="connsiteY3" fmla="*/ 770283 h 770283"/>
              <a:gd name="connsiteX4" fmla="*/ 0 w 1038665"/>
              <a:gd name="connsiteY4" fmla="*/ 0 h 770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665" h="770283">
                <a:moveTo>
                  <a:pt x="0" y="0"/>
                </a:moveTo>
                <a:lnTo>
                  <a:pt x="886265" y="0"/>
                </a:lnTo>
                <a:lnTo>
                  <a:pt x="1038665" y="770283"/>
                </a:lnTo>
                <a:lnTo>
                  <a:pt x="0" y="77028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8" y="6156700"/>
            <a:ext cx="594992" cy="63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6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in/c-tutorial/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earn-c.org/" TargetMode="External"/><Relationship Id="rId4" Type="http://schemas.openxmlformats.org/officeDocument/2006/relationships/hyperlink" Target="https://www.tutorialspoint.com/cprogramming/index.ht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228600"/>
            <a:ext cx="7829320" cy="586740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Lecture 2: 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Lesson objectives</a:t>
            </a:r>
          </a:p>
          <a:p>
            <a:pPr algn="l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By the end of this lesson, you will be able to: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Explain the necessity of knowledge about programming paradigms.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Discuss various programming paradigms.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Select a programming paradigm for a given programming task.</a:t>
            </a:r>
          </a:p>
          <a:p>
            <a:pPr algn="l"/>
            <a:endParaRPr lang="en-US" sz="2000" dirty="0">
              <a:solidFill>
                <a:schemeClr val="tx1"/>
              </a:solidFill>
            </a:endParaRPr>
          </a:p>
          <a:p>
            <a:endParaRPr lang="en-US" sz="20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28600"/>
            <a:ext cx="7676920" cy="586740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way the programming ideas are structured:</a:t>
            </a:r>
          </a:p>
          <a:p>
            <a:pPr marL="457200" indent="-457200" algn="l">
              <a:buFont typeface="+mj-lt"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Procedural programming</a:t>
            </a:r>
            <a:r>
              <a:rPr lang="en-US" b="1" dirty="0"/>
              <a:t>(</a:t>
            </a:r>
            <a:r>
              <a:rPr lang="en-US" b="1" dirty="0">
                <a:solidFill>
                  <a:schemeClr val="tx1"/>
                </a:solidFill>
              </a:rPr>
              <a:t>structured programming)</a:t>
            </a:r>
            <a:r>
              <a:rPr lang="en-US" dirty="0">
                <a:solidFill>
                  <a:schemeClr val="tx1"/>
                </a:solidFill>
              </a:rPr>
              <a:t> – Specifies the steps a program must take to reach a desired state. </a:t>
            </a:r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dirty="0"/>
              <a:t>rdered sequences of actions</a:t>
            </a:r>
            <a:r>
              <a:rPr lang="en-US" dirty="0"/>
              <a:t>.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/>
              <a:t>Advantages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Easy to understand and follow.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Works well for small and simple tasks.</a:t>
            </a:r>
          </a:p>
          <a:p>
            <a:pPr algn="l"/>
            <a:r>
              <a:rPr lang="en-US" b="1" dirty="0"/>
              <a:t>Disadvantages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Hard to manage as programs grow large.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Code reuse is limited.</a:t>
            </a:r>
          </a:p>
          <a:p>
            <a:pPr algn="l"/>
            <a:r>
              <a:rPr lang="en-US" b="1" dirty="0"/>
              <a:t>Applications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Following a cooking recipe.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Filing TAX returns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ATM cash withdrawal steps.</a:t>
            </a:r>
          </a:p>
          <a:p>
            <a:pPr lvl="0" algn="l"/>
            <a:r>
              <a:rPr lang="en-US" b="1" dirty="0"/>
              <a:t>Language: </a:t>
            </a:r>
            <a:r>
              <a:rPr lang="en-US" dirty="0"/>
              <a:t>Basic, C</a:t>
            </a:r>
          </a:p>
          <a:p>
            <a:endParaRPr lang="en-US" sz="20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8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30145-A554-3995-2CA5-B4B71056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BEB66FC-D7A8-8844-290C-DA6B6B9F3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28600"/>
            <a:ext cx="7676920" cy="58674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way the programming ideas are structured: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2) Logic programming</a:t>
            </a:r>
            <a:r>
              <a:rPr lang="en-US" dirty="0">
                <a:solidFill>
                  <a:schemeClr val="tx1"/>
                </a:solidFill>
              </a:rPr>
              <a:t> – Defines program logic, but not detailed control flow. This paradigm views computation as automated reasoning </a:t>
            </a:r>
            <a:r>
              <a:rPr lang="en-US" b="1" dirty="0">
                <a:solidFill>
                  <a:schemeClr val="tx1"/>
                </a:solidFill>
              </a:rPr>
              <a:t>over a body of knowledge. </a:t>
            </a:r>
            <a:r>
              <a:rPr lang="en-US" dirty="0"/>
              <a:t>structure programs </a:t>
            </a:r>
            <a:r>
              <a:rPr lang="en-US" b="1" dirty="0"/>
              <a:t>around rules </a:t>
            </a:r>
            <a:r>
              <a:rPr lang="en-US" dirty="0"/>
              <a:t>and</a:t>
            </a:r>
            <a:r>
              <a:rPr lang="en-US" b="1" dirty="0"/>
              <a:t> logical</a:t>
            </a:r>
            <a:r>
              <a:rPr lang="en-US" dirty="0"/>
              <a:t> relationships. Logic programming focuses on </a:t>
            </a:r>
            <a:r>
              <a:rPr lang="en-US" b="1" dirty="0"/>
              <a:t>stating rules</a:t>
            </a:r>
            <a:r>
              <a:rPr lang="en-US" dirty="0"/>
              <a:t> and </a:t>
            </a:r>
            <a:r>
              <a:rPr lang="en-US" b="1" dirty="0"/>
              <a:t>facts</a:t>
            </a:r>
            <a:r>
              <a:rPr lang="en-US" dirty="0"/>
              <a:t>, allowing the computer to reason and reach conclusions.</a:t>
            </a:r>
          </a:p>
          <a:p>
            <a:pPr lvl="0" algn="l"/>
            <a:endParaRPr lang="en-US" b="1" dirty="0">
              <a:solidFill>
                <a:schemeClr val="tx1"/>
              </a:solidFill>
            </a:endParaRPr>
          </a:p>
          <a:p>
            <a:pPr algn="l"/>
            <a:r>
              <a:rPr lang="en-US" b="1" dirty="0"/>
              <a:t>Advantages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Good for solving complex decision problems.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Less focus on how to solve, more on what is true.</a:t>
            </a:r>
          </a:p>
          <a:p>
            <a:pPr algn="l"/>
            <a:r>
              <a:rPr lang="en-US" b="1" dirty="0"/>
              <a:t>Disadvantages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Can be hard to understand for beginners.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Slower for very large rule sets.</a:t>
            </a:r>
          </a:p>
          <a:p>
            <a:pPr algn="l"/>
            <a:r>
              <a:rPr lang="en-US" b="1" dirty="0"/>
              <a:t>Applications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Legal reasoning systems.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Medical diagnosis support systems.</a:t>
            </a:r>
          </a:p>
          <a:p>
            <a:pPr lvl="0" algn="l"/>
            <a:r>
              <a:rPr lang="en-US" b="1" dirty="0"/>
              <a:t>Languages</a:t>
            </a:r>
            <a:r>
              <a:rPr lang="en-US" dirty="0"/>
              <a:t>: Prolog, Python</a:t>
            </a:r>
          </a:p>
          <a:p>
            <a:endParaRPr lang="en-US" sz="2000" b="1" u="sng" dirty="0">
              <a:latin typeface="Century Gothic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36112-52E0-C227-156B-48FD0B91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18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DEEB4-8E5D-32A8-44FF-906510D3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02A299-EDE3-E575-B022-A82FF5617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28600"/>
            <a:ext cx="7676920" cy="58674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way the programming ideas are structured: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3</a:t>
            </a:r>
            <a:r>
              <a:rPr lang="en-US" b="1" dirty="0">
                <a:solidFill>
                  <a:schemeClr val="tx1"/>
                </a:solidFill>
              </a:rPr>
              <a:t>) Functional programming</a:t>
            </a:r>
            <a:r>
              <a:rPr lang="en-US" dirty="0">
                <a:solidFill>
                  <a:schemeClr val="tx1"/>
                </a:solidFill>
              </a:rPr>
              <a:t> – Involves creating programs using expressions and functions without mutating </a:t>
            </a:r>
            <a:r>
              <a:rPr lang="en-US" b="1" dirty="0">
                <a:solidFill>
                  <a:schemeClr val="tx1"/>
                </a:solidFill>
              </a:rPr>
              <a:t>state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data</a:t>
            </a:r>
            <a:r>
              <a:rPr lang="en-US" dirty="0">
                <a:solidFill>
                  <a:schemeClr val="tx1"/>
                </a:solidFill>
              </a:rPr>
              <a:t>. Function acts as both data and algorithm. </a:t>
            </a:r>
            <a:r>
              <a:rPr lang="en-US" dirty="0"/>
              <a:t>Functional programming focuses on using </a:t>
            </a:r>
            <a:r>
              <a:rPr lang="en-US" b="1" dirty="0"/>
              <a:t>functions</a:t>
            </a:r>
            <a:r>
              <a:rPr lang="en-US" dirty="0"/>
              <a:t> that calculate results without changing existing information. Use </a:t>
            </a:r>
            <a:r>
              <a:rPr lang="en-US" b="1" dirty="0"/>
              <a:t>functions to calculate results</a:t>
            </a:r>
            <a:r>
              <a:rPr lang="en-US" dirty="0"/>
              <a:t>, like in mathematics, without </a:t>
            </a:r>
            <a:r>
              <a:rPr lang="en-US" b="1" dirty="0"/>
              <a:t>changing data</a:t>
            </a:r>
            <a:r>
              <a:rPr lang="en-US" dirty="0"/>
              <a:t>.</a:t>
            </a:r>
          </a:p>
          <a:p>
            <a:pPr lvl="0"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/>
              <a:t>Advantages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Fewer errors since there is no data changes.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Easy to test and debug.</a:t>
            </a:r>
          </a:p>
          <a:p>
            <a:pPr algn="l"/>
            <a:r>
              <a:rPr lang="en-US" b="1" dirty="0"/>
              <a:t>Disadvantages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Not intuitive for beginners.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Can be inefficient for some tasks.</a:t>
            </a:r>
          </a:p>
          <a:p>
            <a:pPr algn="l"/>
            <a:r>
              <a:rPr lang="en-US" b="1" dirty="0"/>
              <a:t>Real-life applications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Calculating grades or payroll.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Data analysis and transformations.</a:t>
            </a:r>
          </a:p>
          <a:p>
            <a:pPr lvl="0" algn="l"/>
            <a:r>
              <a:rPr lang="en-US" b="1" dirty="0"/>
              <a:t>Language</a:t>
            </a:r>
            <a:r>
              <a:rPr lang="en-US" dirty="0"/>
              <a:t>: FORTRAN</a:t>
            </a:r>
          </a:p>
          <a:p>
            <a:endParaRPr lang="en-US" sz="2000" b="1" u="sng" dirty="0">
              <a:latin typeface="Century Gothic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7609-2D56-E9B1-A8DB-887A9F93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8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875C5-C2CB-D5EC-A46B-A469EFAA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2DC6B2-79C3-DE90-AC2B-2AA418279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28600"/>
            <a:ext cx="7676920" cy="586740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way the programming ideas are structured:</a:t>
            </a:r>
          </a:p>
          <a:p>
            <a:pPr lvl="0" algn="l"/>
            <a:r>
              <a:rPr lang="en-US" b="1" dirty="0">
                <a:solidFill>
                  <a:schemeClr val="tx1"/>
                </a:solidFill>
              </a:rPr>
              <a:t>4) Object-oriented programming (OOP)</a:t>
            </a:r>
            <a:r>
              <a:rPr lang="en-US" dirty="0">
                <a:solidFill>
                  <a:schemeClr val="tx1"/>
                </a:solidFill>
              </a:rPr>
              <a:t> – Organizes programs as </a:t>
            </a:r>
            <a:r>
              <a:rPr lang="en-US" i="1" dirty="0">
                <a:solidFill>
                  <a:schemeClr val="tx1"/>
                </a:solidFill>
              </a:rPr>
              <a:t>objects</a:t>
            </a:r>
            <a:r>
              <a:rPr lang="en-US" dirty="0">
                <a:solidFill>
                  <a:schemeClr val="tx1"/>
                </a:solidFill>
              </a:rPr>
              <a:t>: data structures consisting of data fields and methods together with their interactions. </a:t>
            </a:r>
            <a:r>
              <a:rPr lang="en-US" b="1" dirty="0">
                <a:solidFill>
                  <a:schemeClr val="tx1"/>
                </a:solidFill>
              </a:rPr>
              <a:t>Y</a:t>
            </a:r>
            <a:r>
              <a:rPr lang="en-US" b="1" dirty="0"/>
              <a:t>ou describe things</a:t>
            </a:r>
            <a:r>
              <a:rPr lang="en-US" dirty="0"/>
              <a:t> and what they can do, like people, cars, or bank accounts.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/>
              <a:t>Advantages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Model real-world systems naturally.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Code is reusable and easy to maintain.</a:t>
            </a:r>
          </a:p>
          <a:p>
            <a:pPr algn="l"/>
            <a:r>
              <a:rPr lang="en-US" b="1" dirty="0"/>
              <a:t>Disadvantages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Can be complex to design.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Uses more memory.</a:t>
            </a:r>
          </a:p>
          <a:p>
            <a:pPr algn="l"/>
            <a:r>
              <a:rPr lang="en-US" b="1" dirty="0"/>
              <a:t>Applications</a:t>
            </a:r>
            <a:endParaRPr lang="en-US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School management systems.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Banking and mobile apps.</a:t>
            </a:r>
          </a:p>
          <a:p>
            <a:pPr algn="l"/>
            <a:r>
              <a:rPr lang="en-US" sz="2000" b="1" dirty="0"/>
              <a:t>Languages</a:t>
            </a:r>
            <a:r>
              <a:rPr lang="en-US" sz="2000" dirty="0"/>
              <a:t>: C++, Java, C#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8A536-56A7-970D-4758-C90A5155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5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53E8-85FD-1518-C52C-65F5C140F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15C848-9AB5-ED30-3BF5-D44785789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28600"/>
            <a:ext cx="7676920" cy="58674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way the programming ideas are structured:</a:t>
            </a:r>
          </a:p>
          <a:p>
            <a:pPr algn="l"/>
            <a:r>
              <a:rPr lang="en-US" sz="1900" b="1" dirty="0">
                <a:solidFill>
                  <a:schemeClr val="tx1"/>
                </a:solidFill>
              </a:rPr>
              <a:t>5) Event-driven programming</a:t>
            </a:r>
            <a:r>
              <a:rPr lang="en-US" sz="1900" dirty="0">
                <a:solidFill>
                  <a:schemeClr val="tx1"/>
                </a:solidFill>
              </a:rPr>
              <a:t> – Program control flow is determined by events, such as sensor inputs or user actions (mouse clicks, key presses) or messages from other programs or threads. </a:t>
            </a:r>
            <a:r>
              <a:rPr lang="en-US" sz="1900" dirty="0"/>
              <a:t>The program </a:t>
            </a:r>
            <a:r>
              <a:rPr lang="en-US" sz="1900" b="1" dirty="0"/>
              <a:t>waits for an event</a:t>
            </a:r>
            <a:r>
              <a:rPr lang="en-US" sz="1900" dirty="0"/>
              <a:t>, like a button click, and then </a:t>
            </a:r>
            <a:r>
              <a:rPr lang="en-US" sz="1900" b="1" dirty="0"/>
              <a:t>responds. </a:t>
            </a:r>
            <a:r>
              <a:rPr lang="en-US" sz="1900" dirty="0"/>
              <a:t>EDP structure programs </a:t>
            </a:r>
            <a:r>
              <a:rPr lang="en-US" sz="1900" b="1" dirty="0"/>
              <a:t>around responses to external</a:t>
            </a:r>
            <a:r>
              <a:rPr lang="en-US" sz="1900" dirty="0"/>
              <a:t> or </a:t>
            </a:r>
            <a:r>
              <a:rPr lang="en-US" sz="1900" b="1" dirty="0"/>
              <a:t>internal events.</a:t>
            </a:r>
            <a:endParaRPr lang="en-US" sz="1900" dirty="0"/>
          </a:p>
          <a:p>
            <a:pPr algn="l"/>
            <a:r>
              <a:rPr lang="en-US" sz="1900" dirty="0"/>
              <a:t>EDP focuses on programs that </a:t>
            </a:r>
            <a:r>
              <a:rPr lang="en-US" sz="1900" b="1" dirty="0"/>
              <a:t>respond when something happens</a:t>
            </a:r>
            <a:r>
              <a:rPr lang="en-US" sz="1900" dirty="0"/>
              <a:t>, such as a user clicking a button.</a:t>
            </a:r>
          </a:p>
          <a:p>
            <a:pPr lvl="0" algn="l"/>
            <a:endParaRPr lang="en-US" sz="1900" dirty="0">
              <a:solidFill>
                <a:schemeClr val="tx1"/>
              </a:solidFill>
            </a:endParaRPr>
          </a:p>
          <a:p>
            <a:pPr algn="l"/>
            <a:r>
              <a:rPr lang="en-US" sz="1900" b="1" dirty="0"/>
              <a:t>Advantages</a:t>
            </a:r>
            <a:endParaRPr lang="en-US" sz="19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900" dirty="0"/>
              <a:t>Ideal for interactive systems.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900" dirty="0"/>
              <a:t>Efficient use of system resources.</a:t>
            </a:r>
          </a:p>
          <a:p>
            <a:pPr algn="l"/>
            <a:r>
              <a:rPr lang="en-US" sz="1900" b="1" dirty="0"/>
              <a:t>Disadvantages</a:t>
            </a:r>
            <a:endParaRPr lang="en-US" sz="19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900" dirty="0"/>
              <a:t>Harder to trace program flow.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900" dirty="0"/>
              <a:t>Debugging can be challenging.</a:t>
            </a:r>
          </a:p>
          <a:p>
            <a:pPr algn="l"/>
            <a:r>
              <a:rPr lang="en-US" sz="1900" b="1" dirty="0"/>
              <a:t>Real-life applications</a:t>
            </a:r>
            <a:endParaRPr lang="en-US" sz="19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900" dirty="0"/>
              <a:t>Mobile apps responding to touches.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900" dirty="0"/>
              <a:t>Traffic lights reacting to sensors. </a:t>
            </a:r>
          </a:p>
          <a:p>
            <a:pPr algn="l"/>
            <a:r>
              <a:rPr lang="en-US" sz="1900" b="1" dirty="0"/>
              <a:t>Languages: </a:t>
            </a:r>
            <a:r>
              <a:rPr lang="en-US" sz="1900" dirty="0"/>
              <a:t>C#, </a:t>
            </a:r>
            <a:r>
              <a:rPr lang="en-US" sz="1900" dirty="0" err="1"/>
              <a:t>VB.Net</a:t>
            </a:r>
            <a:endParaRPr lang="en-US" sz="19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A16C2-E9CD-BFC6-5A8A-ED603593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30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7392" y="381000"/>
            <a:ext cx="7676920" cy="563880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way the programming ideas are structured: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comparison matric for programming paradigms</a:t>
            </a: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b="1" dirty="0"/>
              <a:t>Conclusion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Programming paradigms are different styles of writing </a:t>
            </a:r>
            <a:r>
              <a:rPr lang="en-US"/>
              <a:t>programs.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 </a:t>
            </a:r>
            <a:r>
              <a:rPr lang="en-US" dirty="0"/>
              <a:t>program can be written as steps, rules, functions, objects, or event responses, and programmers choose the style that best suits the problem they are solving.</a:t>
            </a: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3037CB-F4D3-4701-B84C-25B14F7324EE}"/>
              </a:ext>
            </a:extLst>
          </p:cNvPr>
          <p:cNvPicPr/>
          <p:nvPr/>
        </p:nvPicPr>
        <p:blipFill rotWithShape="1">
          <a:blip r:embed="rId4"/>
          <a:srcRect l="7158" t="37037" r="4701" b="43590"/>
          <a:stretch/>
        </p:blipFill>
        <p:spPr bwMode="auto">
          <a:xfrm>
            <a:off x="1219200" y="1583826"/>
            <a:ext cx="7240905" cy="16824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7098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7392" y="381000"/>
            <a:ext cx="7676920" cy="350520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1: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Construct a comparison matrix for procedural, logic, object oriented and functional programming paradigms based on the following metrics: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Focus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Two  advantages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Two  draw backs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Two major applications</a:t>
            </a:r>
          </a:p>
          <a:p>
            <a:pPr algn="l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7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8305800" cy="5791200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8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8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lnSpc>
                <a:spcPct val="170000"/>
              </a:lnSpc>
            </a:pPr>
            <a:r>
              <a:rPr lang="en-US" sz="8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2: Access control system in a Computer Lab</a:t>
            </a:r>
          </a:p>
          <a:p>
            <a:pPr algn="l">
              <a:lnSpc>
                <a:spcPct val="120000"/>
              </a:lnSpc>
            </a:pPr>
            <a:r>
              <a:rPr lang="en-US" sz="8000" dirty="0">
                <a:latin typeface="Calibri" panose="020F0502020204030204" pitchFamily="34" charset="0"/>
                <a:cs typeface="Calibri" panose="020F0502020204030204" pitchFamily="34" charset="0"/>
              </a:rPr>
              <a:t>In this task you are given the problem for managing entry into a university computer lab. Each group must</a:t>
            </a:r>
          </a:p>
          <a:p>
            <a:pPr algn="l">
              <a:lnSpc>
                <a:spcPct val="120000"/>
              </a:lnSpc>
            </a:pPr>
            <a:r>
              <a:rPr lang="en-US" sz="8000" dirty="0">
                <a:latin typeface="Calibri" panose="020F0502020204030204" pitchFamily="34" charset="0"/>
                <a:cs typeface="Calibri" panose="020F0502020204030204" pitchFamily="34" charset="0"/>
              </a:rPr>
              <a:t>Explain how their program works without naming the paradigm and justify why their approach fits the constraint</a:t>
            </a:r>
          </a:p>
          <a:p>
            <a:pPr algn="l">
              <a:lnSpc>
                <a:spcPct val="120000"/>
              </a:lnSpc>
            </a:pPr>
            <a:r>
              <a:rPr lang="en-US" sz="8000" b="1" dirty="0">
                <a:latin typeface="Calibri" panose="020F0502020204030204" pitchFamily="34" charset="0"/>
                <a:cs typeface="Calibri" panose="020F0502020204030204" pitchFamily="34" charset="0"/>
              </a:rPr>
              <a:t>Group A:  </a:t>
            </a:r>
            <a:r>
              <a:rPr lang="en-US" sz="8000" dirty="0">
                <a:latin typeface="Calibri" panose="020F0502020204030204" pitchFamily="34" charset="0"/>
                <a:cs typeface="Calibri" panose="020F0502020204030204" pitchFamily="34" charset="0"/>
              </a:rPr>
              <a:t>Lab assistant is new and must follow fixed steps.</a:t>
            </a:r>
          </a:p>
          <a:p>
            <a:pPr algn="l">
              <a:lnSpc>
                <a:spcPct val="120000"/>
              </a:lnSpc>
            </a:pPr>
            <a:r>
              <a:rPr lang="en-US" sz="8000" b="1" dirty="0">
                <a:latin typeface="Calibri" panose="020F0502020204030204" pitchFamily="34" charset="0"/>
                <a:cs typeface="Calibri" panose="020F0502020204030204" pitchFamily="34" charset="0"/>
              </a:rPr>
              <a:t>Group B:  </a:t>
            </a:r>
            <a:r>
              <a:rPr lang="en-US" sz="8000" dirty="0">
                <a:latin typeface="Calibri" panose="020F0502020204030204" pitchFamily="34" charset="0"/>
                <a:cs typeface="Calibri" panose="020F0502020204030204" pitchFamily="34" charset="0"/>
              </a:rPr>
              <a:t>Access depends on rules (time, ID validity, course enrolled).</a:t>
            </a:r>
          </a:p>
          <a:p>
            <a:pPr algn="l">
              <a:lnSpc>
                <a:spcPct val="120000"/>
              </a:lnSpc>
            </a:pPr>
            <a:r>
              <a:rPr lang="en-US" sz="8000" b="1" dirty="0">
                <a:latin typeface="Calibri" panose="020F0502020204030204" pitchFamily="34" charset="0"/>
                <a:cs typeface="Calibri" panose="020F0502020204030204" pitchFamily="34" charset="0"/>
              </a:rPr>
              <a:t>Group C:  </a:t>
            </a:r>
            <a:r>
              <a:rPr lang="en-US" sz="8000" dirty="0">
                <a:latin typeface="Calibri" panose="020F0502020204030204" pitchFamily="34" charset="0"/>
                <a:cs typeface="Calibri" panose="020F0502020204030204" pitchFamily="34" charset="0"/>
              </a:rPr>
              <a:t>Entry decision must always be predictable and repeatable.</a:t>
            </a:r>
          </a:p>
          <a:p>
            <a:pPr algn="l">
              <a:lnSpc>
                <a:spcPct val="120000"/>
              </a:lnSpc>
            </a:pPr>
            <a:r>
              <a:rPr lang="en-US" sz="8000" b="1" dirty="0">
                <a:latin typeface="Calibri" panose="020F0502020204030204" pitchFamily="34" charset="0"/>
                <a:cs typeface="Calibri" panose="020F0502020204030204" pitchFamily="34" charset="0"/>
              </a:rPr>
              <a:t>Group D</a:t>
            </a:r>
            <a:r>
              <a:rPr lang="en-US" sz="8000" dirty="0">
                <a:latin typeface="Calibri" panose="020F0502020204030204" pitchFamily="34" charset="0"/>
                <a:cs typeface="Calibri" panose="020F0502020204030204" pitchFamily="34" charset="0"/>
              </a:rPr>
              <a:t>: System must represent people, rooms, and permissions.</a:t>
            </a:r>
          </a:p>
          <a:p>
            <a:pPr algn="l">
              <a:lnSpc>
                <a:spcPct val="120000"/>
              </a:lnSpc>
            </a:pPr>
            <a:r>
              <a:rPr lang="en-US" sz="8000" b="1" dirty="0">
                <a:latin typeface="Calibri" panose="020F0502020204030204" pitchFamily="34" charset="0"/>
                <a:cs typeface="Calibri" panose="020F0502020204030204" pitchFamily="34" charset="0"/>
              </a:rPr>
              <a:t>Group E: </a:t>
            </a:r>
            <a:r>
              <a:rPr lang="en-US" sz="8000" dirty="0">
                <a:latin typeface="Calibri" panose="020F0502020204030204" pitchFamily="34" charset="0"/>
                <a:cs typeface="Calibri" panose="020F0502020204030204" pitchFamily="34" charset="0"/>
              </a:rPr>
              <a:t>Doors open only when something happens.</a:t>
            </a:r>
          </a:p>
          <a:p>
            <a:pPr algn="l">
              <a:lnSpc>
                <a:spcPct val="170000"/>
              </a:lnSpc>
            </a:pPr>
            <a:endParaRPr lang="en-US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70000"/>
              </a:lnSpc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6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9509-0B69-6355-F37E-3F95DC07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582693-4A81-EE29-3780-9F07348AB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"/>
            <a:ext cx="8305800" cy="597535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3: Relate scenario to a programming paradigm.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your group describe the thinking style being used. Give a real-life example from your environment. Then at the end name the paradigm. 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“The outcome must be the same every time the same details are provided.”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B: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“Nothing happens until someone taps an access card.”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C: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“The decision depends on whether three conditions are all true.”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D: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“This system keeps records and allows actions on them.”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“The task must be completed in a strict order.”</a:t>
            </a:r>
          </a:p>
          <a:p>
            <a:pPr marL="457200" indent="-457200" algn="l">
              <a:buFont typeface="+mj-lt"/>
              <a:buAutoNum type="alphaLcParenR"/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u="sng" dirty="0">
              <a:latin typeface="Century Gothic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03375-AD82-6F93-B63B-7A5FB26C7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4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0198-0DE6-A63B-BD7A-240E016C3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EECBA0-6BDB-6B91-0EA9-92DE849C4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7839912" cy="381000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Programming paradigms</a:t>
            </a:r>
            <a:endParaRPr lang="en-US" sz="20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Exercise: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Differentiate between programming convention and programming paradigm.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Describe any two advantages of procedural programming language.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Differentiate between imperative and declarative programming paradigms.</a:t>
            </a:r>
          </a:p>
          <a:p>
            <a:pPr marL="457200" indent="-457200" algn="l">
              <a:buFont typeface="+mj-lt"/>
              <a:buAutoNum type="alphaLcParenR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u="sng" dirty="0">
              <a:latin typeface="Century Gothic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FCD1A-8455-4E90-772A-BCA489AB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8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81000"/>
            <a:ext cx="8001000" cy="5181600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hlinkClick r:id="rId2" action="ppaction://hlinksldjump"/>
              </a:rPr>
              <a:t>Reference:</a:t>
            </a:r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An introduction to programming by Wu Thomas, Norman and Theodore: </a:t>
            </a:r>
            <a:r>
              <a:rPr lang="en-US" sz="2000" dirty="0" err="1">
                <a:solidFill>
                  <a:schemeClr val="tx1"/>
                </a:solidFill>
              </a:rPr>
              <a:t>McGrill</a:t>
            </a:r>
            <a:r>
              <a:rPr lang="en-US" sz="2000" dirty="0">
                <a:solidFill>
                  <a:schemeClr val="tx1"/>
                </a:solidFill>
              </a:rPr>
              <a:t> (1997).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 programming language by Brian W. Kernighan, Dennis Ritchie, 2</a:t>
            </a:r>
            <a:r>
              <a:rPr lang="en-US" sz="2000" baseline="30000" dirty="0">
                <a:solidFill>
                  <a:schemeClr val="tx1"/>
                </a:solidFill>
              </a:rPr>
              <a:t>nd </a:t>
            </a:r>
            <a:r>
              <a:rPr lang="en-US" sz="2000" dirty="0" err="1">
                <a:solidFill>
                  <a:schemeClr val="tx1"/>
                </a:solidFill>
              </a:rPr>
              <a:t>ed</a:t>
            </a:r>
            <a:r>
              <a:rPr lang="en-US" sz="2000" dirty="0">
                <a:solidFill>
                  <a:schemeClr val="tx1"/>
                </a:solidFill>
              </a:rPr>
              <a:t>: prentice hall(2003).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 how to program by H.M. </a:t>
            </a:r>
            <a:r>
              <a:rPr lang="en-US" sz="2000" dirty="0" err="1">
                <a:solidFill>
                  <a:schemeClr val="tx1"/>
                </a:solidFill>
              </a:rPr>
              <a:t>Deitel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dirty="0" err="1">
                <a:solidFill>
                  <a:schemeClr val="tx1"/>
                </a:solidFill>
              </a:rPr>
              <a:t>P.J.Deitel</a:t>
            </a:r>
            <a:r>
              <a:rPr lang="en-US" sz="2000" dirty="0">
                <a:solidFill>
                  <a:schemeClr val="tx1"/>
                </a:solidFill>
              </a:rPr>
              <a:t>, 3</a:t>
            </a:r>
            <a:r>
              <a:rPr lang="en-US" sz="2000" baseline="30000" dirty="0">
                <a:solidFill>
                  <a:schemeClr val="tx1"/>
                </a:solidFill>
              </a:rPr>
              <a:t>rd </a:t>
            </a:r>
            <a:r>
              <a:rPr lang="en-US" sz="2000" dirty="0" err="1">
                <a:solidFill>
                  <a:schemeClr val="tx1"/>
                </a:solidFill>
              </a:rPr>
              <a:t>ed</a:t>
            </a:r>
            <a:r>
              <a:rPr lang="en-US" sz="2000" dirty="0">
                <a:solidFill>
                  <a:schemeClr val="tx1"/>
                </a:solidFill>
              </a:rPr>
              <a:t>: Prentice hall(2001).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3"/>
              </a:rPr>
              <a:t>https://www.w3schools.in/c-tutorial/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4"/>
              </a:rPr>
              <a:t>https://www.tutorialspoint.com/cprogramming/index.htm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5"/>
              </a:rPr>
              <a:t>https://www.learn-c.org/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/>
              <a:t>https://www.studysmarter.co.uk/explanations/computer-science/computer-programming/c-main/</a:t>
            </a:r>
          </a:p>
          <a:p>
            <a:pPr algn="l"/>
            <a:endParaRPr lang="en-US" sz="2000" dirty="0">
              <a:solidFill>
                <a:schemeClr val="tx1"/>
              </a:solidFill>
            </a:endParaRPr>
          </a:p>
          <a:p>
            <a:pPr marL="514350" indent="-514350"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marL="342900" indent="-342900" algn="l">
              <a:buFont typeface="+mj-lt"/>
              <a:buAutoNum type="alphaLcParenR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94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76200"/>
            <a:ext cx="8001000" cy="5181600"/>
          </a:xfrm>
        </p:spPr>
        <p:txBody>
          <a:bodyPr>
            <a:normAutofit/>
          </a:bodyPr>
          <a:lstStyle/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r>
              <a:rPr lang="en-US" sz="4400" b="1" dirty="0">
                <a:solidFill>
                  <a:schemeClr val="tx1"/>
                </a:solidFill>
                <a:latin typeface="Broadway" panose="04040905080B02020502" pitchFamily="82" charset="0"/>
              </a:rPr>
              <a:t>THANK YOU</a:t>
            </a:r>
          </a:p>
          <a:p>
            <a:pPr marL="514350" indent="-514350"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marL="342900" indent="-342900" algn="l">
              <a:buFont typeface="+mj-lt"/>
              <a:buAutoNum type="alphaLcParenR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155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239C5CE-4C2A-4629-950F-21F475BF1A6E}" vid="{3EE141AC-8660-4AB8-A964-6AF4CBBFA7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class_notes</Template>
  <TotalTime>16650</TotalTime>
  <Words>2521</Words>
  <Application>Microsoft Office PowerPoint</Application>
  <PresentationFormat>On-screen Show (4:3)</PresentationFormat>
  <Paragraphs>256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Broadway</vt:lpstr>
      <vt:lpstr>Calibri</vt:lpstr>
      <vt:lpstr>Calibri Light</vt:lpstr>
      <vt:lpstr>Century Gothic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BBIT 105/bit 1303A: Programming methodology</dc:title>
  <dc:creator>owner</dc:creator>
  <cp:lastModifiedBy>Kenga</cp:lastModifiedBy>
  <cp:revision>793</cp:revision>
  <dcterms:created xsi:type="dcterms:W3CDTF">2015-12-10T07:41:17Z</dcterms:created>
  <dcterms:modified xsi:type="dcterms:W3CDTF">2026-01-30T05:03:39Z</dcterms:modified>
</cp:coreProperties>
</file>