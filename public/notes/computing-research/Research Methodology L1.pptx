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3"/>
    <p:sldId id="257" r:id="rId4"/>
    <p:sldId id="258" r:id="rId5"/>
    <p:sldId id="259" r:id="rId6"/>
    <p:sldId id="261" r:id="rId7"/>
    <p:sldId id="263" r:id="rId8"/>
    <p:sldId id="262" r:id="rId9"/>
    <p:sldId id="260" r:id="rId10"/>
    <p:sldId id="265" r:id="rId11"/>
    <p:sldId id="266" r:id="rId12"/>
    <p:sldId id="267" r:id="rId13"/>
    <p:sldId id="268" r:id="rId14"/>
    <p:sldId id="264" r:id="rId15"/>
    <p:sldId id="269" r:id="rId16"/>
    <p:sldId id="270" r:id="rId17"/>
    <p:sldId id="275" r:id="rId18"/>
    <p:sldId id="274" r:id="rId19"/>
    <p:sldId id="273" r:id="rId20"/>
    <p:sldId id="272" r:id="rId21"/>
    <p:sldId id="271" r:id="rId22"/>
    <p:sldId id="276" r:id="rId23"/>
    <p:sldId id="277" r:id="rId24"/>
    <p:sldId id="279" r:id="rId26"/>
    <p:sldId id="278" r:id="rId27"/>
    <p:sldId id="280" r:id="rId28"/>
    <p:sldId id="281" r:id="rId29"/>
    <p:sldId id="282" r:id="rId30"/>
    <p:sldId id="283" r:id="rId31"/>
    <p:sldId id="284" r:id="rId32"/>
    <p:sldId id="285" r:id="rId33"/>
    <p:sldId id="286" r:id="rId34"/>
    <p:sldId id="287" r:id="rId35"/>
    <p:sldId id="28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3" d="100"/>
          <a:sy n="43" d="100"/>
        </p:scale>
        <p:origin x="-129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24DDFA-504C-4B96-9220-7091913F412F}" type="datetimeFigureOut">
              <a:rPr lang="en-GB" smtClean="0"/>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F5F5BB-A0E8-49FF-961F-D768D0F11E5B}"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3F5F5BB-A0E8-49FF-961F-D768D0F11E5B}"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3F5F5BB-A0E8-49FF-961F-D768D0F11E5B}"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978FBEB-A2AE-42C6-8FCB-4BF503EA16EE}" type="datetimeFigureOut">
              <a:rPr lang="en-GB" smtClean="0"/>
            </a:fld>
            <a:endParaRPr lang="en-GB"/>
          </a:p>
        </p:txBody>
      </p:sp>
      <p:sp>
        <p:nvSpPr>
          <p:cNvPr id="19" name="Footer Placeholder 18"/>
          <p:cNvSpPr>
            <a:spLocks noGrp="1"/>
          </p:cNvSpPr>
          <p:nvPr>
            <p:ph type="ftr" sz="quarter" idx="11"/>
          </p:nvPr>
        </p:nvSpPr>
        <p:spPr/>
        <p:txBody>
          <a:bodyPr/>
          <a:lstStyle/>
          <a:p>
            <a:endParaRPr lang="en-GB"/>
          </a:p>
        </p:txBody>
      </p:sp>
      <p:sp>
        <p:nvSpPr>
          <p:cNvPr id="27" name="Slide Number Placeholder 26"/>
          <p:cNvSpPr>
            <a:spLocks noGrp="1"/>
          </p:cNvSpPr>
          <p:nvPr>
            <p:ph type="sldNum" sz="quarter" idx="12"/>
          </p:nvPr>
        </p:nvSpPr>
        <p:spPr/>
        <p:txBody>
          <a:bodyPr/>
          <a:lstStyle/>
          <a:p>
            <a:fld id="{C1EA3B60-08FD-4E1D-A7B9-73CE127BBCC5}" type="slidenum">
              <a:rPr lang="en-GB" smtClean="0"/>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978FBEB-A2AE-42C6-8FCB-4BF503EA16EE}"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A978FBEB-A2AE-42C6-8FCB-4BF503EA16EE}"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EA3B60-08FD-4E1D-A7B9-73CE127BBCC5}" type="slidenum">
              <a:rPr lang="en-GB" smtClean="0"/>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978FBEB-A2AE-42C6-8FCB-4BF503EA16EE}"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978FBEB-A2AE-42C6-8FCB-4BF503EA16EE}"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978FBEB-A2AE-42C6-8FCB-4BF503EA16EE}"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8FBEB-A2AE-42C6-8FCB-4BF503EA16EE}"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978FBEB-A2AE-42C6-8FCB-4BF503EA16EE}"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A978FBEB-A2AE-42C6-8FCB-4BF503EA16EE}"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8077200" y="6356350"/>
            <a:ext cx="609600" cy="365125"/>
          </a:xfrm>
        </p:spPr>
        <p:txBody>
          <a:bodyPr/>
          <a:lstStyle/>
          <a:p>
            <a:fld id="{C1EA3B60-08FD-4E1D-A7B9-73CE127BBCC5}" type="slidenum">
              <a:rPr lang="en-GB" smtClean="0"/>
            </a:fld>
            <a:endParaRPr lang="en-GB"/>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978FBEB-A2AE-42C6-8FCB-4BF503EA16EE}"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978FBEB-A2AE-42C6-8FCB-4BF503EA16EE}"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EA3B60-08FD-4E1D-A7B9-73CE127BBCC5}"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978FBEB-A2AE-42C6-8FCB-4BF503EA16EE}" type="datetimeFigureOut">
              <a:rPr lang="en-GB" smtClean="0"/>
            </a:fld>
            <a:endParaRPr lang="en-GB"/>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GB"/>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EA3B60-08FD-4E1D-A7B9-73CE127BBCC5}" type="slidenum">
              <a:rPr lang="en-GB" smtClean="0"/>
            </a:fld>
            <a:endParaRPr lang="en-GB"/>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Research Methodology</a:t>
            </a:r>
            <a:endParaRPr lang="en-GB" dirty="0"/>
          </a:p>
        </p:txBody>
      </p:sp>
      <p:sp>
        <p:nvSpPr>
          <p:cNvPr id="3" name="Subtitle 2"/>
          <p:cNvSpPr>
            <a:spLocks noGrp="1"/>
          </p:cNvSpPr>
          <p:nvPr>
            <p:ph type="subTitle" idx="1"/>
          </p:nvPr>
        </p:nvSpPr>
        <p:spPr/>
        <p:txBody>
          <a:bodyPr/>
          <a:lstStyle/>
          <a:p>
            <a:r>
              <a:rPr lang="en-US" altLang="en-GB" dirty="0"/>
              <a:t>STU2104</a:t>
            </a:r>
            <a:endParaRPr lang="en-US" alt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COURSE OBJECTIVES</a:t>
            </a:r>
            <a:br>
              <a:rPr lang="en-US" b="1" dirty="0" smtClean="0"/>
            </a:br>
            <a:endParaRPr lang="en-GB" dirty="0"/>
          </a:p>
        </p:txBody>
      </p:sp>
      <p:sp>
        <p:nvSpPr>
          <p:cNvPr id="3" name="Content Placeholder 2"/>
          <p:cNvSpPr>
            <a:spLocks noGrp="1"/>
          </p:cNvSpPr>
          <p:nvPr>
            <p:ph idx="1"/>
          </p:nvPr>
        </p:nvSpPr>
        <p:spPr/>
        <p:txBody>
          <a:bodyPr>
            <a:normAutofit/>
          </a:bodyPr>
          <a:lstStyle/>
          <a:p>
            <a:r>
              <a:rPr lang="en-US" dirty="0" smtClean="0"/>
              <a:t>At </a:t>
            </a:r>
            <a:r>
              <a:rPr lang="en-US" dirty="0"/>
              <a:t>the end of the course, the students should be able to;</a:t>
            </a:r>
            <a:endParaRPr lang="en-US" dirty="0"/>
          </a:p>
          <a:p>
            <a:pPr lvl="0"/>
            <a:r>
              <a:rPr lang="en-US" dirty="0"/>
              <a:t>Understand research concepts and their relevance in research.</a:t>
            </a:r>
            <a:endParaRPr lang="en-US" dirty="0"/>
          </a:p>
          <a:p>
            <a:pPr lvl="0"/>
            <a:r>
              <a:rPr lang="en-US" dirty="0"/>
              <a:t>Be able to utilize research knowledge in other areas of study</a:t>
            </a:r>
            <a:endParaRPr lang="en-US" dirty="0"/>
          </a:p>
          <a:p>
            <a:pPr lvl="0"/>
            <a:r>
              <a:rPr lang="en-US" dirty="0"/>
              <a:t>Be able to develop a research proposal and develop skills in report writing</a:t>
            </a:r>
            <a:endParaRPr lang="en-US" dirty="0"/>
          </a:p>
          <a:p>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Course Content</a:t>
            </a:r>
            <a:endParaRPr lang="en-GB" dirty="0"/>
          </a:p>
        </p:txBody>
      </p:sp>
      <p:sp>
        <p:nvSpPr>
          <p:cNvPr id="3" name="Content Placeholder 2"/>
          <p:cNvSpPr>
            <a:spLocks noGrp="1"/>
          </p:cNvSpPr>
          <p:nvPr>
            <p:ph idx="1"/>
          </p:nvPr>
        </p:nvSpPr>
        <p:spPr/>
        <p:txBody>
          <a:bodyPr>
            <a:normAutofit fontScale="40000" lnSpcReduction="20000"/>
          </a:bodyPr>
          <a:lstStyle/>
          <a:p>
            <a:pPr marL="0" indent="0">
              <a:buNone/>
            </a:pPr>
            <a:r>
              <a:rPr lang="en-US" sz="8000" b="1" dirty="0"/>
              <a:t> </a:t>
            </a:r>
            <a:endParaRPr lang="en-US" sz="8000" b="1" dirty="0"/>
          </a:p>
          <a:p>
            <a:pPr marL="0" indent="0">
              <a:buNone/>
            </a:pPr>
            <a:r>
              <a:rPr lang="en-US" sz="8000" dirty="0"/>
              <a:t>1. Introduction to research</a:t>
            </a:r>
            <a:endParaRPr lang="en-US" sz="8000" dirty="0"/>
          </a:p>
          <a:p>
            <a:pPr marL="0" indent="0">
              <a:buNone/>
            </a:pPr>
            <a:r>
              <a:rPr lang="en-US" sz="8000" dirty="0" smtClean="0"/>
              <a:t>2</a:t>
            </a:r>
            <a:r>
              <a:rPr lang="en-US" sz="8000" dirty="0"/>
              <a:t>. Definition of research problem</a:t>
            </a:r>
            <a:endParaRPr lang="en-US" sz="8000" dirty="0"/>
          </a:p>
          <a:p>
            <a:pPr marL="0" indent="0">
              <a:buNone/>
            </a:pPr>
            <a:r>
              <a:rPr lang="en-US" sz="8000" dirty="0" smtClean="0"/>
              <a:t>3</a:t>
            </a:r>
            <a:r>
              <a:rPr lang="en-US" sz="8000" dirty="0"/>
              <a:t>. Research design</a:t>
            </a:r>
            <a:endParaRPr lang="en-US" sz="8000" dirty="0"/>
          </a:p>
          <a:p>
            <a:pPr marL="0" indent="0">
              <a:buNone/>
            </a:pPr>
            <a:r>
              <a:rPr lang="en-US" sz="8000" dirty="0" smtClean="0"/>
              <a:t>4</a:t>
            </a:r>
            <a:r>
              <a:rPr lang="en-US" sz="8000" dirty="0"/>
              <a:t>. Parts of a research </a:t>
            </a:r>
            <a:r>
              <a:rPr lang="en-US" sz="8000" dirty="0" smtClean="0"/>
              <a:t>proposal </a:t>
            </a:r>
            <a:endParaRPr lang="en-US" sz="8000" dirty="0"/>
          </a:p>
          <a:p>
            <a:pPr marL="0" indent="0">
              <a:buNone/>
            </a:pPr>
            <a:r>
              <a:rPr lang="en-US" sz="8000" dirty="0" smtClean="0"/>
              <a:t>5</a:t>
            </a:r>
            <a:r>
              <a:rPr lang="en-US" sz="8000" dirty="0"/>
              <a:t>. Literature review</a:t>
            </a:r>
            <a:endParaRPr lang="en-US" sz="8000" dirty="0"/>
          </a:p>
          <a:p>
            <a:pPr marL="0" indent="0">
              <a:buNone/>
            </a:pPr>
            <a:r>
              <a:rPr lang="en-US" sz="8000" dirty="0" smtClean="0"/>
              <a:t>6</a:t>
            </a:r>
            <a:r>
              <a:rPr lang="en-US" sz="8000" dirty="0"/>
              <a:t>. Data collection </a:t>
            </a:r>
            <a:r>
              <a:rPr lang="en-US" sz="8000" dirty="0" smtClean="0"/>
              <a:t>techniques </a:t>
            </a:r>
            <a:endParaRPr lang="en-US" sz="8000" dirty="0"/>
          </a:p>
          <a:p>
            <a:pPr marL="0" indent="0">
              <a:buNone/>
            </a:pPr>
            <a:r>
              <a:rPr lang="en-US" sz="8000" dirty="0" smtClean="0"/>
              <a:t>7</a:t>
            </a:r>
            <a:r>
              <a:rPr lang="en-US" sz="8000" dirty="0"/>
              <a:t>. Data analysis and </a:t>
            </a:r>
            <a:r>
              <a:rPr lang="en-US" sz="8000" smtClean="0"/>
              <a:t>interpretation </a:t>
            </a:r>
            <a:endParaRPr lang="en-US" sz="8000" dirty="0"/>
          </a:p>
          <a:p>
            <a:pPr marL="0" indent="0">
              <a:buNone/>
            </a:pPr>
            <a:r>
              <a:rPr lang="en-US" sz="8000" dirty="0"/>
              <a:t>8. Statistical analysis in research</a:t>
            </a:r>
            <a:endParaRPr lang="en-US" sz="8000" dirty="0"/>
          </a:p>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Definition of Research</a:t>
            </a:r>
            <a:br>
              <a:rPr lang="en-US" dirty="0"/>
            </a:br>
            <a:endParaRPr lang="en-GB" dirty="0"/>
          </a:p>
        </p:txBody>
      </p:sp>
      <p:sp>
        <p:nvSpPr>
          <p:cNvPr id="3" name="Content Placeholder 2"/>
          <p:cNvSpPr>
            <a:spLocks noGrp="1"/>
          </p:cNvSpPr>
          <p:nvPr>
            <p:ph idx="1"/>
          </p:nvPr>
        </p:nvSpPr>
        <p:spPr/>
        <p:txBody>
          <a:bodyPr/>
          <a:lstStyle/>
          <a:p>
            <a:r>
              <a:rPr lang="en-US" dirty="0"/>
              <a:t>Research can be described as a systematic and organized process to investigate a specific problem encountered in the work setting that needs a solution.  It comprises a series of steps designed and executed with the goal of finding answers to the issues that are of concern</a:t>
            </a:r>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Definition of Research</a:t>
            </a:r>
            <a:br>
              <a:rPr lang="en-US" dirty="0"/>
            </a:br>
            <a:endParaRPr lang="en-GB" dirty="0"/>
          </a:p>
        </p:txBody>
      </p:sp>
      <p:sp>
        <p:nvSpPr>
          <p:cNvPr id="3" name="Content Placeholder 2"/>
          <p:cNvSpPr>
            <a:spLocks noGrp="1"/>
          </p:cNvSpPr>
          <p:nvPr>
            <p:ph idx="1"/>
          </p:nvPr>
        </p:nvSpPr>
        <p:spPr/>
        <p:txBody>
          <a:bodyPr/>
          <a:lstStyle/>
          <a:p>
            <a:pPr lvl="0"/>
            <a:r>
              <a:rPr lang="en-US" dirty="0"/>
              <a:t>Research thus encompasses the processes of inquiry, investigation, examination and experimentation</a:t>
            </a:r>
            <a:r>
              <a:rPr lang="en-US" dirty="0" smtClean="0"/>
              <a:t>.</a:t>
            </a:r>
            <a:endParaRPr lang="en-US" dirty="0"/>
          </a:p>
          <a:p>
            <a:r>
              <a:rPr lang="en-US" dirty="0"/>
              <a:t>Research can also be defined as a scientific and systematic search for pertinent information on a specific topic</a:t>
            </a:r>
            <a:endParaRPr lang="en-GB"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Definition of Research</a:t>
            </a:r>
            <a:br>
              <a:rPr lang="en-US" dirty="0"/>
            </a:br>
            <a:endParaRPr lang="en-GB" dirty="0"/>
          </a:p>
        </p:txBody>
      </p:sp>
      <p:sp>
        <p:nvSpPr>
          <p:cNvPr id="3" name="Content Placeholder 2"/>
          <p:cNvSpPr>
            <a:spLocks noGrp="1"/>
          </p:cNvSpPr>
          <p:nvPr>
            <p:ph idx="1"/>
          </p:nvPr>
        </p:nvSpPr>
        <p:spPr/>
        <p:txBody>
          <a:bodyPr/>
          <a:lstStyle/>
          <a:p>
            <a:pPr lvl="0"/>
            <a:r>
              <a:rPr lang="en-US" dirty="0"/>
              <a:t>Research is an organized, systematic, data-based, critical, objective, scientific inquiry or investigation into a specific problem undertaken with the purpose of finding answers or solutions to it</a:t>
            </a:r>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Definition of Research</a:t>
            </a:r>
            <a:br>
              <a:rPr lang="en-US" dirty="0"/>
            </a:br>
            <a:endParaRPr lang="en-GB" dirty="0"/>
          </a:p>
        </p:txBody>
      </p:sp>
      <p:sp>
        <p:nvSpPr>
          <p:cNvPr id="3" name="Content Placeholder 2"/>
          <p:cNvSpPr>
            <a:spLocks noGrp="1"/>
          </p:cNvSpPr>
          <p:nvPr>
            <p:ph idx="1"/>
          </p:nvPr>
        </p:nvSpPr>
        <p:spPr>
          <a:xfrm>
            <a:off x="457200" y="1600200"/>
            <a:ext cx="8229600" cy="4724400"/>
          </a:xfrm>
        </p:spPr>
        <p:txBody>
          <a:bodyPr>
            <a:normAutofit/>
          </a:bodyPr>
          <a:lstStyle/>
          <a:p>
            <a:pPr marL="0" lvl="0" indent="0">
              <a:buNone/>
            </a:pPr>
            <a:r>
              <a:rPr lang="en-US" dirty="0" smtClean="0"/>
              <a:t>Research </a:t>
            </a:r>
            <a:r>
              <a:rPr lang="en-US" dirty="0"/>
              <a:t>comprises defining and redefining problems, formulating hypothesis or suggested solutions, collecting, organizing and evaluating data, making deductions and reaching conclusions and carefully testing the conclusions to determine whether they fit the formulating method consisting of enunciating the problem, formulating, collecting the facts or data, analyzing the facts and reaching certain conclusions either in the form of solutions towards the concerned problem or in certain generalizations for some theoretical formulation.</a:t>
            </a:r>
            <a:endParaRPr lang="en-US" dirty="0"/>
          </a:p>
          <a:p>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APPLIED AND BASIC RESEARCH</a:t>
            </a:r>
            <a:br>
              <a:rPr lang="en-US" dirty="0" smtClean="0"/>
            </a:b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endParaRPr lang="en-US" dirty="0"/>
          </a:p>
          <a:p>
            <a:pPr lvl="0"/>
            <a:r>
              <a:rPr lang="en-US" dirty="0"/>
              <a:t>Research can be taken for two different purposes ordinarily.</a:t>
            </a:r>
            <a:endParaRPr lang="en-US" dirty="0"/>
          </a:p>
          <a:p>
            <a:pPr marL="0" indent="0">
              <a:buNone/>
            </a:pPr>
            <a:endParaRPr lang="en-US" dirty="0"/>
          </a:p>
          <a:p>
            <a:pPr lvl="0"/>
            <a:r>
              <a:rPr lang="en-US" dirty="0"/>
              <a:t>One of the purposes is to solve a problem, faced for example by a manager of decreasing sales or profitability.  That type of research is applied research.</a:t>
            </a:r>
            <a:endParaRPr lang="en-US" dirty="0"/>
          </a:p>
          <a:p>
            <a:pPr marL="0" indent="0">
              <a:buNone/>
            </a:pPr>
            <a:endParaRPr lang="en-US" dirty="0"/>
          </a:p>
          <a:p>
            <a:pPr lvl="0"/>
            <a:r>
              <a:rPr lang="en-US" dirty="0"/>
              <a:t>The other purpose is to just add to the body of knowledge and not to deal with an immediate problem.  For example a research on why male or female students at KCA dress or the distant between different planets.</a:t>
            </a:r>
            <a:endParaRPr lang="en-US" dirty="0"/>
          </a:p>
          <a:p>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95263" y="381000"/>
            <a:ext cx="8015287" cy="762000"/>
          </a:xfrm>
        </p:spPr>
        <p:txBody>
          <a:bodyPr>
            <a:normAutofit fontScale="90000"/>
          </a:bodyPr>
          <a:lstStyle/>
          <a:p>
            <a:pPr eaLnBrk="1" hangingPunct="1"/>
            <a:br>
              <a:rPr lang="en-US" sz="4400" b="1" smtClean="0">
                <a:solidFill>
                  <a:schemeClr val="tx1"/>
                </a:solidFill>
              </a:rPr>
            </a:br>
            <a:r>
              <a:rPr lang="en-US" sz="4400" b="1" smtClean="0">
                <a:solidFill>
                  <a:schemeClr val="tx1"/>
                </a:solidFill>
              </a:rPr>
              <a:t>TYPES OF RESEARCH</a:t>
            </a:r>
            <a:br>
              <a:rPr lang="en-US" sz="6000" smtClean="0">
                <a:solidFill>
                  <a:schemeClr val="tx1"/>
                </a:solidFill>
              </a:rPr>
            </a:br>
            <a:endParaRPr lang="en-GB" smtClean="0"/>
          </a:p>
        </p:txBody>
      </p:sp>
      <p:sp>
        <p:nvSpPr>
          <p:cNvPr id="10243" name="Content Placeholder 2"/>
          <p:cNvSpPr>
            <a:spLocks noGrp="1"/>
          </p:cNvSpPr>
          <p:nvPr>
            <p:ph idx="1"/>
          </p:nvPr>
        </p:nvSpPr>
        <p:spPr/>
        <p:txBody>
          <a:bodyPr/>
          <a:lstStyle/>
          <a:p>
            <a:pPr eaLnBrk="1" hangingPunct="1"/>
            <a:r>
              <a:rPr lang="en-US" sz="2400" smtClean="0"/>
              <a:t>1.	</a:t>
            </a:r>
            <a:r>
              <a:rPr lang="en-US" sz="2400" b="1" smtClean="0"/>
              <a:t>Empirical</a:t>
            </a:r>
            <a:r>
              <a:rPr lang="en-US" sz="2400" smtClean="0"/>
              <a:t> – Can be described as a research that relies on experience or observation alone, without putting into consideration systems and theory in empirical research, a researcher comes up with a hypothesis or probable results and provides facts to prove or disapprove his hypothesis.</a:t>
            </a:r>
            <a:endParaRPr lang="en-US" sz="2400" smtClean="0"/>
          </a:p>
          <a:p>
            <a:pPr eaLnBrk="1" hangingPunct="1"/>
            <a:r>
              <a:rPr lang="en-US" sz="2400" smtClean="0"/>
              <a:t>2.	</a:t>
            </a:r>
            <a:r>
              <a:rPr lang="en-US" sz="2400" b="1" smtClean="0"/>
              <a:t>Conceptual</a:t>
            </a:r>
            <a:r>
              <a:rPr lang="en-US" sz="2400" smtClean="0"/>
              <a:t> – It is a research that is related to some abstract idea(s) or theory.  It is generally used by researchers to either develop new concepts or to reinterpret existing ones.</a:t>
            </a:r>
            <a:endParaRPr lang="en-US" sz="2400" smtClean="0"/>
          </a:p>
        </p:txBody>
      </p:sp>
      <p:sp>
        <p:nvSpPr>
          <p:cNvPr id="10246" name="Slide Number Placeholder 5"/>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BE410FE-8D5E-4B01-8F6A-B43620194560}" type="slidenum">
              <a:rPr lang="en-US">
                <a:latin typeface="Arial Black" panose="020B0A04020102020204" pitchFamily="34" charset="0"/>
              </a:rPr>
            </a:fld>
            <a:endParaRPr lang="en-US">
              <a:latin typeface="Arial Black" panose="020B0A040201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95263" y="381000"/>
            <a:ext cx="8015287" cy="762000"/>
          </a:xfrm>
        </p:spPr>
        <p:txBody>
          <a:bodyPr>
            <a:normAutofit fontScale="90000"/>
          </a:bodyPr>
          <a:lstStyle/>
          <a:p>
            <a:pPr eaLnBrk="1" hangingPunct="1"/>
            <a:br>
              <a:rPr lang="en-US" sz="4400" b="1" smtClean="0">
                <a:solidFill>
                  <a:schemeClr val="tx1"/>
                </a:solidFill>
              </a:rPr>
            </a:br>
            <a:r>
              <a:rPr lang="en-US" sz="4400" b="1" smtClean="0">
                <a:solidFill>
                  <a:schemeClr val="tx1"/>
                </a:solidFill>
              </a:rPr>
              <a:t>TYPES OF RESEARCH</a:t>
            </a:r>
            <a:br>
              <a:rPr lang="en-US" sz="6000" smtClean="0">
                <a:solidFill>
                  <a:schemeClr val="tx1"/>
                </a:solidFill>
              </a:rPr>
            </a:br>
            <a:endParaRPr lang="en-GB" smtClean="0"/>
          </a:p>
        </p:txBody>
      </p:sp>
      <p:sp>
        <p:nvSpPr>
          <p:cNvPr id="3" name="Content Placeholder 2"/>
          <p:cNvSpPr>
            <a:spLocks noGrp="1"/>
          </p:cNvSpPr>
          <p:nvPr>
            <p:ph idx="1"/>
          </p:nvPr>
        </p:nvSpPr>
        <p:spPr/>
        <p:txBody>
          <a:bodyPr/>
          <a:lstStyle/>
          <a:p>
            <a:pPr eaLnBrk="1" hangingPunct="1">
              <a:defRPr/>
            </a:pPr>
            <a:r>
              <a:rPr lang="en-US" sz="2400" dirty="0" smtClean="0"/>
              <a:t>3.	</a:t>
            </a:r>
            <a:r>
              <a:rPr lang="en-US" sz="2400" b="1" dirty="0" smtClean="0"/>
              <a:t>Quantitative</a:t>
            </a:r>
            <a:r>
              <a:rPr lang="en-US" sz="2400" dirty="0" smtClean="0"/>
              <a:t> – It is based on measures of either amounts or quantity </a:t>
            </a:r>
            <a:r>
              <a:rPr lang="en-US" sz="2400" dirty="0" err="1" smtClean="0"/>
              <a:t>e.g</a:t>
            </a:r>
            <a:r>
              <a:rPr lang="en-US" sz="2400" dirty="0" smtClean="0"/>
              <a:t> speed of vehicle, distance, heights, weight, etc.</a:t>
            </a:r>
            <a:endParaRPr lang="en-US" sz="2400" dirty="0" smtClean="0"/>
          </a:p>
          <a:p>
            <a:pPr eaLnBrk="1" hangingPunct="1">
              <a:defRPr/>
            </a:pPr>
            <a:r>
              <a:rPr lang="en-US" sz="2400" dirty="0" smtClean="0"/>
              <a:t>4.	</a:t>
            </a:r>
            <a:r>
              <a:rPr lang="en-US" sz="2400" b="1" dirty="0" smtClean="0"/>
              <a:t>Qualitative Research</a:t>
            </a:r>
            <a:r>
              <a:rPr lang="en-US" sz="2400" dirty="0" smtClean="0"/>
              <a:t> – It is research based on qualitative phenomenon </a:t>
            </a:r>
            <a:r>
              <a:rPr lang="en-US" sz="2400" dirty="0" err="1" smtClean="0"/>
              <a:t>i.e</a:t>
            </a:r>
            <a:r>
              <a:rPr lang="en-US" sz="2400" dirty="0" smtClean="0"/>
              <a:t> relating to or involving quality or kind </a:t>
            </a:r>
            <a:r>
              <a:rPr lang="en-US" sz="2400" dirty="0" err="1" smtClean="0"/>
              <a:t>e.g</a:t>
            </a:r>
            <a:r>
              <a:rPr lang="en-US" sz="2400" dirty="0" smtClean="0"/>
              <a:t> investigation on human </a:t>
            </a:r>
            <a:r>
              <a:rPr lang="en-US" sz="2400" dirty="0" err="1" smtClean="0"/>
              <a:t>behaviour</a:t>
            </a:r>
            <a:r>
              <a:rPr lang="en-US" sz="2400" dirty="0" smtClean="0"/>
              <a:t>.</a:t>
            </a:r>
            <a:endParaRPr lang="en-US" sz="2400" dirty="0" smtClean="0"/>
          </a:p>
          <a:p>
            <a:pPr marL="0" indent="0" eaLnBrk="1" hangingPunct="1">
              <a:buFont typeface="Wingdings" panose="05000000000000000000" pitchFamily="2" charset="2"/>
              <a:buNone/>
              <a:defRPr/>
            </a:pPr>
            <a:endParaRPr lang="en-US" sz="2400" dirty="0" smtClean="0"/>
          </a:p>
        </p:txBody>
      </p:sp>
      <p:sp>
        <p:nvSpPr>
          <p:cNvPr id="11270" name="Slide Number Placeholder 5"/>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4A4F6B-8381-41A5-9E73-311F579E1B62}" type="slidenum">
              <a:rPr lang="en-US">
                <a:latin typeface="Arial Black" panose="020B0A04020102020204" pitchFamily="34" charset="0"/>
              </a:rPr>
            </a:fld>
            <a:endParaRPr lang="en-US">
              <a:latin typeface="Arial Black" panose="020B0A040201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95263" y="381000"/>
            <a:ext cx="8015287" cy="762000"/>
          </a:xfrm>
        </p:spPr>
        <p:txBody>
          <a:bodyPr>
            <a:normAutofit fontScale="90000"/>
          </a:bodyPr>
          <a:lstStyle/>
          <a:p>
            <a:pPr eaLnBrk="1" hangingPunct="1"/>
            <a:br>
              <a:rPr lang="en-US" sz="4400" b="1" smtClean="0">
                <a:solidFill>
                  <a:schemeClr val="tx1"/>
                </a:solidFill>
              </a:rPr>
            </a:br>
            <a:r>
              <a:rPr lang="en-US" sz="4400" b="1" smtClean="0">
                <a:solidFill>
                  <a:schemeClr val="tx1"/>
                </a:solidFill>
              </a:rPr>
              <a:t>TYPES OF RESEARCH</a:t>
            </a:r>
            <a:br>
              <a:rPr lang="en-US" sz="6000" smtClean="0">
                <a:solidFill>
                  <a:schemeClr val="tx1"/>
                </a:solidFill>
              </a:rPr>
            </a:br>
            <a:endParaRPr lang="en-GB" smtClean="0"/>
          </a:p>
        </p:txBody>
      </p:sp>
      <p:sp>
        <p:nvSpPr>
          <p:cNvPr id="3" name="Content Placeholder 2"/>
          <p:cNvSpPr>
            <a:spLocks noGrp="1"/>
          </p:cNvSpPr>
          <p:nvPr>
            <p:ph idx="1"/>
          </p:nvPr>
        </p:nvSpPr>
        <p:spPr/>
        <p:txBody>
          <a:bodyPr/>
          <a:lstStyle/>
          <a:p>
            <a:pPr marL="0" indent="0" eaLnBrk="1" hangingPunct="1">
              <a:buFont typeface="Wingdings" panose="05000000000000000000" pitchFamily="2" charset="2"/>
              <a:buNone/>
              <a:defRPr/>
            </a:pPr>
            <a:endParaRPr lang="en-US" sz="2400" dirty="0" smtClean="0"/>
          </a:p>
          <a:p>
            <a:pPr eaLnBrk="1" hangingPunct="1">
              <a:defRPr/>
            </a:pPr>
            <a:r>
              <a:rPr lang="en-US" sz="2400" dirty="0" smtClean="0"/>
              <a:t>5.	</a:t>
            </a:r>
            <a:r>
              <a:rPr lang="en-US" sz="2400" b="1" dirty="0" smtClean="0"/>
              <a:t>Descriptive</a:t>
            </a:r>
            <a:r>
              <a:rPr lang="en-US" sz="2400" dirty="0" smtClean="0"/>
              <a:t> – Its main purpose is to describe the state of affairs as it is presently.  It is also called ex-post facts research.  The distinctive characteristic of this method is that the researcher only reports on the happenings.  He has no control over the variables </a:t>
            </a:r>
            <a:r>
              <a:rPr lang="en-US" sz="2400" dirty="0" err="1" smtClean="0"/>
              <a:t>e.g</a:t>
            </a:r>
            <a:r>
              <a:rPr lang="en-US" sz="2400" dirty="0" smtClean="0"/>
              <a:t> mentality, birth, races </a:t>
            </a:r>
            <a:r>
              <a:rPr lang="en-US" sz="2400" dirty="0" err="1" smtClean="0"/>
              <a:t>e.t.c</a:t>
            </a:r>
            <a:endParaRPr lang="en-US" sz="2400" dirty="0" smtClean="0"/>
          </a:p>
          <a:p>
            <a:pPr marL="0" indent="0" eaLnBrk="1" hangingPunct="1">
              <a:buFont typeface="Wingdings" panose="05000000000000000000" pitchFamily="2" charset="2"/>
              <a:buNone/>
              <a:defRPr/>
            </a:pPr>
            <a:endParaRPr lang="en-US" sz="2400" dirty="0" smtClean="0"/>
          </a:p>
          <a:p>
            <a:pPr eaLnBrk="1" hangingPunct="1">
              <a:defRPr/>
            </a:pPr>
            <a:r>
              <a:rPr lang="en-US" sz="2400" dirty="0" smtClean="0"/>
              <a:t>6.	</a:t>
            </a:r>
            <a:r>
              <a:rPr lang="en-US" sz="2400" b="1" dirty="0" smtClean="0"/>
              <a:t>Analytical research</a:t>
            </a:r>
            <a:r>
              <a:rPr lang="en-US" sz="2400" dirty="0" smtClean="0"/>
              <a:t> – The researcher uses facts or information already available and analyses it to make a critical evaluation of the material</a:t>
            </a:r>
            <a:r>
              <a:rPr lang="en-US" dirty="0" smtClean="0"/>
              <a:t>.</a:t>
            </a:r>
            <a:endParaRPr lang="en-US" dirty="0" smtClean="0"/>
          </a:p>
          <a:p>
            <a:pPr marL="0" indent="0" eaLnBrk="1" hangingPunct="1">
              <a:buFont typeface="Wingdings" panose="05000000000000000000" pitchFamily="2" charset="2"/>
              <a:buNone/>
              <a:defRPr/>
            </a:pPr>
            <a:endParaRPr lang="en-GB" dirty="0" smtClean="0"/>
          </a:p>
        </p:txBody>
      </p:sp>
      <p:sp>
        <p:nvSpPr>
          <p:cNvPr id="12294" name="Slide Number Placeholder 5"/>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443EF07-841E-4DA1-B47E-88FF06729246}" type="slidenum">
              <a:rPr lang="en-US">
                <a:latin typeface="Arial Black" panose="020B0A04020102020204" pitchFamily="34" charset="0"/>
              </a:rPr>
            </a:fld>
            <a:endParaRPr lang="en-US">
              <a:latin typeface="Arial Black" panose="020B0A040201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RESEARCH METHODOLOGY</a:t>
            </a:r>
            <a:r>
              <a:rPr lang="en-US" dirty="0" smtClean="0"/>
              <a:t> </a:t>
            </a:r>
            <a:br>
              <a:rPr lang="en-US" dirty="0" smtClean="0"/>
            </a:br>
            <a:endParaRPr lang="en-GB" dirty="0"/>
          </a:p>
        </p:txBody>
      </p:sp>
      <p:sp>
        <p:nvSpPr>
          <p:cNvPr id="3" name="Content Placeholder 2"/>
          <p:cNvSpPr>
            <a:spLocks noGrp="1"/>
          </p:cNvSpPr>
          <p:nvPr>
            <p:ph idx="1"/>
          </p:nvPr>
        </p:nvSpPr>
        <p:spPr/>
        <p:txBody>
          <a:bodyPr>
            <a:normAutofit/>
          </a:bodyPr>
          <a:lstStyle/>
          <a:p>
            <a:r>
              <a:rPr lang="en-US" dirty="0" smtClean="0"/>
              <a:t>It </a:t>
            </a:r>
            <a:r>
              <a:rPr lang="en-US" dirty="0"/>
              <a:t>is a scientific and systematic way to solve research problems.  </a:t>
            </a:r>
            <a:endParaRPr lang="en-US" dirty="0" smtClean="0"/>
          </a:p>
          <a:p>
            <a:r>
              <a:rPr lang="en-US" dirty="0" smtClean="0"/>
              <a:t>Methodology </a:t>
            </a:r>
            <a:r>
              <a:rPr lang="en-US" dirty="0"/>
              <a:t>is normally applied alongside the methods and techniques.  The scope of research methodology is wider than research methods</a:t>
            </a:r>
            <a:r>
              <a:rPr lang="en-US" dirty="0" smtClean="0"/>
              <a:t>.</a:t>
            </a:r>
            <a:endParaRPr lang="en-US" dirty="0" smtClean="0"/>
          </a:p>
          <a:p>
            <a:r>
              <a:rPr lang="en-US" dirty="0" smtClean="0"/>
              <a:t>  </a:t>
            </a:r>
            <a:r>
              <a:rPr lang="en-US" dirty="0"/>
              <a:t>Research methodology deals with the research methods and takes into consideration the logic behind the methods.</a:t>
            </a:r>
            <a:endParaRPr lang="en-US" dirty="0"/>
          </a:p>
          <a:p>
            <a:endParaRPr lang="en-GB"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RESEARCH METHODS</a:t>
            </a:r>
            <a:br>
              <a:rPr lang="en-US" dirty="0" smtClean="0"/>
            </a:br>
            <a:endParaRPr lang="en-GB" dirty="0"/>
          </a:p>
        </p:txBody>
      </p:sp>
      <p:sp>
        <p:nvSpPr>
          <p:cNvPr id="3" name="Content Placeholder 2"/>
          <p:cNvSpPr>
            <a:spLocks noGrp="1"/>
          </p:cNvSpPr>
          <p:nvPr>
            <p:ph idx="1"/>
          </p:nvPr>
        </p:nvSpPr>
        <p:spPr/>
        <p:txBody>
          <a:bodyPr>
            <a:normAutofit/>
          </a:bodyPr>
          <a:lstStyle/>
          <a:p>
            <a:pPr marL="0" indent="0">
              <a:buNone/>
            </a:pPr>
            <a:endParaRPr lang="en-US" dirty="0"/>
          </a:p>
          <a:p>
            <a:pPr lvl="0"/>
            <a:r>
              <a:rPr lang="en-US" dirty="0"/>
              <a:t>Research methods are the methods/techniques (tools) that are used for conclusion.  They are </a:t>
            </a:r>
            <a:r>
              <a:rPr lang="en-US" dirty="0" smtClean="0"/>
              <a:t>actually approaches/tools </a:t>
            </a:r>
            <a:r>
              <a:rPr lang="en-US" dirty="0"/>
              <a:t>for conducting research</a:t>
            </a:r>
            <a:r>
              <a:rPr lang="en-US" dirty="0" smtClean="0"/>
              <a:t>.</a:t>
            </a:r>
            <a:endParaRPr lang="en-US" dirty="0"/>
          </a:p>
          <a:p>
            <a:pPr lvl="0"/>
            <a:r>
              <a:rPr lang="en-US" dirty="0"/>
              <a:t>Examples of research methods can be divided into various categories:</a:t>
            </a:r>
            <a:endParaRPr lang="en-US" dirty="0"/>
          </a:p>
          <a:p>
            <a:pPr marL="514350" lvl="0" indent="-514350">
              <a:buFont typeface="+mj-lt"/>
              <a:buAutoNum type="arabicPeriod"/>
            </a:pPr>
            <a:r>
              <a:rPr lang="en-US" dirty="0"/>
              <a:t>Desk research</a:t>
            </a:r>
            <a:endParaRPr lang="en-US" dirty="0"/>
          </a:p>
          <a:p>
            <a:pPr marL="514350" lvl="0" indent="-514350">
              <a:buFont typeface="+mj-lt"/>
              <a:buAutoNum type="arabicPeriod"/>
            </a:pPr>
            <a:r>
              <a:rPr lang="en-US" dirty="0"/>
              <a:t>Field research</a:t>
            </a:r>
            <a:endParaRPr lang="en-US" dirty="0"/>
          </a:p>
          <a:p>
            <a:pPr marL="514350" lvl="0" indent="-514350">
              <a:buFont typeface="+mj-lt"/>
              <a:buAutoNum type="arabicPeriod"/>
            </a:pPr>
            <a:r>
              <a:rPr lang="en-US" dirty="0"/>
              <a:t>Laboratory research</a:t>
            </a:r>
            <a:endParaRPr lang="en-US" dirty="0"/>
          </a:p>
          <a:p>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lstStyle/>
          <a:p>
            <a:r>
              <a:rPr lang="en-US" b="1" dirty="0"/>
              <a:t>Objectivity</a:t>
            </a:r>
            <a:r>
              <a:rPr lang="en-US" dirty="0"/>
              <a:t> – It means that conclusions drawn through the interpretation of the results of data analysis should be objective </a:t>
            </a:r>
            <a:r>
              <a:rPr lang="en-US" dirty="0" err="1"/>
              <a:t>i.e</a:t>
            </a:r>
            <a:r>
              <a:rPr lang="en-US" dirty="0"/>
              <a:t> they should be based on the facts of the findings derived from the actual data and not on subjective or emotional values.  A good research should thus be able to answer the research questions</a:t>
            </a:r>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lstStyle/>
          <a:p>
            <a:r>
              <a:rPr lang="en-US" b="1" dirty="0" err="1"/>
              <a:t>Generalisability</a:t>
            </a:r>
            <a:r>
              <a:rPr lang="en-US" dirty="0"/>
              <a:t> – Research finding in one organizational setting should be able to be applied across the board for similar organizations across the board.  Normally the wider the applicability of research findings, the more useful the research.  For example if research finding in a certain industry shows increased incomes</a:t>
            </a:r>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lstStyle/>
          <a:p>
            <a:r>
              <a:rPr lang="en-US" b="1" dirty="0"/>
              <a:t>Applicability</a:t>
            </a:r>
            <a:r>
              <a:rPr lang="en-US" dirty="0"/>
              <a:t> – A researcher should obtain almost similar results by using an identical methodology by conducting investigation on a population having characteristics identical to the one in the earlier study.</a:t>
            </a:r>
            <a:endParaRPr lang="en-US" dirty="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lstStyle/>
          <a:p>
            <a:r>
              <a:rPr lang="en-US" b="1" dirty="0"/>
              <a:t>Systematic</a:t>
            </a:r>
            <a:r>
              <a:rPr lang="en-US" dirty="0"/>
              <a:t> – A good research study must have well planned steps/procedures </a:t>
            </a:r>
            <a:r>
              <a:rPr lang="en-US" dirty="0" err="1"/>
              <a:t>i.e</a:t>
            </a:r>
            <a:r>
              <a:rPr lang="en-US" dirty="0"/>
              <a:t> all steps must be interrelated and one step should lead to another step</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lstStyle/>
          <a:p>
            <a:r>
              <a:rPr lang="en-US" b="1" dirty="0"/>
              <a:t>Purposiveness</a:t>
            </a:r>
            <a:r>
              <a:rPr lang="en-US" dirty="0"/>
              <a:t> – A research must have a definite aim or purpose.  He should always target achieving that aim or purpose.  If for example a researcher wants to find/investigate the impact of relationship between long working hours and productivity in shoes manufacturing firm, then he should stay focused on those two issues in his research</a:t>
            </a:r>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normAutofit/>
          </a:bodyPr>
          <a:lstStyle/>
          <a:p>
            <a:r>
              <a:rPr lang="en-US" b="1" dirty="0"/>
              <a:t>Parsimony /  Sampling</a:t>
            </a:r>
            <a:r>
              <a:rPr lang="en-US" dirty="0"/>
              <a:t> – Sampling in explaining the phenomenon or problems that occur and in generating solutions for the problems is always preferred to complex research frameworks that consider an unmanageable number of factors.  For example if one/two/three factors in an organization are identified and that if changed would for example increase employee commitment by 45%, it is easier to implement this than when 10 factors are identified</a:t>
            </a:r>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r>
              <a:rPr lang="en-US" b="1" dirty="0" smtClean="0"/>
              <a:t>CHARACTERISTICS </a:t>
            </a:r>
            <a:r>
              <a:rPr lang="en-US" b="1" dirty="0"/>
              <a:t>OF SCIENTIFIC RESEARCH</a:t>
            </a:r>
            <a:br>
              <a:rPr lang="en-US" dirty="0"/>
            </a:br>
            <a:endParaRPr lang="en-GB" dirty="0"/>
          </a:p>
        </p:txBody>
      </p:sp>
      <p:sp>
        <p:nvSpPr>
          <p:cNvPr id="3" name="Content Placeholder 2"/>
          <p:cNvSpPr>
            <a:spLocks noGrp="1"/>
          </p:cNvSpPr>
          <p:nvPr>
            <p:ph idx="1"/>
          </p:nvPr>
        </p:nvSpPr>
        <p:spPr/>
        <p:txBody>
          <a:bodyPr/>
          <a:lstStyle/>
          <a:p>
            <a:r>
              <a:rPr lang="en-US" b="1" dirty="0"/>
              <a:t>Control</a:t>
            </a:r>
            <a:r>
              <a:rPr lang="en-US" dirty="0"/>
              <a:t> – A good research must be able to control all the variables.  This will require randomization.  When selecting the subjects, the sample size and the experimental treatment, this shall ensure an adequate control over the independent variables</a:t>
            </a:r>
            <a:endParaRPr lang="en-GB"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12838"/>
          </a:xfrm>
        </p:spPr>
        <p:txBody>
          <a:bodyPr>
            <a:normAutofit fontScale="90000"/>
          </a:bodyPr>
          <a:lstStyle/>
          <a:p>
            <a:br>
              <a:rPr lang="en-US" sz="3600" b="1" dirty="0" smtClean="0"/>
            </a:br>
            <a:r>
              <a:rPr lang="en-US" sz="3600" b="1" dirty="0" smtClean="0"/>
              <a:t>TENETS </a:t>
            </a:r>
            <a:r>
              <a:rPr lang="en-US" sz="3600" b="1" dirty="0"/>
              <a:t>OF SCIENTIFIC METHOD OF RESEARCH</a:t>
            </a:r>
            <a:br>
              <a:rPr lang="en-US" dirty="0"/>
            </a:br>
            <a:endParaRPr lang="en-GB" dirty="0"/>
          </a:p>
        </p:txBody>
      </p:sp>
      <p:sp>
        <p:nvSpPr>
          <p:cNvPr id="3" name="Content Placeholder 2"/>
          <p:cNvSpPr>
            <a:spLocks noGrp="1"/>
          </p:cNvSpPr>
          <p:nvPr>
            <p:ph idx="1"/>
          </p:nvPr>
        </p:nvSpPr>
        <p:spPr>
          <a:xfrm>
            <a:off x="457200" y="1295400"/>
            <a:ext cx="8229600" cy="5257800"/>
          </a:xfrm>
        </p:spPr>
        <p:txBody>
          <a:bodyPr>
            <a:normAutofit fontScale="92500"/>
          </a:bodyPr>
          <a:lstStyle/>
          <a:p>
            <a:pPr marL="514350" indent="-514350">
              <a:buFont typeface="+mj-lt"/>
              <a:buAutoNum type="arabicPeriod"/>
            </a:pPr>
            <a:r>
              <a:rPr lang="en-US" b="1" dirty="0"/>
              <a:t>Objectivity</a:t>
            </a:r>
            <a:r>
              <a:rPr lang="en-US" dirty="0"/>
              <a:t> – The scientific method should be able to classify facts accurately and carefully without any bias</a:t>
            </a:r>
            <a:r>
              <a:rPr lang="en-US" dirty="0" smtClean="0"/>
              <a:t>.</a:t>
            </a:r>
            <a:endParaRPr lang="en-US" dirty="0"/>
          </a:p>
          <a:p>
            <a:pPr marL="514350" indent="-514350">
              <a:buFont typeface="+mj-lt"/>
              <a:buAutoNum type="arabicPeriod"/>
            </a:pPr>
            <a:r>
              <a:rPr lang="en-US" b="1" dirty="0" smtClean="0"/>
              <a:t>Accuracy </a:t>
            </a:r>
            <a:r>
              <a:rPr lang="en-US" b="1" dirty="0"/>
              <a:t>of measurement</a:t>
            </a:r>
            <a:r>
              <a:rPr lang="en-US" dirty="0"/>
              <a:t> – A research should be able to make observations of their correlation and sequence which can be denied as a result of dissipation immigration and efforts of the researcher</a:t>
            </a:r>
            <a:r>
              <a:rPr lang="en-US" dirty="0" smtClean="0"/>
              <a:t>.</a:t>
            </a:r>
            <a:endParaRPr lang="en-US" dirty="0"/>
          </a:p>
          <a:p>
            <a:pPr marL="514350" indent="-514350">
              <a:buFont typeface="+mj-lt"/>
              <a:buAutoNum type="arabicPeriod"/>
            </a:pPr>
            <a:r>
              <a:rPr lang="en-US" b="1" dirty="0" smtClean="0"/>
              <a:t>Self </a:t>
            </a:r>
            <a:r>
              <a:rPr lang="en-US" b="1" dirty="0"/>
              <a:t>criticism</a:t>
            </a:r>
            <a:r>
              <a:rPr lang="en-US" dirty="0"/>
              <a:t> – Scientists/researchers should critically examine their own research as they are a group of people who are never sure that they have found the ultimate truth thus their studies are over continuous.  If researchers are completely objective, their measurements accurate and their studies exhaustive, then their results will be valid and reliable</a:t>
            </a:r>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b="1" dirty="0"/>
              <a:t>IMPORTANCE OF RESEARCH</a:t>
            </a:r>
            <a:endParaRPr lang="en-GB" dirty="0"/>
          </a:p>
        </p:txBody>
      </p:sp>
      <p:sp>
        <p:nvSpPr>
          <p:cNvPr id="3" name="Content Placeholder 2"/>
          <p:cNvSpPr>
            <a:spLocks noGrp="1"/>
          </p:cNvSpPr>
          <p:nvPr>
            <p:ph idx="1"/>
          </p:nvPr>
        </p:nvSpPr>
        <p:spPr>
          <a:xfrm>
            <a:off x="457200" y="1600200"/>
            <a:ext cx="8229600" cy="4953000"/>
          </a:xfrm>
        </p:spPr>
        <p:txBody>
          <a:bodyPr>
            <a:normAutofit fontScale="32500" lnSpcReduction="20000"/>
          </a:bodyPr>
          <a:lstStyle/>
          <a:p>
            <a:pPr lvl="1">
              <a:buFont typeface="Arial" panose="020B0604020202020204" pitchFamily="34" charset="0"/>
              <a:buChar char="•"/>
            </a:pPr>
            <a:r>
              <a:rPr lang="en-US" sz="7400" dirty="0"/>
              <a:t>It can be used in marketing research.  Marketing research entails things such as product research (suitability and design), size of market (numbers), competitive position and trends research.  Sales research (amount of sales), advertising and promotion, new product launch and product positioning.</a:t>
            </a:r>
            <a:endParaRPr lang="en-US" sz="7400" dirty="0"/>
          </a:p>
          <a:p>
            <a:pPr marL="0" indent="0">
              <a:buNone/>
            </a:pPr>
            <a:r>
              <a:rPr lang="en-US" sz="7400" dirty="0"/>
              <a:t> </a:t>
            </a:r>
            <a:endParaRPr lang="en-US" sz="7400" dirty="0"/>
          </a:p>
          <a:p>
            <a:pPr lvl="1">
              <a:buFont typeface="Arial" panose="020B0604020202020204" pitchFamily="34" charset="0"/>
              <a:buChar char="•"/>
            </a:pPr>
            <a:r>
              <a:rPr lang="en-US" sz="7400" dirty="0"/>
              <a:t>It can be used in solving planning and operational problems in a business.  Market research, operations research and motivational research when put together can help in solving various business problems.</a:t>
            </a:r>
            <a:endParaRPr lang="en-US" sz="7400" dirty="0"/>
          </a:p>
          <a:p>
            <a:pPr marL="0" indent="0">
              <a:buNone/>
            </a:pPr>
            <a:endParaRPr lang="en-US" sz="7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RESEARCH</a:t>
            </a:r>
            <a:endParaRPr lang="en-GB" dirty="0"/>
          </a:p>
        </p:txBody>
      </p:sp>
      <p:sp>
        <p:nvSpPr>
          <p:cNvPr id="3" name="Content Placeholder 2"/>
          <p:cNvSpPr>
            <a:spLocks noGrp="1"/>
          </p:cNvSpPr>
          <p:nvPr>
            <p:ph idx="1"/>
          </p:nvPr>
        </p:nvSpPr>
        <p:spPr>
          <a:xfrm>
            <a:off x="457200" y="1600200"/>
            <a:ext cx="8229600" cy="4953000"/>
          </a:xfrm>
        </p:spPr>
        <p:txBody>
          <a:bodyPr>
            <a:normAutofit fontScale="47500" lnSpcReduction="20000"/>
          </a:bodyPr>
          <a:lstStyle/>
          <a:p>
            <a:pPr marL="0" indent="0">
              <a:buNone/>
            </a:pPr>
            <a:endParaRPr lang="en-US" sz="7400" dirty="0"/>
          </a:p>
          <a:p>
            <a:pPr lvl="1">
              <a:buFont typeface="Arial" panose="020B0604020202020204" pitchFamily="34" charset="0"/>
              <a:buChar char="•"/>
            </a:pPr>
            <a:r>
              <a:rPr lang="en-US" sz="7400" dirty="0"/>
              <a:t>Government policies and decision making – the government can use statistics derived from researches to plan its development agenda and resource allocation </a:t>
            </a:r>
            <a:r>
              <a:rPr lang="en-US" sz="7400" dirty="0" err="1"/>
              <a:t>e.g</a:t>
            </a:r>
            <a:r>
              <a:rPr lang="en-US" sz="7400" dirty="0"/>
              <a:t> it can use population figures, ____ birth rates, populations and other human development indexes for planning.</a:t>
            </a:r>
            <a:endParaRPr lang="en-US" sz="7400" dirty="0"/>
          </a:p>
          <a:p>
            <a:pPr marL="0" indent="0">
              <a:buNone/>
            </a:pPr>
            <a:endParaRPr lang="en-US" sz="6200" dirty="0"/>
          </a:p>
          <a:p>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RESEARCH</a:t>
            </a:r>
            <a:endParaRPr lang="en-GB" dirty="0"/>
          </a:p>
        </p:txBody>
      </p:sp>
      <p:sp>
        <p:nvSpPr>
          <p:cNvPr id="3" name="Content Placeholder 2"/>
          <p:cNvSpPr>
            <a:spLocks noGrp="1"/>
          </p:cNvSpPr>
          <p:nvPr>
            <p:ph idx="1"/>
          </p:nvPr>
        </p:nvSpPr>
        <p:spPr/>
        <p:txBody>
          <a:bodyPr>
            <a:normAutofit fontScale="47500" lnSpcReduction="20000"/>
          </a:bodyPr>
          <a:lstStyle/>
          <a:p>
            <a:pPr marL="0" indent="0">
              <a:buNone/>
            </a:pPr>
            <a:r>
              <a:rPr lang="en-US" sz="6200" dirty="0"/>
              <a:t> </a:t>
            </a:r>
            <a:endParaRPr lang="en-US" sz="6200" dirty="0"/>
          </a:p>
          <a:p>
            <a:pPr lvl="1">
              <a:buFont typeface="Arial" panose="020B0604020202020204" pitchFamily="34" charset="0"/>
              <a:buChar char="•"/>
            </a:pPr>
            <a:r>
              <a:rPr lang="en-US" sz="6200" dirty="0"/>
              <a:t>Research in the world of science is useful in coming up in inventions and innovations in various fields </a:t>
            </a:r>
            <a:r>
              <a:rPr lang="en-US" sz="6200" dirty="0" err="1"/>
              <a:t>e.g</a:t>
            </a:r>
            <a:r>
              <a:rPr lang="en-US" sz="6200" dirty="0"/>
              <a:t> ICT, medicine, engineering, which are very useful to humanity.</a:t>
            </a:r>
            <a:endParaRPr lang="en-US" sz="6200" dirty="0"/>
          </a:p>
          <a:p>
            <a:endParaRPr lang="en-US" sz="6200" dirty="0"/>
          </a:p>
          <a:p>
            <a:pPr lvl="1">
              <a:buFont typeface="Arial" panose="020B0604020202020204" pitchFamily="34" charset="0"/>
              <a:buChar char="•"/>
            </a:pPr>
            <a:r>
              <a:rPr lang="en-US" sz="6200" dirty="0"/>
              <a:t>It enables students develop skills and knowledge in the field of information gathering, analysis and conclusions and recommendations in their academic work.</a:t>
            </a:r>
            <a:endParaRPr lang="en-US" sz="6200" dirty="0"/>
          </a:p>
          <a:p>
            <a:pPr marL="0" indent="0">
              <a:buNone/>
            </a:pPr>
            <a:endParaRPr lang="en-US" sz="62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RESEARCH</a:t>
            </a:r>
            <a:endParaRPr lang="en-GB" dirty="0"/>
          </a:p>
        </p:txBody>
      </p:sp>
      <p:sp>
        <p:nvSpPr>
          <p:cNvPr id="3" name="Content Placeholder 2"/>
          <p:cNvSpPr>
            <a:spLocks noGrp="1"/>
          </p:cNvSpPr>
          <p:nvPr>
            <p:ph idx="1"/>
          </p:nvPr>
        </p:nvSpPr>
        <p:spPr>
          <a:xfrm>
            <a:off x="457200" y="1600200"/>
            <a:ext cx="8229600" cy="4724400"/>
          </a:xfrm>
        </p:spPr>
        <p:txBody>
          <a:bodyPr>
            <a:normAutofit fontScale="40000" lnSpcReduction="20000"/>
          </a:bodyPr>
          <a:lstStyle/>
          <a:p>
            <a:pPr marL="0" indent="0">
              <a:buNone/>
            </a:pPr>
            <a:r>
              <a:rPr lang="en-US" sz="6200" dirty="0"/>
              <a:t> </a:t>
            </a:r>
            <a:endParaRPr lang="en-US" sz="6200" dirty="0"/>
          </a:p>
          <a:p>
            <a:pPr lvl="1">
              <a:buFont typeface="Arial" panose="020B0604020202020204" pitchFamily="34" charset="0"/>
              <a:buChar char="•"/>
            </a:pPr>
            <a:r>
              <a:rPr lang="en-US" sz="6200" dirty="0"/>
              <a:t>It helps philosophers and other social scientists general information seekers to come up with new theories and add onto the existing ones.</a:t>
            </a:r>
            <a:endParaRPr lang="en-US" sz="6200" dirty="0"/>
          </a:p>
          <a:p>
            <a:endParaRPr lang="en-US" sz="6200" dirty="0"/>
          </a:p>
          <a:p>
            <a:pPr lvl="1">
              <a:buFont typeface="Arial" panose="020B0604020202020204" pitchFamily="34" charset="0"/>
              <a:buChar char="•"/>
            </a:pPr>
            <a:r>
              <a:rPr lang="en-US" sz="6200" dirty="0"/>
              <a:t>It equips aspiring careers researchers with the necessary skills and knowledge.  It helps to develop disciplined thinking to observe the field objectively.  Hence those aspiring for careers in research must develop the skill of using research techniques and must thoroughly understand the logic behind them.</a:t>
            </a:r>
            <a:endParaRPr lang="en-US" sz="6200" dirty="0"/>
          </a:p>
          <a:p>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smtClean="0"/>
            </a:br>
            <a:br>
              <a:rPr lang="en-US" b="1" dirty="0"/>
            </a:br>
            <a:r>
              <a:rPr lang="en-US" b="1" dirty="0" smtClean="0"/>
              <a:t>RESEARCH PROBLEM</a:t>
            </a:r>
            <a:br>
              <a:rPr lang="en-US" dirty="0" smtClean="0"/>
            </a:br>
            <a:r>
              <a:rPr lang="en-US" dirty="0" smtClean="0"/>
              <a:t> </a:t>
            </a:r>
            <a:br>
              <a:rPr lang="en-US" dirty="0" smtClean="0"/>
            </a:br>
            <a:endParaRPr lang="en-GB" dirty="0"/>
          </a:p>
        </p:txBody>
      </p:sp>
      <p:sp>
        <p:nvSpPr>
          <p:cNvPr id="3" name="Content Placeholder 2"/>
          <p:cNvSpPr>
            <a:spLocks noGrp="1"/>
          </p:cNvSpPr>
          <p:nvPr>
            <p:ph idx="1"/>
          </p:nvPr>
        </p:nvSpPr>
        <p:spPr/>
        <p:txBody>
          <a:bodyPr>
            <a:normAutofit/>
          </a:bodyPr>
          <a:lstStyle/>
          <a:p>
            <a:pPr marL="0" indent="0">
              <a:buNone/>
            </a:pPr>
            <a:r>
              <a:rPr lang="en-US" dirty="0"/>
              <a:t>For a research problem to exist, some conditions have to be met</a:t>
            </a:r>
            <a:r>
              <a:rPr lang="en-US" dirty="0" smtClean="0"/>
              <a:t>:</a:t>
            </a:r>
            <a:endParaRPr lang="en-US" dirty="0" smtClean="0"/>
          </a:p>
          <a:p>
            <a:pPr lvl="0"/>
            <a:r>
              <a:rPr lang="en-US" dirty="0"/>
              <a:t>There must be </a:t>
            </a:r>
            <a:r>
              <a:rPr lang="en-US" dirty="0" smtClean="0"/>
              <a:t>a individual/group/organization </a:t>
            </a:r>
            <a:r>
              <a:rPr lang="en-US" dirty="0"/>
              <a:t>to whom the problem can be attributed.</a:t>
            </a:r>
            <a:endParaRPr lang="en-US" dirty="0"/>
          </a:p>
          <a:p>
            <a:pPr lvl="0"/>
            <a:r>
              <a:rPr lang="en-US" dirty="0"/>
              <a:t>There must be at </a:t>
            </a:r>
            <a:r>
              <a:rPr lang="en-US" dirty="0" smtClean="0"/>
              <a:t>least:</a:t>
            </a:r>
            <a:endParaRPr lang="en-US" dirty="0"/>
          </a:p>
          <a:p>
            <a:pPr marL="0" indent="0">
              <a:buNone/>
            </a:pPr>
            <a:endParaRPr lang="en-US" dirty="0"/>
          </a:p>
          <a:p>
            <a:pPr marL="0" indent="0">
              <a:buNone/>
            </a:pP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1.A </a:t>
            </a:r>
            <a:r>
              <a:rPr lang="en-US" dirty="0"/>
              <a:t>general statement of the problem.</a:t>
            </a:r>
            <a:br>
              <a:rPr lang="en-US" dirty="0"/>
            </a:br>
            <a:endParaRPr lang="en-GB" dirty="0"/>
          </a:p>
        </p:txBody>
      </p:sp>
      <p:sp>
        <p:nvSpPr>
          <p:cNvPr id="3" name="Content Placeholder 2"/>
          <p:cNvSpPr>
            <a:spLocks noGrp="1"/>
          </p:cNvSpPr>
          <p:nvPr>
            <p:ph idx="1"/>
          </p:nvPr>
        </p:nvSpPr>
        <p:spPr/>
        <p:txBody>
          <a:bodyPr>
            <a:normAutofit lnSpcReduction="10000"/>
          </a:bodyPr>
          <a:lstStyle/>
          <a:p>
            <a:r>
              <a:rPr lang="en-US" dirty="0"/>
              <a:t>the problem is stated in a broad/general way putting scientific or intellectual interest into consideration. </a:t>
            </a:r>
            <a:endParaRPr lang="en-US" dirty="0" smtClean="0"/>
          </a:p>
          <a:p>
            <a:r>
              <a:rPr lang="en-US" dirty="0" smtClean="0"/>
              <a:t> </a:t>
            </a:r>
            <a:r>
              <a:rPr lang="en-US" dirty="0"/>
              <a:t>A research should at this stage read thoroughly in the area of interest.  Some preliminary survey might be necessary at this stage if necessary</a:t>
            </a:r>
            <a:r>
              <a:rPr lang="en-US" dirty="0" smtClean="0"/>
              <a:t>.</a:t>
            </a:r>
            <a:endParaRPr lang="en-US" dirty="0" smtClean="0"/>
          </a:p>
          <a:p>
            <a:r>
              <a:rPr lang="en-US" dirty="0" smtClean="0"/>
              <a:t>  </a:t>
            </a:r>
            <a:r>
              <a:rPr lang="en-US" dirty="0"/>
              <a:t>The researcher can then state the problem or seek expert help.  In case there is specific guidance from an organizational authority, then the problem can be stated accordingly. </a:t>
            </a:r>
            <a:endParaRPr lang="en-US" dirty="0" smtClean="0"/>
          </a:p>
          <a:p>
            <a:r>
              <a:rPr lang="en-US" dirty="0" smtClean="0"/>
              <a:t> </a:t>
            </a:r>
            <a:r>
              <a:rPr lang="en-US" dirty="0"/>
              <a:t>At this stage, the researcher should state the problem in operational terms</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smtClean="0"/>
              <a:t>2.</a:t>
            </a:r>
            <a:r>
              <a:rPr lang="en-US" dirty="0" smtClean="0"/>
              <a:t> Understanding the nature of the problem</a:t>
            </a:r>
            <a:endParaRPr lang="en-GB" dirty="0"/>
          </a:p>
        </p:txBody>
      </p:sp>
      <p:sp>
        <p:nvSpPr>
          <p:cNvPr id="3" name="Content Placeholder 2"/>
          <p:cNvSpPr>
            <a:spLocks noGrp="1"/>
          </p:cNvSpPr>
          <p:nvPr>
            <p:ph idx="1"/>
          </p:nvPr>
        </p:nvSpPr>
        <p:spPr/>
        <p:txBody>
          <a:bodyPr>
            <a:normAutofit/>
          </a:bodyPr>
          <a:lstStyle/>
          <a:p>
            <a:r>
              <a:rPr lang="en-US" dirty="0" smtClean="0"/>
              <a:t>understanding </a:t>
            </a:r>
            <a:r>
              <a:rPr lang="en-US" dirty="0"/>
              <a:t>the origin and nature of the problem clearly.  This can be done by discussing it with the people came up/raised it in the first place. </a:t>
            </a:r>
            <a:endParaRPr lang="en-US" dirty="0" smtClean="0"/>
          </a:p>
          <a:p>
            <a:r>
              <a:rPr lang="en-US" dirty="0" smtClean="0"/>
              <a:t> </a:t>
            </a:r>
            <a:r>
              <a:rPr lang="en-US" dirty="0"/>
              <a:t>If it is the researcher who raised it then he should </a:t>
            </a:r>
            <a:r>
              <a:rPr lang="en-US" dirty="0" err="1"/>
              <a:t>analyse</a:t>
            </a:r>
            <a:r>
              <a:rPr lang="en-US" dirty="0"/>
              <a:t> what made him to raise it</a:t>
            </a:r>
            <a:r>
              <a:rPr lang="en-US" dirty="0" smtClean="0"/>
              <a:t>.</a:t>
            </a:r>
            <a:endParaRPr lang="en-US" dirty="0"/>
          </a:p>
          <a:p>
            <a:r>
              <a:rPr lang="en-US" dirty="0"/>
              <a:t>Alternatively, the researcher can discuss the problem with those who have more knowledge about the problem</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Surveying the available literature</a:t>
            </a:r>
            <a:br>
              <a:rPr lang="en-US" dirty="0" smtClean="0"/>
            </a:br>
            <a:endParaRPr lang="en-GB"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smtClean="0"/>
              <a:t>The </a:t>
            </a:r>
            <a:r>
              <a:rPr lang="en-US" dirty="0"/>
              <a:t>researcher should then move ahead and start looking at available and relevant literature.  This process is also known as literature review where researcher gods through all relevant journals, books, newspapers, articles, websites and other materials that contain information related to the problem area.  </a:t>
            </a:r>
            <a:endParaRPr lang="en-US" dirty="0" smtClean="0"/>
          </a:p>
          <a:p>
            <a:r>
              <a:rPr lang="en-US" dirty="0" smtClean="0"/>
              <a:t>This </a:t>
            </a:r>
            <a:r>
              <a:rPr lang="en-US" dirty="0"/>
              <a:t>process/stage helps a researcher know if there are certain gaps in the theories or whether the existing theories applicable to the problem under study are inconsistent with each other, or whether the findings of the different studies don’t follow a pattern consistent with the theoretical expectations </a:t>
            </a:r>
            <a:r>
              <a:rPr lang="en-US" dirty="0" err="1"/>
              <a:t>etc</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smtClean="0"/>
            </a:br>
            <a:r>
              <a:rPr lang="en-US" dirty="0" smtClean="0"/>
              <a:t>Developing ideas through discussions.</a:t>
            </a:r>
            <a:br>
              <a:rPr lang="en-US" dirty="0" smtClean="0"/>
            </a:br>
            <a:endParaRPr lang="en-GB" dirty="0"/>
          </a:p>
        </p:txBody>
      </p:sp>
      <p:sp>
        <p:nvSpPr>
          <p:cNvPr id="3" name="Content Placeholder 2"/>
          <p:cNvSpPr>
            <a:spLocks noGrp="1"/>
          </p:cNvSpPr>
          <p:nvPr>
            <p:ph idx="1"/>
          </p:nvPr>
        </p:nvSpPr>
        <p:spPr/>
        <p:txBody>
          <a:bodyPr>
            <a:normAutofit lnSpcReduction="10000"/>
          </a:bodyPr>
          <a:lstStyle/>
          <a:p>
            <a:r>
              <a:rPr lang="en-US" dirty="0" smtClean="0"/>
              <a:t>Discussions </a:t>
            </a:r>
            <a:r>
              <a:rPr lang="en-US" dirty="0"/>
              <a:t>helps in discovering new ideas and developing of different and better perceptions of the problem being looked at.  </a:t>
            </a:r>
            <a:endParaRPr lang="en-US" dirty="0" smtClean="0"/>
          </a:p>
          <a:p>
            <a:r>
              <a:rPr lang="en-US" dirty="0" smtClean="0"/>
              <a:t>It </a:t>
            </a:r>
            <a:r>
              <a:rPr lang="en-US" dirty="0"/>
              <a:t>thus advisable for the research to discuss the problem with colleagues and other experts who have enough experience in the same area.  Such people having experience are of high value to the researcher because they shed more light on the problem. </a:t>
            </a:r>
            <a:endParaRPr lang="en-US" dirty="0" smtClean="0"/>
          </a:p>
          <a:p>
            <a:r>
              <a:rPr lang="en-US" dirty="0" smtClean="0"/>
              <a:t> </a:t>
            </a:r>
            <a:r>
              <a:rPr lang="en-US" dirty="0"/>
              <a:t>They can also help in shaping the general approach to the given problem, techniques that might be used and possible solutions.</a:t>
            </a:r>
            <a:endParaRPr lang="en-US" dirty="0"/>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Rephrasing the research problem.</a:t>
            </a:r>
            <a:br>
              <a:rPr lang="en-US" dirty="0" smtClean="0"/>
            </a:br>
            <a:endParaRPr lang="en-GB" dirty="0"/>
          </a:p>
        </p:txBody>
      </p:sp>
      <p:sp>
        <p:nvSpPr>
          <p:cNvPr id="3" name="Content Placeholder 2"/>
          <p:cNvSpPr>
            <a:spLocks noGrp="1"/>
          </p:cNvSpPr>
          <p:nvPr>
            <p:ph idx="1"/>
          </p:nvPr>
        </p:nvSpPr>
        <p:spPr/>
        <p:txBody>
          <a:bodyPr/>
          <a:lstStyle/>
          <a:p>
            <a:r>
              <a:rPr lang="en-US" dirty="0" smtClean="0"/>
              <a:t>Finally</a:t>
            </a:r>
            <a:r>
              <a:rPr lang="en-US" dirty="0"/>
              <a:t>, the researcher should rephrase the problem into a working proposition.  Once the nature of the problem has been understood, rephrasing the problem should be an easy task.  </a:t>
            </a:r>
            <a:endParaRPr lang="en-US" dirty="0" smtClean="0"/>
          </a:p>
          <a:p>
            <a:r>
              <a:rPr lang="en-US" dirty="0" smtClean="0"/>
              <a:t>By </a:t>
            </a:r>
            <a:r>
              <a:rPr lang="en-US" dirty="0"/>
              <a:t>rephrasing the researcher put the research problem in a specific help in the development of a hypothesis.</a:t>
            </a:r>
            <a:endParaRPr lang="en-US" dirty="0"/>
          </a:p>
          <a:p>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a:xfrm>
            <a:off x="381000" y="304800"/>
            <a:ext cx="8229600" cy="1066800"/>
          </a:xfrm>
        </p:spPr>
        <p:txBody>
          <a:bodyPr>
            <a:normAutofit/>
          </a:bodyPr>
          <a:lstStyle/>
          <a:p>
            <a:pPr eaLnBrk="1" hangingPunct="1"/>
            <a:r>
              <a:rPr lang="en-US" sz="4000" b="1" dirty="0" smtClean="0"/>
              <a:t>Discovering the discipline of research</a:t>
            </a:r>
            <a:endParaRPr lang="en-US" sz="4000" b="1" dirty="0" smtClean="0"/>
          </a:p>
        </p:txBody>
      </p:sp>
      <p:sp>
        <p:nvSpPr>
          <p:cNvPr id="26630" name="Rectangle 3"/>
          <p:cNvSpPr>
            <a:spLocks noGrp="1" noChangeArrowheads="1"/>
          </p:cNvSpPr>
          <p:nvPr>
            <p:ph idx="1"/>
          </p:nvPr>
        </p:nvSpPr>
        <p:spPr/>
        <p:txBody>
          <a:bodyPr>
            <a:noAutofit/>
          </a:bodyPr>
          <a:lstStyle/>
          <a:p>
            <a:pPr marL="609600" indent="-609600" eaLnBrk="1" hangingPunct="1"/>
            <a:r>
              <a:rPr lang="en-US" sz="2000" dirty="0" smtClean="0"/>
              <a:t>Browsing the periodicals section in the library-research journals</a:t>
            </a:r>
            <a:endParaRPr lang="en-US" sz="2000" dirty="0" smtClean="0"/>
          </a:p>
          <a:p>
            <a:pPr marL="609600" indent="-609600" eaLnBrk="1" hangingPunct="1"/>
            <a:r>
              <a:rPr lang="en-US" sz="2000" dirty="0" smtClean="0"/>
              <a:t>Finding journals in the internet</a:t>
            </a:r>
            <a:endParaRPr lang="en-US" sz="2000" dirty="0" smtClean="0"/>
          </a:p>
          <a:p>
            <a:pPr marL="609600" indent="-609600" eaLnBrk="1" hangingPunct="1"/>
            <a:r>
              <a:rPr lang="en-US" sz="2000" dirty="0" smtClean="0"/>
              <a:t>Evaluating the research of others-juried (refereed) </a:t>
            </a:r>
            <a:r>
              <a:rPr lang="en-US" sz="2000" dirty="0" err="1" smtClean="0"/>
              <a:t>Vs</a:t>
            </a:r>
            <a:r>
              <a:rPr lang="en-US" sz="2000" dirty="0" smtClean="0"/>
              <a:t> non-juried. Juried are better. Some non-juried are good but one has to be cautious.</a:t>
            </a:r>
            <a:endParaRPr lang="en-US" sz="2000" dirty="0" smtClean="0"/>
          </a:p>
          <a:p>
            <a:pPr marL="609600" indent="-609600" eaLnBrk="1" hangingPunct="1"/>
            <a:r>
              <a:rPr lang="en-US" sz="2000" dirty="0" smtClean="0"/>
              <a:t>Benefiting from others work-</a:t>
            </a:r>
            <a:endParaRPr lang="en-US" sz="2000" dirty="0" smtClean="0"/>
          </a:p>
          <a:p>
            <a:pPr marL="609600" indent="-609600" eaLnBrk="1" hangingPunct="1">
              <a:buFont typeface="Wingdings" panose="05000000000000000000" pitchFamily="2" charset="2"/>
              <a:buAutoNum type="arabicPeriod"/>
            </a:pPr>
            <a:r>
              <a:rPr lang="en-US" sz="2000" dirty="0" smtClean="0"/>
              <a:t>keep a log of all the articles –author, title, year name of journal, volume, No. and pages</a:t>
            </a:r>
            <a:endParaRPr lang="en-US" sz="2000" dirty="0" smtClean="0"/>
          </a:p>
          <a:p>
            <a:pPr marL="609600" indent="-609600" eaLnBrk="1" hangingPunct="1">
              <a:buFont typeface="Wingdings" panose="05000000000000000000" pitchFamily="2" charset="2"/>
              <a:buAutoNum type="arabicPeriod"/>
            </a:pPr>
            <a:r>
              <a:rPr lang="en-US" sz="2000" dirty="0" smtClean="0"/>
              <a:t>Take time to consider how you can improve your own work-what do you learn or not learn from their work?</a:t>
            </a:r>
            <a:endParaRPr lang="en-US" sz="2000" dirty="0" smtClean="0"/>
          </a:p>
          <a:p>
            <a:pPr marL="609600" indent="-609600" eaLnBrk="1" hangingPunct="1">
              <a:buFont typeface="Wingdings" panose="05000000000000000000" pitchFamily="2" charset="2"/>
              <a:buAutoNum type="arabicPeriod"/>
            </a:pPr>
            <a:r>
              <a:rPr lang="en-US" sz="2000" dirty="0" smtClean="0"/>
              <a:t>Read as many journals as possible. Get used to reading and evaluating; for a researcher this is a lifelong endeavor. Always look for additional things to learn.</a:t>
            </a:r>
            <a:endParaRPr lang="en-US" sz="2000" dirty="0" smtClean="0"/>
          </a:p>
        </p:txBody>
      </p:sp>
      <p:sp>
        <p:nvSpPr>
          <p:cNvPr id="26628" name="Slide Number Placeholder 5"/>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910077A-7644-4B83-87AA-61210543C0DA}" type="slidenum">
              <a:rPr lang="en-US">
                <a:latin typeface="Arial Black" panose="020B0A04020102020204" pitchFamily="34" charset="0"/>
              </a:rPr>
            </a:fld>
            <a:endParaRPr lang="en-US">
              <a:latin typeface="Arial Black" panose="020B0A040201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a:xfrm>
            <a:off x="457200" y="609600"/>
            <a:ext cx="8229600" cy="1143000"/>
          </a:xfrm>
        </p:spPr>
        <p:txBody>
          <a:bodyPr/>
          <a:lstStyle/>
          <a:p>
            <a:pPr algn="ctr" eaLnBrk="1" hangingPunct="1"/>
            <a:r>
              <a:rPr lang="en-US" dirty="0"/>
              <a:t>C</a:t>
            </a:r>
            <a:r>
              <a:rPr lang="en-US" dirty="0" smtClean="0"/>
              <a:t>onclusion</a:t>
            </a:r>
            <a:endParaRPr lang="en-US" dirty="0" smtClean="0"/>
          </a:p>
        </p:txBody>
      </p:sp>
      <p:sp>
        <p:nvSpPr>
          <p:cNvPr id="27654" name="Rectangle 3"/>
          <p:cNvSpPr>
            <a:spLocks noGrp="1" noChangeArrowheads="1"/>
          </p:cNvSpPr>
          <p:nvPr>
            <p:ph idx="1"/>
          </p:nvPr>
        </p:nvSpPr>
        <p:spPr/>
        <p:txBody>
          <a:bodyPr/>
          <a:lstStyle/>
          <a:p>
            <a:pPr eaLnBrk="1" hangingPunct="1"/>
            <a:r>
              <a:rPr lang="en-US" sz="2400" dirty="0" smtClean="0"/>
              <a:t>Research is an academic activity and as such the term should be used in a technical sense</a:t>
            </a:r>
            <a:r>
              <a:rPr lang="en-US" sz="3600" dirty="0" smtClean="0"/>
              <a:t>. </a:t>
            </a:r>
            <a:r>
              <a:rPr lang="en-US" sz="2400" dirty="0" smtClean="0"/>
              <a:t> It comprises defining and redefining problems, formulating hypothesis or suggested solutions, collecting, organizing, and evaluating data , making deductions and reaching conclusions to determine whether they fit the formulating hypothesis.</a:t>
            </a:r>
            <a:endParaRPr lang="en-US" sz="2400" dirty="0" smtClean="0"/>
          </a:p>
          <a:p>
            <a:pPr eaLnBrk="1" hangingPunct="1">
              <a:lnSpc>
                <a:spcPct val="125000"/>
              </a:lnSpc>
            </a:pPr>
            <a:r>
              <a:rPr lang="en-US" sz="2400" dirty="0" smtClean="0"/>
              <a:t>Research is thus an original contribution to the existing stock of knowledge making for its advancement.</a:t>
            </a:r>
            <a:endParaRPr lang="en-US" sz="2400" dirty="0" smtClean="0"/>
          </a:p>
        </p:txBody>
      </p:sp>
      <p:sp>
        <p:nvSpPr>
          <p:cNvPr id="27652" name="Slide Number Placeholder 5"/>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49ED172-A64B-48EA-850A-955DC63FC557}" type="slidenum">
              <a:rPr lang="en-US">
                <a:latin typeface="Arial Black" panose="020B0A04020102020204" pitchFamily="34" charset="0"/>
              </a:rPr>
            </a:fld>
            <a:endParaRPr lang="en-US">
              <a:latin typeface="Arial Black" panose="020B0A04020102020204" pitchFamily="34" charset="0"/>
            </a:endParaRP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12586</Words>
  <Application>WPS Presentation</Application>
  <PresentationFormat>On-screen Show (4:3)</PresentationFormat>
  <Paragraphs>214</Paragraphs>
  <Slides>33</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33</vt:i4>
      </vt:variant>
    </vt:vector>
  </HeadingPairs>
  <TitlesOfParts>
    <vt:vector size="43" baseType="lpstr">
      <vt:lpstr>Arial</vt:lpstr>
      <vt:lpstr>SimSun</vt:lpstr>
      <vt:lpstr>Wingdings</vt:lpstr>
      <vt:lpstr>Wingdings 2</vt:lpstr>
      <vt:lpstr>Arial Black</vt:lpstr>
      <vt:lpstr>Constantia</vt:lpstr>
      <vt:lpstr>Calibri</vt:lpstr>
      <vt:lpstr>Microsoft YaHei</vt:lpstr>
      <vt:lpstr>Arial Unicode MS</vt:lpstr>
      <vt:lpstr>Flow</vt:lpstr>
      <vt:lpstr>Research Methodology</vt:lpstr>
      <vt:lpstr>COURSE OBJECTIVES </vt:lpstr>
      <vt:lpstr>Course Content</vt:lpstr>
      <vt:lpstr>Definition of Research </vt:lpstr>
      <vt:lpstr>Definition of Research </vt:lpstr>
      <vt:lpstr>Definition of Research </vt:lpstr>
      <vt:lpstr>Definition of Research </vt:lpstr>
      <vt:lpstr>APPLIED AND BASIC RESEARCH </vt:lpstr>
      <vt:lpstr> TYPES OF RESEARCH </vt:lpstr>
      <vt:lpstr> TYPES OF RESEARCH </vt:lpstr>
      <vt:lpstr> TYPES OF RESEARCH </vt:lpstr>
      <vt:lpstr> RESEARCH METHODOLOGY  </vt:lpstr>
      <vt:lpstr>RESEARCH METHODS </vt:lpstr>
      <vt:lpstr> CHARACTERISTICS OF SCIENTIFIC RESEARCH </vt:lpstr>
      <vt:lpstr> CHARACTERISTICS OF SCIENTIFIC RESEARCH </vt:lpstr>
      <vt:lpstr> CHARACTERISTICS OF SCIENTIFIC RESEARCH </vt:lpstr>
      <vt:lpstr> CHARACTERISTICS OF SCIENTIFIC RESEARCH </vt:lpstr>
      <vt:lpstr> CHARACTERISTICS OF SCIENTIFIC RESEARCH </vt:lpstr>
      <vt:lpstr> CHARACTERISTICS OF SCIENTIFIC RESEARCH </vt:lpstr>
      <vt:lpstr> CHARACTERISTICS OF SCIENTIFIC RESEARCH </vt:lpstr>
      <vt:lpstr> TENETS OF SCIENTIFIC METHOD OF RESEARCH </vt:lpstr>
      <vt:lpstr>IMPORTANCE OF RESEARCH</vt:lpstr>
      <vt:lpstr>IMPORTANCE OF RESEARCH</vt:lpstr>
      <vt:lpstr>IMPORTANCE OF RESEARCH</vt:lpstr>
      <vt:lpstr>IMPORTANCE OF RESEARCH</vt:lpstr>
      <vt:lpstr>  RESEARCH PROBLEM   </vt:lpstr>
      <vt:lpstr>1.A general statement of the problem. </vt:lpstr>
      <vt:lpstr>2. Understanding the nature of the problem</vt:lpstr>
      <vt:lpstr>3. Surveying the available literature </vt:lpstr>
      <vt:lpstr> Developing ideas through discussions. </vt:lpstr>
      <vt:lpstr>Rephrasing the research problem. </vt:lpstr>
      <vt:lpstr>Discovering the discipline of research</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dc:title>
  <dc:creator>WINNIE</dc:creator>
  <cp:lastModifiedBy>GLADYS</cp:lastModifiedBy>
  <cp:revision>15</cp:revision>
  <dcterms:created xsi:type="dcterms:W3CDTF">2014-06-02T15:31:00Z</dcterms:created>
  <dcterms:modified xsi:type="dcterms:W3CDTF">2025-09-22T20:31:29Z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C44E2E75A59248808F5EEE7392C57D7C_12</vt:lpwstr>
  </property>
  <property fmtid="{D5CDD505-2E9C-101B-9397-08002B2CF9AE}" pid="3" name="KSOProductBuildVer">
    <vt:lpwstr>1033-12.2.0.22549</vt:lpwstr>
  </property>
</Properties>
</file>