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2"/>
  </p:notesMasterIdLst>
  <p:sldIdLst>
    <p:sldId id="302" r:id="rId3"/>
    <p:sldId id="258" r:id="rId4"/>
    <p:sldId id="285" r:id="rId5"/>
    <p:sldId id="269" r:id="rId6"/>
    <p:sldId id="259" r:id="rId7"/>
    <p:sldId id="277" r:id="rId8"/>
    <p:sldId id="278" r:id="rId9"/>
    <p:sldId id="301" r:id="rId10"/>
    <p:sldId id="279" r:id="rId11"/>
    <p:sldId id="300" r:id="rId12"/>
    <p:sldId id="280" r:id="rId13"/>
    <p:sldId id="281" r:id="rId14"/>
    <p:sldId id="282" r:id="rId15"/>
    <p:sldId id="283" r:id="rId16"/>
    <p:sldId id="284" r:id="rId17"/>
    <p:sldId id="286" r:id="rId18"/>
    <p:sldId id="287" r:id="rId19"/>
    <p:sldId id="288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08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106E7-797E-4886-93B3-CAFE2D57BD8E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D3ED2-538D-4F33-83A4-461D9FDA262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MS PGothic" panose="020B0600070205080204" pitchFamily="-110" charset="-128"/>
            </a:endParaRPr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-110" charset="0"/>
                <a:ea typeface="MS PGothic" panose="020B0600070205080204" pitchFamily="-110" charset="-128"/>
              </a:defRPr>
            </a:lvl1pPr>
            <a:lvl2pPr marL="715645" indent="-27495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-110" charset="0"/>
                <a:ea typeface="MS PGothic" panose="020B0600070205080204" pitchFamily="-110" charset="-128"/>
              </a:defRPr>
            </a:lvl2pPr>
            <a:lvl3pPr marL="1100455" indent="-22034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-110" charset="0"/>
                <a:ea typeface="MS PGothic" panose="020B0600070205080204" pitchFamily="-110" charset="-128"/>
              </a:defRPr>
            </a:lvl3pPr>
            <a:lvl4pPr marL="1541145" indent="-22034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-110" charset="0"/>
                <a:ea typeface="MS PGothic" panose="020B0600070205080204" pitchFamily="-110" charset="-128"/>
              </a:defRPr>
            </a:lvl4pPr>
            <a:lvl5pPr marL="1981200" indent="-22034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-110" charset="0"/>
                <a:ea typeface="MS PGothic" panose="020B0600070205080204" pitchFamily="-110" charset="-128"/>
              </a:defRPr>
            </a:lvl5pPr>
            <a:lvl6pPr marL="2421255" indent="-22034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-110" charset="0"/>
                <a:ea typeface="MS PGothic" panose="020B0600070205080204" pitchFamily="-110" charset="-128"/>
              </a:defRPr>
            </a:lvl6pPr>
            <a:lvl7pPr marL="2861945" indent="-22034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-110" charset="0"/>
                <a:ea typeface="MS PGothic" panose="020B0600070205080204" pitchFamily="-110" charset="-128"/>
              </a:defRPr>
            </a:lvl7pPr>
            <a:lvl8pPr marL="3302000" indent="-22034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-110" charset="0"/>
                <a:ea typeface="MS PGothic" panose="020B0600070205080204" pitchFamily="-110" charset="-128"/>
              </a:defRPr>
            </a:lvl8pPr>
            <a:lvl9pPr marL="3742055" indent="-22034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-110" charset="0"/>
                <a:ea typeface="MS PGothic" panose="020B0600070205080204" pitchFamily="-110" charset="-128"/>
              </a:defRPr>
            </a:lvl9pPr>
          </a:lstStyle>
          <a:p>
            <a:pPr>
              <a:spcBef>
                <a:spcPct val="0"/>
              </a:spcBef>
            </a:pPr>
            <a:fld id="{B89BB758-8FA7-4143-A52D-9FF49091CBF1}" type="slidenum">
              <a:rPr lang="en-US" altLang="en-US" smtClean="0">
                <a:solidFill>
                  <a:prstClr val="black"/>
                </a:solidFill>
                <a:latin typeface="Times New Roman" panose="02020603050405020304" pitchFamily="18" charset="0"/>
              </a:rPr>
              <a:t>19</a:t>
            </a:fld>
            <a:endParaRPr lang="en-US" altLang="en-US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8A1DF-A75B-4BB2-9FBD-0F98D6000C65}" type="datetime1">
              <a:rPr lang="en-US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657413-60C4-4CAA-82CA-C9D9F19EDB7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3E10A7-430D-4C37-B10D-721623C3460C}" type="datetime1">
              <a:rPr lang="en-US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A87C71-E661-40C8-9FC5-660A22483F6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41C96-51BE-4E64-8C59-B273E4D9F917}" type="datetime1">
              <a:rPr lang="en-US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66E2B5-607D-4337-B0CB-94BDB215A48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BC406-1845-4CC2-96E0-F10E08FE5779}" type="datetime1">
              <a:rPr lang="en-US"/>
              <a:t>1/30/2026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FDA99-C5E1-4B8E-B7A2-60B652D991B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BA1720-8088-4074-BA13-7406D6241480}" type="datetime1">
              <a:rPr lang="en-US"/>
              <a:t>1/30/2026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45BCC-5E7C-4859-A3F7-B9A1CE9EB99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433778-0330-4731-B551-4F698832ED56}" type="datetime1">
              <a:rPr lang="en-US"/>
              <a:t>1/30/2026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CD1F01-6FEF-4B7B-8D40-99870C4B5B3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9E9D58-7FEC-433E-AE19-2AA064E88A20}" type="datetime1">
              <a:rPr lang="en-US"/>
              <a:t>1/30/2026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52E83-4190-4330-9575-D494C2789A9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1B1BF-F49F-4CC1-BF55-54396FA08FFE}" type="datetime1">
              <a:rPr lang="en-US"/>
              <a:t>1/30/2026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2DC5F3-20D9-433D-A92B-690FA48276B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0F2951-B80B-4589-A386-421B50524C5D}" type="datetime1">
              <a:rPr lang="en-US"/>
              <a:t>1/30/2026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1DDFF6-6B34-4C1B-BEAE-4CA951EB5A1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06306-028A-4F59-9E19-73C544EAE2CD}" type="datetime1">
              <a:rPr lang="en-US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72E394-1E9E-4F9C-A324-C0C7329F2FB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B6EC7-79E5-4F33-B489-66EC0B3129EF}" type="datetime1">
              <a:rPr lang="en-US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C558D1-423D-41D2-96C8-73E26B2C08A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1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6C064B-0B34-4880-BEDD-F1ECF3BCF13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5" name="Freeform 3"/>
            <p:cNvSpPr/>
            <p:nvPr/>
          </p:nvSpPr>
          <p:spPr bwMode="auto">
            <a:xfrm>
              <a:off x="2061" y="1707"/>
              <a:ext cx="3699" cy="2613"/>
            </a:xfrm>
            <a:custGeom>
              <a:avLst/>
              <a:gdLst/>
              <a:ahLst/>
              <a:cxnLst>
                <a:cxn ang="0">
                  <a:pos x="1523" y="2611"/>
                </a:cxn>
                <a:cxn ang="0">
                  <a:pos x="3698" y="2612"/>
                </a:cxn>
                <a:cxn ang="0">
                  <a:pos x="3698" y="2228"/>
                </a:cxn>
                <a:cxn ang="0">
                  <a:pos x="0" y="0"/>
                </a:cxn>
                <a:cxn ang="0">
                  <a:pos x="160" y="118"/>
                </a:cxn>
                <a:cxn ang="0">
                  <a:pos x="292" y="219"/>
                </a:cxn>
                <a:cxn ang="0">
                  <a:pos x="441" y="347"/>
                </a:cxn>
                <a:cxn ang="0">
                  <a:pos x="585" y="482"/>
                </a:cxn>
                <a:cxn ang="0">
                  <a:pos x="796" y="711"/>
                </a:cxn>
                <a:cxn ang="0">
                  <a:pos x="983" y="955"/>
                </a:cxn>
                <a:cxn ang="0">
                  <a:pos x="1119" y="1168"/>
                </a:cxn>
                <a:cxn ang="0">
                  <a:pos x="1238" y="1388"/>
                </a:cxn>
                <a:cxn ang="0">
                  <a:pos x="1331" y="1608"/>
                </a:cxn>
                <a:cxn ang="0">
                  <a:pos x="1400" y="1809"/>
                </a:cxn>
                <a:cxn ang="0">
                  <a:pos x="1447" y="1979"/>
                </a:cxn>
                <a:cxn ang="0">
                  <a:pos x="1490" y="2190"/>
                </a:cxn>
                <a:cxn ang="0">
                  <a:pos x="1511" y="2374"/>
                </a:cxn>
                <a:cxn ang="0">
                  <a:pos x="1523" y="2611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2400" b="1">
                <a:solidFill>
                  <a:srgbClr val="FFFFFF"/>
                </a:solidFill>
              </a:endParaRPr>
            </a:p>
          </p:txBody>
        </p:sp>
        <p:sp>
          <p:nvSpPr>
            <p:cNvPr id="6" name="Arc 4"/>
            <p:cNvSpPr/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T0" fmla="*/ 1 w 21600"/>
                <a:gd name="T1" fmla="*/ 0 h 21231"/>
                <a:gd name="T2" fmla="*/ 6 w 21600"/>
                <a:gd name="T3" fmla="*/ 2 h 21231"/>
                <a:gd name="T4" fmla="*/ 0 w 21600"/>
                <a:gd name="T5" fmla="*/ 2 h 212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lnTo>
                    <a:pt x="3976" y="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="1">
                <a:solidFill>
                  <a:srgbClr val="FFFFFF"/>
                </a:solidFill>
              </a:endParaRPr>
            </a:p>
          </p:txBody>
        </p:sp>
      </p:grpSp>
      <p:sp>
        <p:nvSpPr>
          <p:cNvPr id="4101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7AA75F-ADB1-4D92-81F5-DAFAB9BDA0B6}" type="slidenum">
              <a:rPr lang="en-US">
                <a:solidFill>
                  <a:srgbClr val="FFFFFF"/>
                </a:solidFill>
              </a:r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6DD716-B06F-445D-8BDA-41C3E857B2AD}" type="slidenum">
              <a:rPr lang="en-US">
                <a:solidFill>
                  <a:srgbClr val="FFFFFF"/>
                </a:solidFill>
              </a:r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8752ED-8201-4B58-8DED-8A427107F9D8}" type="slidenum">
              <a:rPr lang="en-US">
                <a:solidFill>
                  <a:srgbClr val="FFFFFF"/>
                </a:solidFill>
              </a:r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5A0B0-76C3-4761-A242-59C421FE341F}" type="slidenum">
              <a:rPr lang="en-US">
                <a:solidFill>
                  <a:srgbClr val="FFFFFF"/>
                </a:solidFill>
              </a:r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EF45D9-240D-4ADB-8E7B-8ADC7020DD9E}" type="slidenum">
              <a:rPr lang="en-US">
                <a:solidFill>
                  <a:srgbClr val="FFFFFF"/>
                </a:solidFill>
              </a:r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FD6342-C6C0-4259-8BA3-B456E717AB78}" type="slidenum">
              <a:rPr lang="en-US">
                <a:solidFill>
                  <a:srgbClr val="FFFFFF"/>
                </a:solidFill>
              </a:r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48BC40-4F1E-4983-B2A0-57160069DB5C}" type="slidenum">
              <a:rPr lang="en-US">
                <a:solidFill>
                  <a:srgbClr val="FFFFFF"/>
                </a:solidFill>
              </a:r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C3F9DB-EFDE-4642-9874-D5BB3CF7FE79}" type="slidenum">
              <a:rPr lang="en-US">
                <a:solidFill>
                  <a:srgbClr val="FFFFFF"/>
                </a:solidFill>
              </a:r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9B9CE6-0A4F-42CB-A97F-80C1DA9F0C8A}" type="slidenum">
              <a:rPr lang="en-US">
                <a:solidFill>
                  <a:srgbClr val="FFFFFF"/>
                </a:solidFill>
              </a:r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D69F95-9C24-46C5-8B7A-A795C69365C8}" type="slidenum">
              <a:rPr lang="en-US">
                <a:solidFill>
                  <a:srgbClr val="FFFFFF"/>
                </a:solidFill>
              </a:r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7B2855-272D-4C47-B7F7-AA90A763A761}" type="slidenum">
              <a:rPr lang="en-US">
                <a:solidFill>
                  <a:srgbClr val="FFFFFF"/>
                </a:solidFill>
              </a:r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Calibri" panose="020F0502020204030204" pitchFamily="-110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A9385024-F704-4E44-B4D8-E658D4812699}" type="datetime1">
              <a:rPr lang="en-US">
                <a:ea typeface="MS PGothic" panose="020B0600070205080204" pitchFamily="-110" charset="-128"/>
              </a:rPr>
              <a:t>1/30/2026</a:t>
            </a:fld>
            <a:endParaRPr lang="en-US">
              <a:ea typeface="MS PGothic" panose="020B0600070205080204" pitchFamily="-110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-110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4433A875-712B-4A63-8F2D-05306A0918D5}" type="slidenum">
              <a:rPr lang="en-US">
                <a:ea typeface="MS PGothic" panose="020B0600070205080204" pitchFamily="-110" charset="-128"/>
              </a:rPr>
              <a:t>‹#›</a:t>
            </a:fld>
            <a:endParaRPr lang="en-US">
              <a:ea typeface="MS PGothic" panose="020B0600070205080204" pitchFamily="-110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-110" charset="-128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-110" charset="0"/>
          <a:ea typeface="MS PGothic" panose="020B0600070205080204" pitchFamily="-110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-110" charset="0"/>
          <a:ea typeface="MS PGothic" panose="020B0600070205080204" pitchFamily="-110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-110" charset="0"/>
          <a:ea typeface="MS PGothic" panose="020B0600070205080204" pitchFamily="-110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-110" charset="0"/>
          <a:ea typeface="MS PGothic" panose="020B0600070205080204" pitchFamily="-110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-110" charset="0"/>
          <a:ea typeface="MS PGothic" panose="020B0600070205080204" pitchFamily="-110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-110" charset="0"/>
          <a:ea typeface="MS PGothic" panose="020B0600070205080204" pitchFamily="-110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-110" charset="0"/>
          <a:ea typeface="MS PGothic" panose="020B0600070205080204" pitchFamily="-110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-110" charset="0"/>
          <a:ea typeface="MS PGothic" panose="020B0600070205080204" pitchFamily="-110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-110" charset="-128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-110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-110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-110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-110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"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 bwMode="auto"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3075" name="Freeform 3"/>
            <p:cNvSpPr/>
            <p:nvPr/>
          </p:nvSpPr>
          <p:spPr bwMode="auto">
            <a:xfrm>
              <a:off x="3394" y="999"/>
              <a:ext cx="2359" cy="3314"/>
            </a:xfrm>
            <a:custGeom>
              <a:avLst/>
              <a:gdLst/>
              <a:ahLst/>
              <a:cxnLst>
                <a:cxn ang="0">
                  <a:pos x="1905" y="3312"/>
                </a:cxn>
                <a:cxn ang="0">
                  <a:pos x="2358" y="3313"/>
                </a:cxn>
                <a:cxn ang="0">
                  <a:pos x="2358" y="1437"/>
                </a:cxn>
                <a:cxn ang="0">
                  <a:pos x="0" y="0"/>
                </a:cxn>
                <a:cxn ang="0">
                  <a:pos x="201" y="150"/>
                </a:cxn>
                <a:cxn ang="0">
                  <a:pos x="366" y="279"/>
                </a:cxn>
                <a:cxn ang="0">
                  <a:pos x="552" y="441"/>
                </a:cxn>
                <a:cxn ang="0">
                  <a:pos x="732" y="612"/>
                </a:cxn>
                <a:cxn ang="0">
                  <a:pos x="996" y="903"/>
                </a:cxn>
                <a:cxn ang="0">
                  <a:pos x="1230" y="1212"/>
                </a:cxn>
                <a:cxn ang="0">
                  <a:pos x="1400" y="1482"/>
                </a:cxn>
                <a:cxn ang="0">
                  <a:pos x="1548" y="1761"/>
                </a:cxn>
                <a:cxn ang="0">
                  <a:pos x="1665" y="2040"/>
                </a:cxn>
                <a:cxn ang="0">
                  <a:pos x="1751" y="2295"/>
                </a:cxn>
                <a:cxn ang="0">
                  <a:pos x="1809" y="2511"/>
                </a:cxn>
                <a:cxn ang="0">
                  <a:pos x="1863" y="2778"/>
                </a:cxn>
                <a:cxn ang="0">
                  <a:pos x="1890" y="3012"/>
                </a:cxn>
                <a:cxn ang="0">
                  <a:pos x="1905" y="3312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2400" b="1">
                <a:solidFill>
                  <a:srgbClr val="FFFFFF"/>
                </a:solidFill>
              </a:endParaRPr>
            </a:p>
          </p:txBody>
        </p:sp>
        <p:sp>
          <p:nvSpPr>
            <p:cNvPr id="1033" name="Arc 4"/>
            <p:cNvSpPr/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T0" fmla="*/ 0 w 21600"/>
                <a:gd name="T1" fmla="*/ 0 h 21600"/>
                <a:gd name="T2" fmla="*/ 19 w 21600"/>
                <a:gd name="T3" fmla="*/ 7 h 21600"/>
                <a:gd name="T4" fmla="*/ 0 w 21600"/>
                <a:gd name="T5" fmla="*/ 7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="1">
                <a:solidFill>
                  <a:srgbClr val="FFFFFF"/>
                </a:solidFill>
              </a:endParaRPr>
            </a:p>
          </p:txBody>
        </p:sp>
      </p:grpSp>
      <p:sp>
        <p:nvSpPr>
          <p:cNvPr id="307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eaLnBrk="1" hangingPunct="1">
              <a:defRPr sz="1400" b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ctr" eaLnBrk="1" hangingPunct="1">
              <a:defRPr sz="1400" b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r" eaLnBrk="1" hangingPunct="1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4DF84A1-A211-4875-9097-CF8D31A84F8D}" type="slidenum">
              <a:rPr lang="en-US">
                <a:solidFill>
                  <a:srgbClr val="FFFFFF"/>
                </a:solidFill>
              </a:r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1031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Times New Roman" panose="02020603050405020304" pitchFamily="18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Times New Roman" panose="02020603050405020304" pitchFamily="18" charset="0"/>
          <a:cs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Times New Roman" panose="02020603050405020304" pitchFamily="18" charset="0"/>
          <a:cs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Times New Roman" panose="02020603050405020304" pitchFamily="18" charset="0"/>
          <a:cs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Times New Roman" panose="02020603050405020304" pitchFamily="18" charset="0"/>
          <a:cs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Times New Roman" panose="02020603050405020304" pitchFamily="18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sz="2800">
          <a:solidFill>
            <a:schemeClr val="tx1"/>
          </a:solidFill>
          <a:latin typeface="+mn-lt"/>
          <a:ea typeface="Times New Roman" panose="02020603050405020304" pitchFamily="18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  <a:ea typeface="Times New Roman" panose="02020603050405020304" pitchFamily="18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  <a:ea typeface="Times New Roman" panose="02020603050405020304" pitchFamily="18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  <a:ea typeface="Times New Roman" panose="02020603050405020304" pitchFamily="18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DF6CD-A5EA-440F-8316-CBCBC915B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2400"/>
            <a:ext cx="7467600" cy="841375"/>
          </a:xfrm>
        </p:spPr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4C3DB-A18B-46A8-8A9E-83C3D5D503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2600" y="1828800"/>
            <a:ext cx="6400800" cy="17526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Discuss five characteristics of an information literate learner and illustrate each with an example</a:t>
            </a:r>
          </a:p>
        </p:txBody>
      </p:sp>
      <p:pic>
        <p:nvPicPr>
          <p:cNvPr id="1026" name="Picture 2" descr="180,800+ Students Taking Test Stock Photos, Pictures ...">
            <a:extLst>
              <a:ext uri="{FF2B5EF4-FFF2-40B4-BE49-F238E27FC236}">
                <a16:creationId xmlns:a16="http://schemas.microsoft.com/office/drawing/2014/main" id="{1584CC54-FABD-41BD-AB6B-A0F07534B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3429000"/>
            <a:ext cx="5829300" cy="316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340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1341438" y="265113"/>
            <a:ext cx="7802562" cy="549275"/>
          </a:xfrm>
        </p:spPr>
        <p:txBody>
          <a:bodyPr/>
          <a:lstStyle/>
          <a:p>
            <a:br>
              <a:rPr lang="en-US" b="1" dirty="0"/>
            </a:br>
            <a:br>
              <a:rPr lang="en-US" b="1" dirty="0"/>
            </a:br>
            <a:r>
              <a:rPr lang="en-US" sz="3600" b="1" dirty="0"/>
              <a:t>Information Literacy Core Standards</a:t>
            </a:r>
            <a:r>
              <a:rPr lang="en-US" sz="2400" b="1" dirty="0"/>
              <a:t> </a:t>
            </a:r>
            <a:r>
              <a:rPr lang="en-US" sz="2800" b="1" dirty="0">
                <a:latin typeface="Arial Black" panose="020B0A04020102020204" pitchFamily="34" charset="0"/>
              </a:rPr>
              <a:t> </a:t>
            </a:r>
            <a:br>
              <a:rPr lang="en-US" sz="2800" b="1" dirty="0">
                <a:latin typeface="Arial Black" panose="020B0A04020102020204" pitchFamily="34" charset="0"/>
              </a:rPr>
            </a:br>
            <a:br>
              <a:rPr lang="en-US" sz="2400" b="1" dirty="0"/>
            </a:br>
            <a:br>
              <a:rPr lang="en-US" sz="2400" b="1" dirty="0"/>
            </a:br>
            <a:endParaRPr lang="en-US" dirty="0"/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1341438" y="1076325"/>
            <a:ext cx="7802562" cy="54864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sz="2400" dirty="0">
                <a:latin typeface="Californian FB" panose="0207040306080B030204" pitchFamily="18" charset="0"/>
              </a:rPr>
              <a:t>According to Australian and New Zealand Information Literacy framework : principles, standards and framework (2004), an information literate person does the following:</a:t>
            </a:r>
          </a:p>
          <a:p>
            <a:pPr marL="457200" indent="-457200">
              <a:buFontTx/>
              <a:buAutoNum type="arabicPeriod"/>
              <a:defRPr/>
            </a:pPr>
            <a:r>
              <a:rPr lang="en-US" sz="2400" dirty="0">
                <a:latin typeface="Californian FB" panose="0207040306080B030204" pitchFamily="18" charset="0"/>
              </a:rPr>
              <a:t>Recognizes the need for information and determines the nature and extent of the information needed;</a:t>
            </a:r>
          </a:p>
          <a:p>
            <a:pPr marL="1371600" lvl="2" indent="-45720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Californian FB" panose="0207040306080B030204" pitchFamily="18" charset="0"/>
              </a:rPr>
              <a:t>Defines and articulates the information need.</a:t>
            </a:r>
          </a:p>
          <a:p>
            <a:pPr marL="1371600" lvl="2" indent="-45720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Californian FB" panose="0207040306080B030204" pitchFamily="18" charset="0"/>
              </a:rPr>
              <a:t>Understands the purpose, scope and appropriateness of a variety of information sources. </a:t>
            </a:r>
          </a:p>
          <a:p>
            <a:pPr marL="1371600" lvl="2" indent="-45720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Californian FB" panose="0207040306080B030204" pitchFamily="18" charset="0"/>
              </a:rPr>
              <a:t>Re- evaluates the nature and extent of the information need.</a:t>
            </a:r>
          </a:p>
          <a:p>
            <a:pPr marL="1371600" lvl="2" indent="-45720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Californian FB" panose="0207040306080B030204" pitchFamily="18" charset="0"/>
              </a:rPr>
              <a:t>Uses a variety of sources of information to inform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1341438" y="265113"/>
            <a:ext cx="7802562" cy="549275"/>
          </a:xfrm>
        </p:spPr>
        <p:txBody>
          <a:bodyPr/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 </a:t>
            </a:r>
            <a:br>
              <a:rPr lang="en-US" sz="2800" b="1" dirty="0">
                <a:latin typeface="Arial Black" panose="020B0A04020102020204" pitchFamily="34" charset="0"/>
              </a:rPr>
            </a:br>
            <a:br>
              <a:rPr lang="en-US" sz="2400" b="1" dirty="0"/>
            </a:br>
            <a:br>
              <a:rPr lang="en-US" sz="2400" b="1" dirty="0"/>
            </a:br>
            <a:endParaRPr lang="en-US" dirty="0"/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1341438" y="1076325"/>
            <a:ext cx="7802562" cy="54864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Californian FB" panose="0207040306080B030204" pitchFamily="18" charset="0"/>
              </a:rPr>
              <a:t>2. Finds needed information effectively and efficiently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Californian FB" panose="0207040306080B030204" pitchFamily="18" charset="0"/>
              </a:rPr>
              <a:t> Selects the most appropriate methods or tools for finding information.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Californian FB" panose="0207040306080B030204" pitchFamily="18" charset="0"/>
              </a:rPr>
              <a:t>Constructs and implements effective search strategies.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Californian FB" panose="0207040306080B030204" pitchFamily="18" charset="0"/>
              </a:rPr>
              <a:t>Obtains information using appropriate methods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Californian FB" panose="0207040306080B030204" pitchFamily="18" charset="0"/>
              </a:rPr>
              <a:t>Keeps up to date with information sources, information technologies, information access tools and investigative methods.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1341438" y="152401"/>
            <a:ext cx="7802562" cy="661988"/>
          </a:xfrm>
        </p:spPr>
        <p:txBody>
          <a:bodyPr/>
          <a:lstStyle/>
          <a:p>
            <a:pPr algn="l"/>
            <a:br>
              <a:rPr lang="en-US" b="1" dirty="0"/>
            </a:br>
            <a:br>
              <a:rPr lang="en-US" b="1" dirty="0"/>
            </a:br>
            <a:r>
              <a:rPr lang="en-US" sz="2400" b="1" dirty="0"/>
              <a:t> 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1341438" y="1076325"/>
            <a:ext cx="7802562" cy="54864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Californian FB" panose="0207040306080B030204" pitchFamily="18" charset="0"/>
              </a:rPr>
              <a:t>3. Critically evaluates information and the information seeking process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Californian FB" panose="0207040306080B030204" pitchFamily="18" charset="0"/>
              </a:rPr>
              <a:t>Assesses the usefulness and relevance of the information obtained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Californian FB" panose="0207040306080B030204" pitchFamily="18" charset="0"/>
              </a:rPr>
              <a:t>Defines and applies criteria for evaluating information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Californian FB" panose="0207040306080B030204" pitchFamily="18" charset="0"/>
              </a:rPr>
              <a:t>Reflects on the information seeking process and revises search strategies as necessary</a:t>
            </a:r>
            <a:endParaRPr lang="en-US" sz="2400" dirty="0"/>
          </a:p>
          <a:p>
            <a:pPr marL="0" lvl="0" indent="0" defTabSz="914400" eaLnBrk="1" hangingPunct="1">
              <a:spcBef>
                <a:spcPct val="0"/>
              </a:spcBef>
              <a:buNone/>
            </a:pPr>
            <a:endParaRPr lang="en-US" sz="4000" dirty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1341438" y="152400"/>
            <a:ext cx="7802562" cy="762000"/>
          </a:xfrm>
        </p:spPr>
        <p:txBody>
          <a:bodyPr/>
          <a:lstStyle/>
          <a:p>
            <a:br>
              <a:rPr lang="en-US" b="1" dirty="0"/>
            </a:br>
            <a:br>
              <a:rPr lang="en-US" b="1" dirty="0"/>
            </a:br>
            <a:r>
              <a:rPr lang="en-US" sz="2400" b="1" dirty="0"/>
              <a:t> </a:t>
            </a:r>
            <a:br>
              <a:rPr lang="en-US" sz="2400" b="1" dirty="0"/>
            </a:br>
            <a:br>
              <a:rPr lang="en-US" sz="2800" b="1" dirty="0">
                <a:latin typeface="Arial Black" panose="020B0A04020102020204" pitchFamily="34" charset="0"/>
              </a:rPr>
            </a:br>
            <a:br>
              <a:rPr lang="en-US" sz="2400" b="1" dirty="0"/>
            </a:b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1341438" y="1076325"/>
            <a:ext cx="7802562" cy="54864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Californian FB" panose="0207040306080B030204" pitchFamily="18" charset="0"/>
              </a:rPr>
              <a:t>4. Manages information collected or generated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Californian FB" panose="0207040306080B030204" pitchFamily="18" charset="0"/>
              </a:rPr>
              <a:t>Records information and its sources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Californian FB" panose="0207040306080B030204" pitchFamily="18" charset="0"/>
              </a:rPr>
              <a:t>Organizes (orders/ classifies/ stores) information</a:t>
            </a:r>
          </a:p>
          <a:p>
            <a:pPr marL="0" lvl="0" indent="0" defTabSz="914400" eaLnBrk="1" hangingPunct="1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1341438" y="265113"/>
            <a:ext cx="7802562" cy="549275"/>
          </a:xfrm>
        </p:spPr>
        <p:txBody>
          <a:bodyPr/>
          <a:lstStyle/>
          <a:p>
            <a:br>
              <a:rPr lang="en-US" b="1" dirty="0"/>
            </a:br>
            <a:br>
              <a:rPr lang="en-US" b="1" dirty="0"/>
            </a:br>
            <a:r>
              <a:rPr lang="en-US" sz="2400" b="1" dirty="0"/>
              <a:t> </a:t>
            </a:r>
            <a:br>
              <a:rPr lang="en-US" sz="2800" b="1" dirty="0">
                <a:latin typeface="Arial Black" panose="020B0A04020102020204" pitchFamily="34" charset="0"/>
              </a:rPr>
            </a:br>
            <a:br>
              <a:rPr lang="en-US" sz="2400" b="1" dirty="0"/>
            </a:br>
            <a:br>
              <a:rPr lang="en-US" sz="2400" b="1" dirty="0"/>
            </a:br>
            <a:endParaRPr lang="en-US" dirty="0"/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1341438" y="1076325"/>
            <a:ext cx="7802562" cy="54864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Californian FB" panose="0207040306080B030204" pitchFamily="18" charset="0"/>
              </a:rPr>
              <a:t>5. Applies prior and new information to construct new concepts or create new understandings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Californian FB" panose="0207040306080B030204" pitchFamily="18" charset="0"/>
              </a:rPr>
              <a:t> Compares and integrates new understandings with prior knowledge to determine the value added, contradictions, or other unique characteristics of the information.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Californian FB" panose="0207040306080B030204" pitchFamily="18" charset="0"/>
              </a:rPr>
              <a:t>Communicates knowledge and new understandings effectively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1341438" y="265113"/>
            <a:ext cx="7802562" cy="549275"/>
          </a:xfrm>
        </p:spPr>
        <p:txBody>
          <a:bodyPr/>
          <a:lstStyle/>
          <a:p>
            <a:br>
              <a:rPr lang="en-US" b="1" dirty="0"/>
            </a:br>
            <a:br>
              <a:rPr lang="en-US" b="1" dirty="0"/>
            </a:br>
            <a:r>
              <a:rPr lang="en-US" sz="2400" b="1" dirty="0"/>
              <a:t> </a:t>
            </a:r>
            <a:br>
              <a:rPr lang="en-US" sz="2800" b="1" dirty="0">
                <a:latin typeface="Arial Black" panose="020B0A04020102020204" pitchFamily="34" charset="0"/>
              </a:rPr>
            </a:br>
            <a:br>
              <a:rPr lang="en-US" sz="2400" b="1" dirty="0"/>
            </a:br>
            <a:br>
              <a:rPr lang="en-US" sz="2400" b="1" dirty="0"/>
            </a:br>
            <a:endParaRPr lang="en-US" dirty="0"/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1341438" y="1076325"/>
            <a:ext cx="7802562" cy="54864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Californian FB" panose="0207040306080B030204" pitchFamily="18" charset="0"/>
              </a:rPr>
              <a:t>6. Uses information with understanding and acknowledges cultural, ethical, economic, legal, and social issues surrounding the use of information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Californian FB" panose="0207040306080B030204" pitchFamily="18" charset="0"/>
              </a:rPr>
              <a:t>Acknowledges cultural, ethical, and socioeconomic issues related to access to, and use of, information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Californian FB" panose="0207040306080B030204" pitchFamily="18" charset="0"/>
              </a:rPr>
              <a:t>Recognizes that information is underpinned by values and beliefs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Californian FB" panose="0207040306080B030204" pitchFamily="18" charset="0"/>
              </a:rPr>
              <a:t>Conforms with conventions and etiquette related to access to, and use of, information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Californian FB" panose="0207040306080B030204" pitchFamily="18" charset="0"/>
              </a:rPr>
              <a:t>Legally obtains, stores, and disseminates text, data, or sounds.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048AB-07F5-4D9E-92FD-AE615B1AF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24992-17BF-4474-8EB7-FEBDD1E9E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600200"/>
            <a:ext cx="7391400" cy="4525963"/>
          </a:xfrm>
        </p:spPr>
        <p:txBody>
          <a:bodyPr/>
          <a:lstStyle/>
          <a:p>
            <a:r>
              <a:rPr lang="en-US" sz="2000" dirty="0"/>
              <a:t>In tackling an information task, one ordinarily moves progressively through various stages and steps. Discuss. (15 Marks)</a:t>
            </a:r>
          </a:p>
        </p:txBody>
      </p:sp>
    </p:spTree>
    <p:extLst>
      <p:ext uri="{BB962C8B-B14F-4D97-AF65-F5344CB8AC3E}">
        <p14:creationId xmlns:p14="http://schemas.microsoft.com/office/powerpoint/2010/main" val="250359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1341438" y="265113"/>
            <a:ext cx="7802562" cy="549275"/>
          </a:xfrm>
        </p:spPr>
        <p:txBody>
          <a:bodyPr/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Information Task</a:t>
            </a:r>
            <a:br>
              <a:rPr lang="en-US" sz="2800" b="1" dirty="0">
                <a:latin typeface="Arial Black" panose="020B0A04020102020204" pitchFamily="34" charset="0"/>
              </a:rPr>
            </a:br>
            <a:br>
              <a:rPr lang="en-US" sz="2400" b="1" dirty="0"/>
            </a:br>
            <a:br>
              <a:rPr lang="en-US" sz="2400" b="1" dirty="0"/>
            </a:br>
            <a:endParaRPr lang="en-US" dirty="0"/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1341438" y="1076325"/>
            <a:ext cx="7802562" cy="54864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sz="2400" dirty="0">
                <a:latin typeface="Californian FB" panose="0207040306080B030204" pitchFamily="18" charset="0"/>
              </a:rPr>
              <a:t>Any job that requires the use of information.</a:t>
            </a:r>
          </a:p>
          <a:p>
            <a:pPr marL="0" indent="0">
              <a:buNone/>
              <a:defRPr/>
            </a:pPr>
            <a:endParaRPr lang="en-US" sz="2400" dirty="0">
              <a:latin typeface="Californian FB" panose="0207040306080B030204" pitchFamily="18" charset="0"/>
            </a:endParaRPr>
          </a:p>
          <a:p>
            <a:pPr marL="0" indent="0">
              <a:buNone/>
              <a:defRPr/>
            </a:pPr>
            <a:r>
              <a:rPr lang="en-US" sz="2400" b="1" dirty="0">
                <a:solidFill>
                  <a:schemeClr val="tx2">
                    <a:lumMod val="95000"/>
                    <a:lumOff val="5000"/>
                  </a:schemeClr>
                </a:solidFill>
                <a:latin typeface="Bauhaus 93" panose="04030905020B02020C02" pitchFamily="82" charset="0"/>
                <a:cs typeface="Times New Roman" panose="02020603050405020304" pitchFamily="18" charset="0"/>
              </a:rPr>
              <a:t>     Thinking skills</a:t>
            </a:r>
          </a:p>
          <a:p>
            <a:pPr marL="0" indent="0">
              <a:buNone/>
              <a:defRPr/>
            </a:pPr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  <a:cs typeface="Times New Roman" panose="02020603050405020304" pitchFamily="18" charset="0"/>
              </a:rPr>
              <a:t>You need to think when you work with information. </a:t>
            </a:r>
          </a:p>
          <a:p>
            <a:pPr>
              <a:defRPr/>
            </a:pPr>
            <a:endParaRPr lang="en-US" sz="2400" dirty="0">
              <a:solidFill>
                <a:schemeClr val="tx2">
                  <a:lumMod val="95000"/>
                  <a:lumOff val="5000"/>
                </a:schemeClr>
              </a:solidFill>
              <a:latin typeface="Californian FB" panose="0207040306080B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  <a:cs typeface="Times New Roman" panose="02020603050405020304" pitchFamily="18" charset="0"/>
              </a:rPr>
              <a:t>Thinking is a mental activity which you do purposefully.</a:t>
            </a:r>
          </a:p>
          <a:p>
            <a:pPr>
              <a:defRPr/>
            </a:pPr>
            <a:endParaRPr lang="en-US" sz="2400" dirty="0">
              <a:solidFill>
                <a:schemeClr val="tx2">
                  <a:lumMod val="95000"/>
                  <a:lumOff val="5000"/>
                </a:schemeClr>
              </a:solidFill>
              <a:latin typeface="Californian FB" panose="0207040306080B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  <a:cs typeface="Times New Roman" panose="02020603050405020304" pitchFamily="18" charset="0"/>
              </a:rPr>
              <a:t>Thinking skills (or cognitive skills) are mental activities which are related to the thinking process.</a:t>
            </a:r>
          </a:p>
          <a:p>
            <a:pPr>
              <a:defRPr/>
            </a:pPr>
            <a:endParaRPr lang="en-US" sz="2400" dirty="0">
              <a:solidFill>
                <a:schemeClr val="tx2">
                  <a:lumMod val="95000"/>
                  <a:lumOff val="5000"/>
                </a:schemeClr>
              </a:solidFill>
              <a:latin typeface="Californian FB" panose="0207040306080B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  <a:cs typeface="Times New Roman" panose="02020603050405020304" pitchFamily="18" charset="0"/>
              </a:rPr>
              <a:t>Critical thinking- high level thinking </a:t>
            </a:r>
            <a:r>
              <a:rPr lang="en-US" sz="2000" dirty="0">
                <a:solidFill>
                  <a:schemeClr val="tx2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  <a:cs typeface="Times New Roman" panose="02020603050405020304" pitchFamily="18" charset="0"/>
              </a:rPr>
              <a:t>(higher order thinking skills). </a:t>
            </a:r>
          </a:p>
          <a:p>
            <a:pPr marL="0" indent="0">
              <a:buNone/>
              <a:defRPr/>
            </a:pPr>
            <a:r>
              <a:rPr lang="en-US" sz="2000" dirty="0">
                <a:solidFill>
                  <a:schemeClr val="tx2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  <a:cs typeface="Times New Roman" panose="02020603050405020304" pitchFamily="18" charset="0"/>
              </a:rPr>
              <a:t>Critical thinking is an important part of information literacy.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6035" y="0"/>
            <a:ext cx="7818755" cy="902970"/>
          </a:xfrm>
        </p:spPr>
        <p:txBody>
          <a:bodyPr/>
          <a:lstStyle/>
          <a:p>
            <a:r>
              <a:rPr lang="en-US" sz="3200">
                <a:sym typeface="+mn-ea"/>
              </a:rPr>
              <a:t>A completed task or piece of academic writing will among others have: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5410" y="1090930"/>
            <a:ext cx="7738745" cy="5035550"/>
          </a:xfrm>
        </p:spPr>
        <p:txBody>
          <a:bodyPr/>
          <a:lstStyle/>
          <a:p>
            <a:r>
              <a:rPr lang="en-US" sz="2800"/>
              <a:t>A clear and logical line of reasoning, </a:t>
            </a:r>
          </a:p>
          <a:p>
            <a:r>
              <a:rPr lang="en-US" sz="2800"/>
              <a:t>A lack of prejudice or bias in examples, evidence and points,</a:t>
            </a:r>
          </a:p>
          <a:p>
            <a:r>
              <a:rPr lang="en-US" sz="2800"/>
              <a:t>Relevant and recent data, </a:t>
            </a:r>
          </a:p>
          <a:p>
            <a:r>
              <a:rPr lang="en-US" sz="2800"/>
              <a:t>Enough appropriate and reliable evidence,</a:t>
            </a:r>
          </a:p>
          <a:p>
            <a:r>
              <a:rPr lang="en-US" sz="2800"/>
              <a:t>Conclusions that are supported by the argument and evidence,</a:t>
            </a:r>
          </a:p>
          <a:p>
            <a:r>
              <a:rPr lang="en-US" sz="2800"/>
              <a:t>Appropriate citations and corresponding references.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1341438" y="265113"/>
            <a:ext cx="7802562" cy="549275"/>
          </a:xfrm>
        </p:spPr>
        <p:txBody>
          <a:bodyPr/>
          <a:lstStyle/>
          <a:p>
            <a:br>
              <a:rPr lang="en-US" b="1" dirty="0"/>
            </a:br>
            <a:br>
              <a:rPr lang="en-US" b="1" dirty="0"/>
            </a:br>
            <a:r>
              <a:rPr lang="en-US" sz="2400" b="1" dirty="0"/>
              <a:t> Information task</a:t>
            </a:r>
            <a:br>
              <a:rPr lang="en-US" sz="2800" b="1" dirty="0">
                <a:latin typeface="Arial Black" panose="020B0A04020102020204" pitchFamily="34" charset="0"/>
              </a:rPr>
            </a:br>
            <a:br>
              <a:rPr lang="en-US" sz="2400" b="1" dirty="0"/>
            </a:br>
            <a:br>
              <a:rPr lang="en-US" sz="2400" b="1" dirty="0"/>
            </a:br>
            <a:endParaRPr lang="en-US" dirty="0"/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1341438" y="1076325"/>
            <a:ext cx="7802562" cy="5486400"/>
          </a:xfrm>
        </p:spPr>
        <p:txBody>
          <a:bodyPr/>
          <a:lstStyle/>
          <a:p>
            <a:r>
              <a:rPr lang="en-US" sz="2400" dirty="0">
                <a:latin typeface="Californian FB" panose="0207040306080B030204" pitchFamily="18" charset="0"/>
              </a:rPr>
              <a:t>In doing an information task, you move progressively through three main stages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Californian FB" panose="0207040306080B030204" pitchFamily="18" charset="0"/>
              </a:rPr>
              <a:t>Planning stage- you plan how to do the task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Californian FB" panose="0207040306080B030204" pitchFamily="18" charset="0"/>
              </a:rPr>
              <a:t>Retrieving stage – you find the information for the task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Californian FB" panose="0207040306080B030204" pitchFamily="18" charset="0"/>
              </a:rPr>
              <a:t>Organizing stage – You work with the information to organize it in order to be able to make a decision. </a:t>
            </a:r>
          </a:p>
        </p:txBody>
      </p:sp>
      <p:cxnSp>
        <p:nvCxnSpPr>
          <p:cNvPr id="5" name="Straight Connector 4"/>
          <p:cNvCxnSpPr/>
          <p:nvPr/>
        </p:nvCxnSpPr>
        <p:spPr>
          <a:xfrm rot="10800000">
            <a:off x="2590800" y="4197515"/>
            <a:ext cx="1371600" cy="14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lbow Connector 5"/>
          <p:cNvCxnSpPr/>
          <p:nvPr/>
        </p:nvCxnSpPr>
        <p:spPr>
          <a:xfrm rot="5400000">
            <a:off x="3733800" y="2812965"/>
            <a:ext cx="1600200" cy="114300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5105400" y="2569971"/>
            <a:ext cx="1066800" cy="144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388427" y="3841062"/>
            <a:ext cx="157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5126" y="3034047"/>
            <a:ext cx="1284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76075" y="2209359"/>
            <a:ext cx="1768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Organization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1341438" y="265113"/>
            <a:ext cx="7802562" cy="549275"/>
          </a:xfrm>
        </p:spPr>
        <p:txBody>
          <a:bodyPr/>
          <a:lstStyle/>
          <a:p>
            <a:br>
              <a:rPr lang="en-US" b="1" dirty="0"/>
            </a:br>
            <a:br>
              <a:rPr lang="en-US" b="1" dirty="0"/>
            </a:br>
            <a:r>
              <a:rPr lang="en-US" sz="2400" b="1" dirty="0"/>
              <a:t> PLANNING STAGE</a:t>
            </a:r>
            <a:br>
              <a:rPr lang="en-US" sz="2800" b="1" dirty="0">
                <a:latin typeface="Arial Black" panose="020B0A04020102020204" pitchFamily="34" charset="0"/>
              </a:rPr>
            </a:br>
            <a:br>
              <a:rPr lang="en-US" sz="2400" b="1" dirty="0"/>
            </a:br>
            <a:br>
              <a:rPr lang="en-US" sz="2400" b="1" dirty="0"/>
            </a:br>
            <a:endParaRPr lang="en-US" dirty="0"/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1341438" y="1076325"/>
            <a:ext cx="7802562" cy="54864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Californian FB" panose="0207040306080B030204" pitchFamily="18" charset="0"/>
              </a:rPr>
              <a:t>This is the first step in the information task.</a:t>
            </a:r>
          </a:p>
          <a:p>
            <a:endParaRPr lang="en-US" sz="2400" dirty="0">
              <a:latin typeface="Californian FB" panose="0207040306080B0302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Californian FB" panose="0207040306080B030204" pitchFamily="18" charset="0"/>
              </a:rPr>
              <a:t>It involves thinking about what you have to do to get started. </a:t>
            </a:r>
          </a:p>
          <a:p>
            <a:endParaRPr lang="en-US" sz="2400" dirty="0">
              <a:latin typeface="Californian FB" panose="0207040306080B0302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Californian FB" panose="0207040306080B030204" pitchFamily="18" charset="0"/>
              </a:rPr>
              <a:t>You then draw a working plan for the information task.</a:t>
            </a:r>
          </a:p>
          <a:p>
            <a:endParaRPr lang="en-US" sz="2400" dirty="0">
              <a:latin typeface="Californian FB" panose="0207040306080B0302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Californian FB" panose="0207040306080B030204" pitchFamily="18" charset="0"/>
              </a:rPr>
              <a:t>The planning stage has two steps: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Californian FB" panose="0207040306080B030204" pitchFamily="18" charset="0"/>
              </a:rPr>
              <a:t>Interpreting the information task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Californian FB" panose="0207040306080B030204" pitchFamily="18" charset="0"/>
              </a:rPr>
              <a:t>Survey the information situation.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1341438" y="265113"/>
            <a:ext cx="7802562" cy="549275"/>
          </a:xfrm>
        </p:spPr>
        <p:txBody>
          <a:bodyPr/>
          <a:lstStyle/>
          <a:p>
            <a:br>
              <a:rPr lang="en-US" b="1" dirty="0"/>
            </a:br>
            <a:br>
              <a:rPr lang="en-US" b="1" dirty="0"/>
            </a:br>
            <a:r>
              <a:rPr lang="en-US" sz="2400" b="1" dirty="0"/>
              <a:t> Planning</a:t>
            </a:r>
            <a:br>
              <a:rPr lang="en-US" sz="2800" b="1" dirty="0">
                <a:latin typeface="Arial Black" panose="020B0A04020102020204" pitchFamily="34" charset="0"/>
              </a:rPr>
            </a:br>
            <a:br>
              <a:rPr lang="en-US" sz="2400" b="1" dirty="0"/>
            </a:br>
            <a:br>
              <a:rPr lang="en-US" sz="2400" b="1" dirty="0"/>
            </a:br>
            <a:endParaRPr lang="en-US" dirty="0"/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1341438" y="1076325"/>
            <a:ext cx="7802562" cy="54864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Californian FB" panose="0207040306080B030204" pitchFamily="18" charset="0"/>
              </a:rPr>
              <a:t>Step 1: Interpret the information task.</a:t>
            </a:r>
          </a:p>
          <a:p>
            <a:endParaRPr lang="en-US" sz="2400" dirty="0">
              <a:latin typeface="Californian FB" panose="0207040306080B030204" pitchFamily="18" charset="0"/>
            </a:endParaRPr>
          </a:p>
          <a:p>
            <a:r>
              <a:rPr lang="en-US" sz="2400" dirty="0">
                <a:latin typeface="Californian FB" panose="0207040306080B030204" pitchFamily="18" charset="0"/>
              </a:rPr>
              <a:t>You must have a clear understanding of what the task requires of you. You therefore interpret the task from an information point of view. </a:t>
            </a:r>
          </a:p>
          <a:p>
            <a:endParaRPr lang="en-US" sz="2400" dirty="0">
              <a:latin typeface="Californian FB" panose="0207040306080B030204" pitchFamily="18" charset="0"/>
            </a:endParaRPr>
          </a:p>
          <a:p>
            <a:r>
              <a:rPr lang="en-US" sz="2400" dirty="0">
                <a:latin typeface="Californian FB" panose="0207040306080B030204" pitchFamily="18" charset="0"/>
              </a:rPr>
              <a:t>You analyze it to tell what the task is all about and explain the scope.</a:t>
            </a:r>
          </a:p>
          <a:p>
            <a:endParaRPr lang="en-US" sz="2400" dirty="0">
              <a:latin typeface="Californian FB" panose="0207040306080B030204" pitchFamily="18" charset="0"/>
            </a:endParaRPr>
          </a:p>
          <a:p>
            <a:r>
              <a:rPr lang="en-US" sz="2400" dirty="0">
                <a:latin typeface="Californian FB" panose="0207040306080B030204" pitchFamily="18" charset="0"/>
              </a:rPr>
              <a:t>You ask yourself the following questions: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1341438" y="265113"/>
            <a:ext cx="7802562" cy="549275"/>
          </a:xfrm>
        </p:spPr>
        <p:txBody>
          <a:bodyPr/>
          <a:lstStyle/>
          <a:p>
            <a:br>
              <a:rPr lang="en-US" b="1" dirty="0"/>
            </a:br>
            <a:br>
              <a:rPr lang="en-US" b="1" dirty="0"/>
            </a:br>
            <a:r>
              <a:rPr lang="en-US" sz="2400" b="1" dirty="0"/>
              <a:t> Planning</a:t>
            </a:r>
            <a:br>
              <a:rPr lang="en-US" sz="2800" b="1" dirty="0">
                <a:latin typeface="Arial Black" panose="020B0A04020102020204" pitchFamily="34" charset="0"/>
              </a:rPr>
            </a:br>
            <a:br>
              <a:rPr lang="en-US" sz="2400" b="1" dirty="0"/>
            </a:br>
            <a:br>
              <a:rPr lang="en-US" sz="2400" b="1" dirty="0"/>
            </a:br>
            <a:endParaRPr lang="en-US" dirty="0"/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1341438" y="1076325"/>
            <a:ext cx="7802562" cy="5486400"/>
          </a:xfrm>
        </p:spPr>
        <p:txBody>
          <a:bodyPr/>
          <a:lstStyle/>
          <a:p>
            <a:pPr>
              <a:defRPr/>
            </a:pPr>
            <a:r>
              <a:rPr lang="en-US" sz="2400" b="1" u="sng" dirty="0">
                <a:latin typeface="Californian FB" panose="0207040306080B030204" pitchFamily="18" charset="0"/>
              </a:rPr>
              <a:t>Questions to ask:</a:t>
            </a:r>
          </a:p>
          <a:p>
            <a:pPr marL="457200" indent="-457200">
              <a:buFontTx/>
              <a:buAutoNum type="arabicPeriod"/>
              <a:defRPr/>
            </a:pPr>
            <a:r>
              <a:rPr lang="en-US" sz="2400" dirty="0">
                <a:solidFill>
                  <a:srgbClr val="FF0000"/>
                </a:solidFill>
                <a:latin typeface="Californian FB" panose="0207040306080B030204" pitchFamily="18" charset="0"/>
              </a:rPr>
              <a:t>What is the topic of the task? 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Californian FB" panose="0207040306080B030204" pitchFamily="18" charset="0"/>
              </a:rPr>
              <a:t>You do this by identifying keywords which represent the subject.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Californian FB" panose="0207040306080B030204" pitchFamily="18" charset="0"/>
              </a:rPr>
              <a:t>Check any unfamiliar words in dictionaries, or other reference works. You can also consult other people such as colleagues, fellow student </a:t>
            </a:r>
            <a:r>
              <a:rPr lang="en-US" sz="2400" dirty="0" err="1">
                <a:latin typeface="Californian FB" panose="0207040306080B030204" pitchFamily="18" charset="0"/>
              </a:rPr>
              <a:t>etc</a:t>
            </a:r>
            <a:r>
              <a:rPr lang="en-US" sz="2400" dirty="0">
                <a:latin typeface="Californian FB" panose="0207040306080B030204" pitchFamily="18" charset="0"/>
              </a:rPr>
              <a:t> to clarify the topic.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Californian FB" panose="0207040306080B030204" pitchFamily="18" charset="0"/>
              </a:rPr>
              <a:t>Note that sometimes there may be more than one topic, or a main topic with subsidiary topics.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1341438" y="265113"/>
            <a:ext cx="7802562" cy="549275"/>
          </a:xfrm>
        </p:spPr>
        <p:txBody>
          <a:bodyPr/>
          <a:lstStyle/>
          <a:p>
            <a:br>
              <a:rPr lang="en-US" b="1" dirty="0"/>
            </a:br>
            <a:br>
              <a:rPr lang="en-US" b="1" dirty="0"/>
            </a:br>
            <a:r>
              <a:rPr lang="en-US" sz="2400" b="1" dirty="0"/>
              <a:t> Scenario 1</a:t>
            </a:r>
            <a:br>
              <a:rPr lang="en-US" sz="2800" b="1" dirty="0">
                <a:latin typeface="Arial Black" panose="020B0A04020102020204" pitchFamily="34" charset="0"/>
              </a:rPr>
            </a:br>
            <a:br>
              <a:rPr lang="en-US" sz="2400" b="1" dirty="0"/>
            </a:br>
            <a:br>
              <a:rPr lang="en-US" sz="2400" b="1" dirty="0"/>
            </a:br>
            <a:endParaRPr lang="en-US" dirty="0"/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1341438" y="1076325"/>
            <a:ext cx="7802562" cy="5486400"/>
          </a:xfrm>
        </p:spPr>
        <p:txBody>
          <a:bodyPr/>
          <a:lstStyle/>
          <a:p>
            <a:pPr>
              <a:defRPr/>
            </a:pPr>
            <a:r>
              <a:rPr lang="en-US" sz="2400" dirty="0"/>
              <a:t>You have an assignment that reads as follows:</a:t>
            </a:r>
          </a:p>
          <a:p>
            <a:pPr>
              <a:defRPr/>
            </a:pPr>
            <a:endParaRPr lang="en-US" sz="2400" dirty="0">
              <a:latin typeface="Berlin Sans FB" panose="020E0602020502020306" pitchFamily="34" charset="0"/>
            </a:endParaRPr>
          </a:p>
          <a:p>
            <a:pPr>
              <a:defRPr/>
            </a:pPr>
            <a:r>
              <a:rPr lang="en-US" sz="2800" i="1" dirty="0">
                <a:solidFill>
                  <a:srgbClr val="FF0066"/>
                </a:solidFill>
                <a:latin typeface="Berlin Sans FB" panose="020E0602020502020306" pitchFamily="34" charset="0"/>
              </a:rPr>
              <a:t>Explain why information literacy is essential in the information age, then compare information skills with library skills.</a:t>
            </a:r>
          </a:p>
          <a:p>
            <a:pPr>
              <a:defRPr/>
            </a:pPr>
            <a:endParaRPr lang="en-US" sz="2800" i="1" dirty="0">
              <a:solidFill>
                <a:srgbClr val="FF0066"/>
              </a:solidFill>
              <a:latin typeface="Berlin Sans FB" panose="020E0602020502020306" pitchFamily="34" charset="0"/>
            </a:endParaRPr>
          </a:p>
          <a:p>
            <a:pPr>
              <a:defRPr/>
            </a:pPr>
            <a:r>
              <a:rPr lang="en-US" sz="2800" i="1" dirty="0">
                <a:latin typeface="Californian FB" panose="0207040306080B030204" pitchFamily="18" charset="0"/>
              </a:rPr>
              <a:t>What are the keywords?</a:t>
            </a:r>
          </a:p>
          <a:p>
            <a:pPr>
              <a:defRPr/>
            </a:pPr>
            <a:r>
              <a:rPr lang="en-US" sz="2800" i="1" dirty="0">
                <a:latin typeface="Californian FB" panose="0207040306080B030204" pitchFamily="18" charset="0"/>
              </a:rPr>
              <a:t>What is the topic?</a:t>
            </a:r>
          </a:p>
          <a:p>
            <a:pPr>
              <a:defRPr/>
            </a:pPr>
            <a:endParaRPr lang="en-US" sz="2400" i="1" u="sng" dirty="0">
              <a:latin typeface="Californian FB" panose="0207040306080B030204" pitchFamily="18" charset="0"/>
            </a:endParaRPr>
          </a:p>
          <a:p>
            <a:pPr>
              <a:defRPr/>
            </a:pPr>
            <a:r>
              <a:rPr lang="en-US" sz="2400" i="1" u="sng" dirty="0">
                <a:latin typeface="Californian FB" panose="0207040306080B030204" pitchFamily="18" charset="0"/>
              </a:rPr>
              <a:t>Note:</a:t>
            </a:r>
          </a:p>
          <a:p>
            <a:pPr>
              <a:defRPr/>
            </a:pPr>
            <a:r>
              <a:rPr lang="en-US" sz="2400" i="1" dirty="0">
                <a:latin typeface="Californian FB" panose="0207040306080B030204" pitchFamily="18" charset="0"/>
              </a:rPr>
              <a:t>Where you may be unsure of the main topic, treat all major keywords as main topics to start with. You can then later develop the hierarchy.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1341438" y="265113"/>
            <a:ext cx="7802562" cy="549275"/>
          </a:xfrm>
        </p:spPr>
        <p:txBody>
          <a:bodyPr/>
          <a:lstStyle/>
          <a:p>
            <a:br>
              <a:rPr lang="en-US" b="1" dirty="0"/>
            </a:br>
            <a:br>
              <a:rPr lang="en-US" b="1" dirty="0"/>
            </a:br>
            <a:r>
              <a:rPr lang="en-US" sz="2400" b="1" dirty="0"/>
              <a:t> </a:t>
            </a:r>
            <a:br>
              <a:rPr lang="en-US" sz="2800" b="1" dirty="0">
                <a:latin typeface="Arial Black" panose="020B0A04020102020204" pitchFamily="34" charset="0"/>
              </a:rPr>
            </a:br>
            <a:br>
              <a:rPr lang="en-US" sz="2400" b="1" dirty="0"/>
            </a:br>
            <a:br>
              <a:rPr lang="en-US" sz="2400" b="1" dirty="0"/>
            </a:br>
            <a:endParaRPr lang="en-US" dirty="0"/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1341438" y="1076325"/>
            <a:ext cx="7802562" cy="54864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Californian FB" panose="0207040306080B030204" pitchFamily="18" charset="0"/>
              </a:rPr>
              <a:t>2. What instructions accompany the task?</a:t>
            </a:r>
          </a:p>
          <a:p>
            <a:endParaRPr lang="en-US" sz="2400" dirty="0">
              <a:latin typeface="Californian FB" panose="0207040306080B0302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Californian FB" panose="0207040306080B030204" pitchFamily="18" charset="0"/>
              </a:rPr>
              <a:t>Here you think about what you do about the topic(s) identified above. i.e. What are you being asked to do?</a:t>
            </a:r>
          </a:p>
          <a:p>
            <a:endParaRPr lang="en-US" sz="2400" dirty="0">
              <a:latin typeface="Californian FB" panose="0207040306080B0302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Californian FB" panose="0207040306080B030204" pitchFamily="18" charset="0"/>
              </a:rPr>
              <a:t>Look at common verbs and take note of what they require you to do</a:t>
            </a:r>
          </a:p>
          <a:p>
            <a:endParaRPr lang="en-US" sz="2400" dirty="0">
              <a:latin typeface="Californian FB" panose="0207040306080B030204" pitchFamily="18" charset="0"/>
            </a:endParaRPr>
          </a:p>
          <a:p>
            <a:pPr marL="0" indent="0">
              <a:buNone/>
            </a:pPr>
            <a:r>
              <a:rPr lang="en-US" sz="2400" i="1" dirty="0">
                <a:latin typeface="Californian FB" panose="0207040306080B030204" pitchFamily="18" charset="0"/>
              </a:rPr>
              <a:t>What are the common verbs in the task above?</a:t>
            </a:r>
          </a:p>
          <a:p>
            <a:pPr marL="0" indent="0">
              <a:buNone/>
            </a:pPr>
            <a:r>
              <a:rPr lang="en-US" sz="2400" i="1" dirty="0">
                <a:latin typeface="Californian FB" panose="0207040306080B030204" pitchFamily="18" charset="0"/>
              </a:rPr>
              <a:t>What do they ask you to do?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1341438" y="265113"/>
            <a:ext cx="7802562" cy="549275"/>
          </a:xfrm>
        </p:spPr>
        <p:txBody>
          <a:bodyPr/>
          <a:lstStyle/>
          <a:p>
            <a:br>
              <a:rPr lang="en-US" b="1" dirty="0"/>
            </a:br>
            <a:br>
              <a:rPr lang="en-US" b="1" dirty="0"/>
            </a:br>
            <a:r>
              <a:rPr lang="en-US" sz="2400" b="1" dirty="0"/>
              <a:t> </a:t>
            </a:r>
            <a:br>
              <a:rPr lang="en-US" sz="2800" b="1" dirty="0">
                <a:latin typeface="Arial Black" panose="020B0A04020102020204" pitchFamily="34" charset="0"/>
              </a:rPr>
            </a:br>
            <a:br>
              <a:rPr lang="en-US" sz="2400" b="1" dirty="0"/>
            </a:br>
            <a:br>
              <a:rPr lang="en-US" sz="2400" b="1" dirty="0"/>
            </a:br>
            <a:endParaRPr lang="en-US" dirty="0"/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1341438" y="1076325"/>
            <a:ext cx="7802562" cy="54864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Californian FB" panose="0207040306080B030204" pitchFamily="18" charset="0"/>
              </a:rPr>
              <a:t>3. In what form will the completed task be presented?</a:t>
            </a:r>
          </a:p>
          <a:p>
            <a:pPr marL="0" indent="0">
              <a:buNone/>
            </a:pPr>
            <a:r>
              <a:rPr lang="en-US" sz="2400" dirty="0">
                <a:latin typeface="Californian FB" panose="0207040306080B030204" pitchFamily="18" charset="0"/>
              </a:rPr>
              <a:t> E.g. Is it an essay type assignment, a business report, a shortlist of ideas, a mind map, a poster, a cartoon strip etc.</a:t>
            </a:r>
          </a:p>
          <a:p>
            <a:endParaRPr lang="en-US" sz="2400" dirty="0">
              <a:latin typeface="Californian FB" panose="0207040306080B0302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Californian FB" panose="0207040306080B030204" pitchFamily="18" charset="0"/>
              </a:rPr>
              <a:t>The form depends on: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sz="2400" dirty="0">
                <a:latin typeface="Californian FB" panose="0207040306080B030204" pitchFamily="18" charset="0"/>
              </a:rPr>
              <a:t>The instructions accompanying the task.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sz="2400" dirty="0">
                <a:latin typeface="Californian FB" panose="0207040306080B030204" pitchFamily="18" charset="0"/>
              </a:rPr>
              <a:t>The anticipated audience of the completed task.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1341438" y="265113"/>
            <a:ext cx="7802562" cy="549275"/>
          </a:xfrm>
        </p:spPr>
        <p:txBody>
          <a:bodyPr/>
          <a:lstStyle/>
          <a:p>
            <a:br>
              <a:rPr lang="en-US" b="1" dirty="0"/>
            </a:br>
            <a:br>
              <a:rPr lang="en-US" b="1" dirty="0"/>
            </a:br>
            <a:r>
              <a:rPr lang="en-US" sz="2400" b="1" dirty="0"/>
              <a:t> </a:t>
            </a:r>
            <a:br>
              <a:rPr lang="en-US" sz="2800" b="1" dirty="0">
                <a:latin typeface="Arial Black" panose="020B0A04020102020204" pitchFamily="34" charset="0"/>
              </a:rPr>
            </a:br>
            <a:br>
              <a:rPr lang="en-US" sz="2400" b="1" dirty="0"/>
            </a:br>
            <a:br>
              <a:rPr lang="en-US" sz="2400" b="1" dirty="0"/>
            </a:br>
            <a:endParaRPr lang="en-US" dirty="0"/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1341438" y="1076325"/>
            <a:ext cx="7802562" cy="54864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sz="2400" dirty="0">
                <a:latin typeface="Californian FB" panose="0207040306080B030204" pitchFamily="18" charset="0"/>
              </a:rPr>
              <a:t>Step 2: Survey the information situation.</a:t>
            </a:r>
          </a:p>
          <a:p>
            <a:pPr>
              <a:defRPr/>
            </a:pPr>
            <a:endParaRPr lang="en-US" sz="2400" dirty="0">
              <a:latin typeface="Californian FB" panose="0207040306080B030204" pitchFamily="18" charset="0"/>
            </a:endParaRPr>
          </a:p>
          <a:p>
            <a:pPr marL="0" indent="0">
              <a:buNone/>
              <a:defRPr/>
            </a:pPr>
            <a:r>
              <a:rPr lang="en-US" sz="2400" dirty="0">
                <a:latin typeface="Californian FB" panose="0207040306080B030204" pitchFamily="18" charset="0"/>
              </a:rPr>
              <a:t>-Which are the best options for finding the information?</a:t>
            </a:r>
          </a:p>
          <a:p>
            <a:pPr marL="0" indent="0">
              <a:buNone/>
              <a:defRPr/>
            </a:pPr>
            <a:r>
              <a:rPr lang="en-US" sz="2400" dirty="0">
                <a:latin typeface="Californian FB" panose="0207040306080B030204" pitchFamily="18" charset="0"/>
              </a:rPr>
              <a:t>Questions to ask.</a:t>
            </a:r>
          </a:p>
          <a:p>
            <a:pPr marL="0" indent="0">
              <a:buNone/>
              <a:defRPr/>
            </a:pPr>
            <a:r>
              <a:rPr lang="en-US" sz="2400" dirty="0">
                <a:solidFill>
                  <a:srgbClr val="FF0000"/>
                </a:solidFill>
                <a:latin typeface="Californian FB" panose="0207040306080B030204" pitchFamily="18" charset="0"/>
              </a:rPr>
              <a:t>What information sources do I already have?</a:t>
            </a:r>
          </a:p>
          <a:p>
            <a:pPr marL="1371600" lvl="2" indent="-457200">
              <a:buFontTx/>
              <a:buChar char="-"/>
              <a:defRPr/>
            </a:pPr>
            <a:r>
              <a:rPr lang="en-US" dirty="0">
                <a:latin typeface="Californian FB" panose="0207040306080B030204" pitchFamily="18" charset="0"/>
              </a:rPr>
              <a:t>Lecture notes</a:t>
            </a:r>
          </a:p>
          <a:p>
            <a:pPr marL="1371600" lvl="2" indent="-457200">
              <a:buFontTx/>
              <a:buChar char="-"/>
              <a:defRPr/>
            </a:pPr>
            <a:r>
              <a:rPr lang="en-US" dirty="0">
                <a:latin typeface="Californian FB" panose="0207040306080B030204" pitchFamily="18" charset="0"/>
              </a:rPr>
              <a:t>Prescribed book</a:t>
            </a:r>
          </a:p>
          <a:p>
            <a:pPr marL="1371600" lvl="2" indent="-457200">
              <a:buFontTx/>
              <a:buChar char="-"/>
              <a:defRPr/>
            </a:pPr>
            <a:r>
              <a:rPr lang="en-US" dirty="0">
                <a:latin typeface="Californian FB" panose="0207040306080B030204" pitchFamily="18" charset="0"/>
              </a:rPr>
              <a:t>Reading list</a:t>
            </a:r>
          </a:p>
          <a:p>
            <a:pPr marL="0" indent="0">
              <a:buNone/>
              <a:defRPr/>
            </a:pPr>
            <a:r>
              <a:rPr lang="en-US" sz="2400" dirty="0">
                <a:solidFill>
                  <a:srgbClr val="FF0000"/>
                </a:solidFill>
                <a:latin typeface="Californian FB" panose="0207040306080B030204" pitchFamily="18" charset="0"/>
              </a:rPr>
              <a:t>What other sources could be useful?</a:t>
            </a:r>
          </a:p>
          <a:p>
            <a:pPr marL="1371600" lvl="2" indent="-457200">
              <a:buFontTx/>
              <a:buChar char="-"/>
              <a:defRPr/>
            </a:pPr>
            <a:r>
              <a:rPr lang="en-US" dirty="0">
                <a:latin typeface="Californian FB" panose="0207040306080B030204" pitchFamily="18" charset="0"/>
              </a:rPr>
              <a:t>Internet</a:t>
            </a:r>
          </a:p>
          <a:p>
            <a:pPr marL="1371600" lvl="2" indent="-457200">
              <a:buFontTx/>
              <a:buChar char="-"/>
              <a:defRPr/>
            </a:pPr>
            <a:r>
              <a:rPr lang="en-US" dirty="0">
                <a:latin typeface="Californian FB" panose="0207040306080B030204" pitchFamily="18" charset="0"/>
              </a:rPr>
              <a:t>Ready reference books from the library</a:t>
            </a:r>
          </a:p>
          <a:p>
            <a:pPr marL="0" indent="0">
              <a:buNone/>
              <a:defRPr/>
            </a:pPr>
            <a:r>
              <a:rPr lang="en-US" sz="2400" dirty="0">
                <a:solidFill>
                  <a:srgbClr val="FF0000"/>
                </a:solidFill>
                <a:latin typeface="Californian FB" panose="0207040306080B030204" pitchFamily="18" charset="0"/>
              </a:rPr>
              <a:t>In which order should these resources be researched?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ctrTitle"/>
          </p:nvPr>
        </p:nvSpPr>
        <p:spPr>
          <a:xfrm>
            <a:off x="457200" y="0"/>
            <a:ext cx="8229600" cy="6705601"/>
          </a:xfrm>
        </p:spPr>
        <p:txBody>
          <a:bodyPr>
            <a:normAutofit/>
          </a:bodyPr>
          <a:lstStyle/>
          <a:p>
            <a:pPr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2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F796461-3CD8-4D8F-988D-562E30177D8B}" type="slidenum">
              <a:rPr lang="en-US" altLang="en-US" sz="1400" smtClean="0">
                <a:solidFill>
                  <a:srgbClr val="FFFFFF"/>
                </a:solidFill>
              </a:rPr>
              <a:t>19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7200" y="1219200"/>
            <a:ext cx="8534400" cy="41755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fontAlgn="base" hangingPunct="0">
              <a:lnSpc>
                <a:spcPct val="115000"/>
              </a:lnSpc>
              <a:spcAft>
                <a:spcPts val="1000"/>
              </a:spcAft>
            </a:pPr>
            <a:endParaRPr lang="en-US" sz="2400" b="1" dirty="0">
              <a:solidFill>
                <a:srgbClr val="FFFFFF"/>
              </a:solidFill>
              <a:latin typeface="Tahoma" panose="020B0604030504040204" pitchFamily="34" charset="0"/>
              <a:ea typeface="Calibri" panose="020F0502020204030204" pitchFamily="-110" charset="0"/>
            </a:endParaRPr>
          </a:p>
          <a:p>
            <a:pPr algn="ctr" eaLnBrk="0" fontAlgn="base" hangingPunct="0">
              <a:lnSpc>
                <a:spcPct val="115000"/>
              </a:lnSpc>
              <a:spcAft>
                <a:spcPts val="1000"/>
              </a:spcAft>
            </a:pPr>
            <a:endParaRPr lang="en-US" sz="2400" b="1" dirty="0">
              <a:solidFill>
                <a:srgbClr val="FFFFFF"/>
              </a:solidFill>
              <a:latin typeface="Tahoma" panose="020B0604030504040204" pitchFamily="34" charset="0"/>
              <a:ea typeface="Calibri" panose="020F0502020204030204" pitchFamily="-110" charset="0"/>
            </a:endParaRPr>
          </a:p>
          <a:p>
            <a:pPr algn="ctr" eaLnBrk="0" fontAlgn="base" hangingPunct="0">
              <a:lnSpc>
                <a:spcPct val="115000"/>
              </a:lnSpc>
              <a:spcAft>
                <a:spcPts val="1000"/>
              </a:spcAft>
            </a:pPr>
            <a:endParaRPr lang="en-US" sz="2400" b="1" dirty="0">
              <a:solidFill>
                <a:srgbClr val="FFFFFF"/>
              </a:solidFill>
              <a:latin typeface="Tahoma" panose="020B0604030504040204" pitchFamily="34" charset="0"/>
              <a:ea typeface="Calibri" panose="020F0502020204030204" pitchFamily="-110" charset="0"/>
            </a:endParaRPr>
          </a:p>
          <a:p>
            <a:pPr algn="ctr" eaLnBrk="0" fontAlgn="base" hangingPunct="0">
              <a:lnSpc>
                <a:spcPct val="115000"/>
              </a:lnSpc>
              <a:spcAft>
                <a:spcPts val="1000"/>
              </a:spcAft>
            </a:pPr>
            <a:endParaRPr lang="en-US" sz="2400" b="1" dirty="0">
              <a:solidFill>
                <a:srgbClr val="FFFFFF"/>
              </a:solidFill>
              <a:latin typeface="Tahoma" panose="020B0604030504040204" pitchFamily="34" charset="0"/>
              <a:ea typeface="Calibri" panose="020F0502020204030204" pitchFamily="-110" charset="0"/>
            </a:endParaRPr>
          </a:p>
          <a:p>
            <a:pPr algn="ctr" eaLnBrk="0" fontAlgn="base" hangingPunct="0">
              <a:lnSpc>
                <a:spcPct val="115000"/>
              </a:lnSpc>
              <a:spcAft>
                <a:spcPts val="1000"/>
              </a:spcAft>
            </a:pPr>
            <a:endParaRPr lang="en-US" sz="2400" b="1" dirty="0">
              <a:solidFill>
                <a:srgbClr val="FFFFFF"/>
              </a:solidFill>
              <a:latin typeface="Tahoma" panose="020B0604030504040204" pitchFamily="34" charset="0"/>
              <a:ea typeface="Calibri" panose="020F0502020204030204" pitchFamily="-110" charset="0"/>
            </a:endParaRPr>
          </a:p>
          <a:p>
            <a:pPr algn="ctr" eaLnBrk="0" fontAlgn="base" hangingPunct="0">
              <a:lnSpc>
                <a:spcPct val="115000"/>
              </a:lnSpc>
              <a:spcAft>
                <a:spcPts val="1000"/>
              </a:spcAft>
            </a:pPr>
            <a:r>
              <a:rPr lang="en-US" sz="2400" b="1" dirty="0" err="1">
                <a:solidFill>
                  <a:srgbClr val="FFFFFF"/>
                </a:solidFill>
                <a:latin typeface="Tahoma" panose="020B0604030504040204" pitchFamily="34" charset="0"/>
                <a:ea typeface="Calibri" panose="020F0502020204030204" pitchFamily="-110" charset="0"/>
              </a:rPr>
              <a:t>iversity</a:t>
            </a:r>
            <a:r>
              <a:rPr lang="en-US" sz="2400" b="1" dirty="0">
                <a:solidFill>
                  <a:srgbClr val="FFFFFF"/>
                </a:solidFill>
                <a:latin typeface="Tahoma" panose="020B0604030504040204" pitchFamily="34" charset="0"/>
                <a:ea typeface="Calibri" panose="020F0502020204030204" pitchFamily="-110" charset="0"/>
              </a:rPr>
              <a:t>,</a:t>
            </a:r>
            <a:endParaRPr lang="en-US" sz="1200" b="1" dirty="0">
              <a:solidFill>
                <a:srgbClr val="FFFFFF"/>
              </a:solidFill>
              <a:latin typeface="Calibri" panose="020F0502020204030204" pitchFamily="-110" charset="0"/>
              <a:ea typeface="Calibri" panose="020F0502020204030204" pitchFamily="-110" charset="0"/>
            </a:endParaRPr>
          </a:p>
          <a:p>
            <a:pPr algn="ctr" eaLnBrk="0" fontAlgn="base" hangingPunct="0">
              <a:lnSpc>
                <a:spcPct val="115000"/>
              </a:lnSpc>
              <a:spcAft>
                <a:spcPts val="1000"/>
              </a:spcAft>
            </a:pPr>
            <a:endParaRPr lang="en-US" sz="1200" b="1" dirty="0">
              <a:solidFill>
                <a:srgbClr val="FFFFFF"/>
              </a:solidFill>
              <a:latin typeface="Calibri" panose="020F0502020204030204" pitchFamily="-110" charset="0"/>
              <a:ea typeface="Calibri" panose="020F0502020204030204" pitchFamily="-110" charset="0"/>
            </a:endParaRPr>
          </a:p>
          <a:p>
            <a:pPr algn="ctr" eaLnBrk="0" fontAlgn="base" hangingPunct="0">
              <a:lnSpc>
                <a:spcPct val="115000"/>
              </a:lnSpc>
              <a:spcAft>
                <a:spcPts val="1000"/>
              </a:spcAft>
            </a:pPr>
            <a:r>
              <a:rPr lang="en-US" sz="2400" b="1" dirty="0">
                <a:solidFill>
                  <a:srgbClr val="FFFFFF"/>
                </a:solidFill>
                <a:latin typeface="Tahoma" panose="020B0604030504040204" pitchFamily="34" charset="0"/>
                <a:ea typeface="Calibri" panose="020F0502020204030204" pitchFamily="-110" charset="0"/>
              </a:rPr>
              <a:t> </a:t>
            </a:r>
            <a:endParaRPr lang="en-US" sz="1200" b="1" dirty="0">
              <a:solidFill>
                <a:srgbClr val="FFFFFF"/>
              </a:solidFill>
              <a:latin typeface="Calibri" panose="020F0502020204030204" pitchFamily="-110" charset="0"/>
              <a:ea typeface="Calibri" panose="020F0502020204030204" pitchFamily="-110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100" y="1295400"/>
            <a:ext cx="4000500" cy="3810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1094</Words>
  <Application>Microsoft Office PowerPoint</Application>
  <PresentationFormat>On-screen Show (4:3)</PresentationFormat>
  <Paragraphs>141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MS PGothic</vt:lpstr>
      <vt:lpstr>Arial</vt:lpstr>
      <vt:lpstr>Arial Black</vt:lpstr>
      <vt:lpstr>Bauhaus 93</vt:lpstr>
      <vt:lpstr>Berlin Sans FB</vt:lpstr>
      <vt:lpstr>Calibri</vt:lpstr>
      <vt:lpstr>Californian FB</vt:lpstr>
      <vt:lpstr>Tahoma</vt:lpstr>
      <vt:lpstr>Times New Roman</vt:lpstr>
      <vt:lpstr>Wingdings</vt:lpstr>
      <vt:lpstr>1_Office Theme</vt:lpstr>
      <vt:lpstr>Soaring</vt:lpstr>
      <vt:lpstr>Question</vt:lpstr>
      <vt:lpstr>  Information Literacy Core Standards     </vt:lpstr>
      <vt:lpstr>      </vt:lpstr>
      <vt:lpstr>      </vt:lpstr>
      <vt:lpstr>       </vt:lpstr>
      <vt:lpstr>      </vt:lpstr>
      <vt:lpstr>      </vt:lpstr>
      <vt:lpstr>QUESTION</vt:lpstr>
      <vt:lpstr>  Information Task   </vt:lpstr>
      <vt:lpstr>A completed task or piece of academic writing will among others have:</vt:lpstr>
      <vt:lpstr>   Information task   </vt:lpstr>
      <vt:lpstr>   PLANNING STAGE   </vt:lpstr>
      <vt:lpstr>   Planning   </vt:lpstr>
      <vt:lpstr>   Planning   </vt:lpstr>
      <vt:lpstr>   Scenario 1   </vt:lpstr>
      <vt:lpstr>      </vt:lpstr>
      <vt:lpstr>      </vt:lpstr>
      <vt:lpstr>   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</dc:title>
  <dc:creator>Benjamin Mutungi</dc:creator>
  <cp:lastModifiedBy>Benjamin Mutungi</cp:lastModifiedBy>
  <cp:revision>76</cp:revision>
  <dcterms:created xsi:type="dcterms:W3CDTF">2012-12-05T15:17:00Z</dcterms:created>
  <dcterms:modified xsi:type="dcterms:W3CDTF">2026-01-30T14:27:23Z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4FC61B4F3DB14BC4AFA7BCB7F244E754</vt:lpwstr>
  </property>
  <property fmtid="{D5CDD505-2E9C-101B-9397-08002B2CF9AE}" pid="3" name="KSOProductBuildVer">
    <vt:lpwstr>1033-12.2.0.13201</vt:lpwstr>
  </property>
</Properties>
</file>