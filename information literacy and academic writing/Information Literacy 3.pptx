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4"/>
  </p:notesMasterIdLst>
  <p:sldIdLst>
    <p:sldId id="258" r:id="rId3"/>
    <p:sldId id="285" r:id="rId4"/>
    <p:sldId id="269" r:id="rId5"/>
    <p:sldId id="259" r:id="rId6"/>
    <p:sldId id="277" r:id="rId7"/>
    <p:sldId id="278" r:id="rId8"/>
    <p:sldId id="279" r:id="rId9"/>
    <p:sldId id="280" r:id="rId10"/>
    <p:sldId id="281" r:id="rId11"/>
    <p:sldId id="282" r:id="rId12"/>
    <p:sldId id="257" r:id="rId13"/>
    <p:sldId id="283" r:id="rId14"/>
    <p:sldId id="284" r:id="rId15"/>
    <p:sldId id="289" r:id="rId16"/>
    <p:sldId id="286" r:id="rId17"/>
    <p:sldId id="287" r:id="rId18"/>
    <p:sldId id="288" r:id="rId19"/>
    <p:sldId id="290" r:id="rId20"/>
    <p:sldId id="291" r:id="rId21"/>
    <p:sldId id="292" r:id="rId22"/>
    <p:sldId id="270"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150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1106E7-797E-4886-93B3-CAFE2D57BD8E}" type="datetimeFigureOut">
              <a:rPr lang="en-US" smtClean="0"/>
              <a:t>10/15/2025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8D3ED2-538D-4F33-83A4-461D9FDA262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MS PGothic" panose="020B0600070205080204" pitchFamily="-110" charset="-128"/>
            </a:endParaRPr>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110" charset="0"/>
                <a:ea typeface="MS PGothic" panose="020B0600070205080204" pitchFamily="-110" charset="-128"/>
              </a:defRPr>
            </a:lvl1pPr>
            <a:lvl2pPr marL="715645" indent="-274955">
              <a:spcBef>
                <a:spcPct val="30000"/>
              </a:spcBef>
              <a:defRPr sz="1200">
                <a:solidFill>
                  <a:schemeClr val="tx1"/>
                </a:solidFill>
                <a:latin typeface="Calibri" panose="020F0502020204030204" pitchFamily="-110" charset="0"/>
                <a:ea typeface="MS PGothic" panose="020B0600070205080204" pitchFamily="-110" charset="-128"/>
              </a:defRPr>
            </a:lvl2pPr>
            <a:lvl3pPr marL="1100455" indent="-220345">
              <a:spcBef>
                <a:spcPct val="30000"/>
              </a:spcBef>
              <a:defRPr sz="1200">
                <a:solidFill>
                  <a:schemeClr val="tx1"/>
                </a:solidFill>
                <a:latin typeface="Calibri" panose="020F0502020204030204" pitchFamily="-110" charset="0"/>
                <a:ea typeface="MS PGothic" panose="020B0600070205080204" pitchFamily="-110" charset="-128"/>
              </a:defRPr>
            </a:lvl3pPr>
            <a:lvl4pPr marL="1541145" indent="-220345">
              <a:spcBef>
                <a:spcPct val="30000"/>
              </a:spcBef>
              <a:defRPr sz="1200">
                <a:solidFill>
                  <a:schemeClr val="tx1"/>
                </a:solidFill>
                <a:latin typeface="Calibri" panose="020F0502020204030204" pitchFamily="-110" charset="0"/>
                <a:ea typeface="MS PGothic" panose="020B0600070205080204" pitchFamily="-110" charset="-128"/>
              </a:defRPr>
            </a:lvl4pPr>
            <a:lvl5pPr marL="1981200" indent="-220345">
              <a:spcBef>
                <a:spcPct val="30000"/>
              </a:spcBef>
              <a:defRPr sz="1200">
                <a:solidFill>
                  <a:schemeClr val="tx1"/>
                </a:solidFill>
                <a:latin typeface="Calibri" panose="020F0502020204030204" pitchFamily="-110" charset="0"/>
                <a:ea typeface="MS PGothic" panose="020B0600070205080204" pitchFamily="-110" charset="-128"/>
              </a:defRPr>
            </a:lvl5pPr>
            <a:lvl6pPr marL="2421255" indent="-220345" eaLnBrk="0" fontAlgn="base" hangingPunct="0">
              <a:spcBef>
                <a:spcPct val="30000"/>
              </a:spcBef>
              <a:spcAft>
                <a:spcPct val="0"/>
              </a:spcAft>
              <a:defRPr sz="1200">
                <a:solidFill>
                  <a:schemeClr val="tx1"/>
                </a:solidFill>
                <a:latin typeface="Calibri" panose="020F0502020204030204" pitchFamily="-110" charset="0"/>
                <a:ea typeface="MS PGothic" panose="020B0600070205080204" pitchFamily="-110" charset="-128"/>
              </a:defRPr>
            </a:lvl6pPr>
            <a:lvl7pPr marL="2861945" indent="-220345" eaLnBrk="0" fontAlgn="base" hangingPunct="0">
              <a:spcBef>
                <a:spcPct val="30000"/>
              </a:spcBef>
              <a:spcAft>
                <a:spcPct val="0"/>
              </a:spcAft>
              <a:defRPr sz="1200">
                <a:solidFill>
                  <a:schemeClr val="tx1"/>
                </a:solidFill>
                <a:latin typeface="Calibri" panose="020F0502020204030204" pitchFamily="-110" charset="0"/>
                <a:ea typeface="MS PGothic" panose="020B0600070205080204" pitchFamily="-110" charset="-128"/>
              </a:defRPr>
            </a:lvl7pPr>
            <a:lvl8pPr marL="3302000" indent="-220345" eaLnBrk="0" fontAlgn="base" hangingPunct="0">
              <a:spcBef>
                <a:spcPct val="30000"/>
              </a:spcBef>
              <a:spcAft>
                <a:spcPct val="0"/>
              </a:spcAft>
              <a:defRPr sz="1200">
                <a:solidFill>
                  <a:schemeClr val="tx1"/>
                </a:solidFill>
                <a:latin typeface="Calibri" panose="020F0502020204030204" pitchFamily="-110" charset="0"/>
                <a:ea typeface="MS PGothic" panose="020B0600070205080204" pitchFamily="-110" charset="-128"/>
              </a:defRPr>
            </a:lvl8pPr>
            <a:lvl9pPr marL="3742055" indent="-220345" eaLnBrk="0" fontAlgn="base" hangingPunct="0">
              <a:spcBef>
                <a:spcPct val="30000"/>
              </a:spcBef>
              <a:spcAft>
                <a:spcPct val="0"/>
              </a:spcAft>
              <a:defRPr sz="1200">
                <a:solidFill>
                  <a:schemeClr val="tx1"/>
                </a:solidFill>
                <a:latin typeface="Calibri" panose="020F0502020204030204" pitchFamily="-110" charset="0"/>
                <a:ea typeface="MS PGothic" panose="020B0600070205080204" pitchFamily="-110" charset="-128"/>
              </a:defRPr>
            </a:lvl9pPr>
          </a:lstStyle>
          <a:p>
            <a:pPr>
              <a:spcBef>
                <a:spcPct val="0"/>
              </a:spcBef>
            </a:pPr>
            <a:fld id="{B89BB758-8FA7-4143-A52D-9FF49091CBF1}" type="slidenum">
              <a:rPr lang="en-US" altLang="en-US" smtClean="0">
                <a:solidFill>
                  <a:prstClr val="black"/>
                </a:solidFill>
                <a:latin typeface="Times New Roman" panose="02020603050405020304" pitchFamily="18" charset="0"/>
              </a:rPr>
              <a:t>21</a:t>
            </a:fld>
            <a:endParaRPr lang="en-US" altLang="en-US">
              <a:solidFill>
                <a:prstClr val="black"/>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728A1DF-A75B-4BB2-9FBD-0F98D6000C65}" type="datetime1">
              <a:rPr lang="en-US"/>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2657413-60C4-4CAA-82CA-C9D9F19EDB71}"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13E10A7-430D-4C37-B10D-721623C3460C}" type="datetime1">
              <a:rPr lang="en-US"/>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CA87C71-E661-40C8-9FC5-660A22483F67}"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7A41C96-51BE-4E64-8C59-B273E4D9F917}" type="datetime1">
              <a:rPr lang="en-US"/>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B66E2B5-607D-4337-B0CB-94BDB215A48A}"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B2BC406-1845-4CC2-96E0-F10E08FE5779}" type="datetime1">
              <a:rPr lang="en-US"/>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8DFDA99-C5E1-4B8E-B7A2-60B652D991BD}"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2BA1720-8088-4074-BA13-7406D6241480}" type="datetime1">
              <a:rPr lang="en-US"/>
              <a:t>10/15/2025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44B45BCC-5E7C-4859-A3F7-B9A1CE9EB99A}"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F433778-0330-4731-B551-4F698832ED56}" type="datetime1">
              <a:rPr lang="en-US"/>
              <a:t>10/15/2025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D8CD1F01-6FEF-4B7B-8D40-99870C4B5B3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9E9D58-7FEC-433E-AE19-2AA064E88A20}" type="datetime1">
              <a:rPr lang="en-US"/>
              <a:t>10/15/2025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1052E83-4190-4330-9575-D494C2789A9E}"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FC1B1BF-F49F-4CC1-BF55-54396FA08FFE}" type="datetime1">
              <a:rPr lang="en-US"/>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82DC5F3-20D9-433D-A92B-690FA48276B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20F2951-B80B-4589-A386-421B50524C5D}" type="datetime1">
              <a:rPr lang="en-US"/>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A1DDFF6-6B34-4C1B-BEAE-4CA951EB5A18}"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606306-028A-4F59-9E19-73C544EAE2CD}" type="datetime1">
              <a:rPr lang="en-US"/>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072E394-1E9E-4F9C-A324-C0C7329F2FB0}"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1B6EC7-79E5-4F33-B489-66EC0B3129EF}" type="datetime1">
              <a:rPr lang="en-US"/>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9C558D1-423D-41D2-96C8-73E26B2C08A0}"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1"/>
            <a:ext cx="8229600" cy="4525963"/>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Rectangle 6"/>
          <p:cNvSpPr>
            <a:spLocks noGrp="1" noChangeArrowheads="1"/>
          </p:cNvSpPr>
          <p:nvPr>
            <p:ph type="sldNum" sz="quarter" idx="12"/>
          </p:nvPr>
        </p:nvSpPr>
        <p:spPr/>
        <p:txBody>
          <a:bodyPr/>
          <a:lstStyle>
            <a:lvl1pPr>
              <a:defRPr/>
            </a:lvl1pPr>
          </a:lstStyle>
          <a:p>
            <a:pPr>
              <a:defRPr/>
            </a:pPr>
            <a:fld id="{326C064B-0B34-4880-BEDD-F1ECF3BCF137}"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p:nvPr/>
        </p:nvGrpSpPr>
        <p:grpSpPr bwMode="auto">
          <a:xfrm>
            <a:off x="-1035050" y="1552575"/>
            <a:ext cx="10179050" cy="5305425"/>
            <a:chOff x="-652" y="978"/>
            <a:chExt cx="6412" cy="3342"/>
          </a:xfrm>
        </p:grpSpPr>
        <p:sp>
          <p:nvSpPr>
            <p:cNvPr id="5" name="Freeform 3"/>
            <p:cNvSpPr/>
            <p:nvPr/>
          </p:nvSpPr>
          <p:spPr bwMode="auto">
            <a:xfrm>
              <a:off x="2061" y="1707"/>
              <a:ext cx="3699" cy="2613"/>
            </a:xfrm>
            <a:custGeom>
              <a:avLst/>
              <a:gdLst/>
              <a:ahLst/>
              <a:cxnLst>
                <a:cxn ang="0">
                  <a:pos x="1523" y="2611"/>
                </a:cxn>
                <a:cxn ang="0">
                  <a:pos x="3698" y="2612"/>
                </a:cxn>
                <a:cxn ang="0">
                  <a:pos x="3698" y="2228"/>
                </a:cxn>
                <a:cxn ang="0">
                  <a:pos x="0" y="0"/>
                </a:cxn>
                <a:cxn ang="0">
                  <a:pos x="160" y="118"/>
                </a:cxn>
                <a:cxn ang="0">
                  <a:pos x="292" y="219"/>
                </a:cxn>
                <a:cxn ang="0">
                  <a:pos x="441" y="347"/>
                </a:cxn>
                <a:cxn ang="0">
                  <a:pos x="585" y="482"/>
                </a:cxn>
                <a:cxn ang="0">
                  <a:pos x="796" y="711"/>
                </a:cxn>
                <a:cxn ang="0">
                  <a:pos x="983" y="955"/>
                </a:cxn>
                <a:cxn ang="0">
                  <a:pos x="1119" y="1168"/>
                </a:cxn>
                <a:cxn ang="0">
                  <a:pos x="1238" y="1388"/>
                </a:cxn>
                <a:cxn ang="0">
                  <a:pos x="1331" y="1608"/>
                </a:cxn>
                <a:cxn ang="0">
                  <a:pos x="1400" y="1809"/>
                </a:cxn>
                <a:cxn ang="0">
                  <a:pos x="1447" y="1979"/>
                </a:cxn>
                <a:cxn ang="0">
                  <a:pos x="1490" y="2190"/>
                </a:cxn>
                <a:cxn ang="0">
                  <a:pos x="1511" y="2374"/>
                </a:cxn>
                <a:cxn ang="0">
                  <a:pos x="1523" y="2611"/>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fontAlgn="base">
                <a:spcBef>
                  <a:spcPct val="0"/>
                </a:spcBef>
                <a:spcAft>
                  <a:spcPct val="0"/>
                </a:spcAft>
                <a:defRPr/>
              </a:pPr>
              <a:endParaRPr lang="en-GB" sz="2400" b="1">
                <a:solidFill>
                  <a:srgbClr val="FFFFFF"/>
                </a:solidFill>
              </a:endParaRPr>
            </a:p>
          </p:txBody>
        </p:sp>
        <p:sp>
          <p:nvSpPr>
            <p:cNvPr id="6" name="Arc 4"/>
            <p:cNvSpPr/>
            <p:nvPr/>
          </p:nvSpPr>
          <p:spPr bwMode="auto">
            <a:xfrm>
              <a:off x="-652" y="978"/>
              <a:ext cx="4237" cy="3342"/>
            </a:xfrm>
            <a:custGeom>
              <a:avLst/>
              <a:gdLst>
                <a:gd name="T0" fmla="*/ 1 w 21600"/>
                <a:gd name="T1" fmla="*/ 0 h 21231"/>
                <a:gd name="T2" fmla="*/ 6 w 21600"/>
                <a:gd name="T3" fmla="*/ 2 h 21231"/>
                <a:gd name="T4" fmla="*/ 0 w 21600"/>
                <a:gd name="T5" fmla="*/ 2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400" b="1">
                <a:solidFill>
                  <a:srgbClr val="FFFFFF"/>
                </a:solidFill>
              </a:endParaRPr>
            </a:p>
          </p:txBody>
        </p:sp>
      </p:grpSp>
      <p:sp>
        <p:nvSpPr>
          <p:cNvPr id="4101" name="Rectangle 5"/>
          <p:cNvSpPr>
            <a:spLocks noGrp="1" noChangeArrowheads="1"/>
          </p:cNvSpPr>
          <p:nvPr>
            <p:ph type="ctrTitle" sz="quarter"/>
          </p:nvPr>
        </p:nvSpPr>
        <p:spPr>
          <a:xfrm>
            <a:off x="1293813" y="762000"/>
            <a:ext cx="7772400" cy="1143000"/>
          </a:xfrm>
        </p:spPr>
        <p:txBody>
          <a:bodyPr anchor="b"/>
          <a:lstStyle>
            <a:lvl1pPr>
              <a:defRPr/>
            </a:lvl1pPr>
          </a:lstStyle>
          <a:p>
            <a:r>
              <a:rPr lang="en-US"/>
              <a:t>Click to edit Master title style</a:t>
            </a:r>
          </a:p>
        </p:txBody>
      </p:sp>
      <p:sp>
        <p:nvSpPr>
          <p:cNvPr id="4102"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anose="05000000000000000000" pitchFamily="2" charset="2"/>
              <a:buNone/>
              <a:defRPr/>
            </a:lvl1pPr>
          </a:lstStyle>
          <a:p>
            <a:r>
              <a:rPr lang="en-US"/>
              <a:t>Click to edit Master subtitle style</a:t>
            </a:r>
          </a:p>
        </p:txBody>
      </p:sp>
      <p:sp>
        <p:nvSpPr>
          <p:cNvPr id="7" name="Rectangle 7"/>
          <p:cNvSpPr>
            <a:spLocks noGrp="1" noChangeArrowheads="1"/>
          </p:cNvSpPr>
          <p:nvPr>
            <p:ph type="dt" sz="quarter" idx="10"/>
          </p:nvPr>
        </p:nvSpPr>
        <p:spPr/>
        <p:txBody>
          <a:bodyPr/>
          <a:lstStyle>
            <a:lvl1pPr>
              <a:defRPr/>
            </a:lvl1pPr>
          </a:lstStyle>
          <a:p>
            <a:pPr>
              <a:defRPr/>
            </a:pPr>
            <a:endParaRPr lang="en-US">
              <a:solidFill>
                <a:srgbClr val="FFFFFF"/>
              </a:solidFill>
            </a:endParaRPr>
          </a:p>
        </p:txBody>
      </p:sp>
      <p:sp>
        <p:nvSpPr>
          <p:cNvPr id="8" name="Rectangle 8"/>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9" name="Rectangle 9"/>
          <p:cNvSpPr>
            <a:spLocks noGrp="1" noChangeArrowheads="1"/>
          </p:cNvSpPr>
          <p:nvPr>
            <p:ph type="sldNum" sz="quarter" idx="12"/>
          </p:nvPr>
        </p:nvSpPr>
        <p:spPr/>
        <p:txBody>
          <a:bodyPr/>
          <a:lstStyle>
            <a:lvl1pPr>
              <a:defRPr/>
            </a:lvl1pPr>
          </a:lstStyle>
          <a:p>
            <a:pPr>
              <a:defRPr/>
            </a:pPr>
            <a:fld id="{6B7AA75F-ADB1-4D92-81F5-DAFAB9BDA0B6}" type="slidenum">
              <a:rPr lang="en-US">
                <a:solidFill>
                  <a:srgbClr val="FFFFFF"/>
                </a:solidFill>
              </a:rPr>
              <a:t>‹#›</a:t>
            </a:fld>
            <a:endParaRPr lang="en-US">
              <a:solidFill>
                <a:srgbClr val="FFFFFF"/>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6" name="Rectangle 8"/>
          <p:cNvSpPr>
            <a:spLocks noGrp="1" noChangeArrowheads="1"/>
          </p:cNvSpPr>
          <p:nvPr>
            <p:ph type="sldNum" sz="quarter" idx="12"/>
          </p:nvPr>
        </p:nvSpPr>
        <p:spPr/>
        <p:txBody>
          <a:bodyPr/>
          <a:lstStyle>
            <a:lvl1pPr>
              <a:defRPr/>
            </a:lvl1pPr>
          </a:lstStyle>
          <a:p>
            <a:pPr>
              <a:defRPr/>
            </a:pPr>
            <a:fld id="{4E6DD716-B06F-445D-8BDA-41C3E857B2AD}" type="slidenum">
              <a:rPr lang="en-US">
                <a:solidFill>
                  <a:srgbClr val="FFFFFF"/>
                </a:solidFill>
              </a:rPr>
              <a:t>‹#›</a:t>
            </a:fld>
            <a:endParaRPr lang="en-US">
              <a:solidFill>
                <a:srgbClr val="FFFFFF"/>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6" name="Rectangle 8"/>
          <p:cNvSpPr>
            <a:spLocks noGrp="1" noChangeArrowheads="1"/>
          </p:cNvSpPr>
          <p:nvPr>
            <p:ph type="sldNum" sz="quarter" idx="12"/>
          </p:nvPr>
        </p:nvSpPr>
        <p:spPr/>
        <p:txBody>
          <a:bodyPr/>
          <a:lstStyle>
            <a:lvl1pPr>
              <a:defRPr/>
            </a:lvl1pPr>
          </a:lstStyle>
          <a:p>
            <a:pPr>
              <a:defRPr/>
            </a:pPr>
            <a:fld id="{668752ED-8201-4B58-8DED-8A427107F9D8}" type="slidenum">
              <a:rPr lang="en-US">
                <a:solidFill>
                  <a:srgbClr val="FFFFFF"/>
                </a:solidFill>
              </a:rPr>
              <a:t>‹#›</a:t>
            </a:fld>
            <a:endParaRPr lang="en-US">
              <a:solidFill>
                <a:srgbClr val="FFFFFF"/>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7" name="Rectangle 8"/>
          <p:cNvSpPr>
            <a:spLocks noGrp="1" noChangeArrowheads="1"/>
          </p:cNvSpPr>
          <p:nvPr>
            <p:ph type="sldNum" sz="quarter" idx="12"/>
          </p:nvPr>
        </p:nvSpPr>
        <p:spPr/>
        <p:txBody>
          <a:bodyPr/>
          <a:lstStyle>
            <a:lvl1pPr>
              <a:defRPr/>
            </a:lvl1pPr>
          </a:lstStyle>
          <a:p>
            <a:pPr>
              <a:defRPr/>
            </a:pPr>
            <a:fld id="{8755A0B0-76C3-4761-A242-59C421FE341F}" type="slidenum">
              <a:rPr lang="en-US">
                <a:solidFill>
                  <a:srgbClr val="FFFFFF"/>
                </a:solidFill>
              </a:rPr>
              <a:t>‹#›</a:t>
            </a:fld>
            <a:endParaRPr lang="en-US">
              <a:solidFill>
                <a:srgbClr val="FFFFFF"/>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9" name="Rectangle 8"/>
          <p:cNvSpPr>
            <a:spLocks noGrp="1" noChangeArrowheads="1"/>
          </p:cNvSpPr>
          <p:nvPr>
            <p:ph type="sldNum" sz="quarter" idx="12"/>
          </p:nvPr>
        </p:nvSpPr>
        <p:spPr/>
        <p:txBody>
          <a:bodyPr/>
          <a:lstStyle>
            <a:lvl1pPr>
              <a:defRPr/>
            </a:lvl1pPr>
          </a:lstStyle>
          <a:p>
            <a:pPr>
              <a:defRPr/>
            </a:pPr>
            <a:fld id="{D9EF45D9-240D-4ADB-8E7B-8ADC7020DD9E}" type="slidenum">
              <a:rPr lang="en-US">
                <a:solidFill>
                  <a:srgbClr val="FFFFFF"/>
                </a:solidFill>
              </a:rPr>
              <a:t>‹#›</a:t>
            </a:fld>
            <a:endParaRPr lang="en-US">
              <a:solidFill>
                <a:srgbClr val="FFFFFF"/>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5" name="Rectangle 8"/>
          <p:cNvSpPr>
            <a:spLocks noGrp="1" noChangeArrowheads="1"/>
          </p:cNvSpPr>
          <p:nvPr>
            <p:ph type="sldNum" sz="quarter" idx="12"/>
          </p:nvPr>
        </p:nvSpPr>
        <p:spPr/>
        <p:txBody>
          <a:bodyPr/>
          <a:lstStyle>
            <a:lvl1pPr>
              <a:defRPr/>
            </a:lvl1pPr>
          </a:lstStyle>
          <a:p>
            <a:pPr>
              <a:defRPr/>
            </a:pPr>
            <a:fld id="{51FD6342-C6C0-4259-8BA3-B456E717AB78}" type="slidenum">
              <a:rPr lang="en-US">
                <a:solidFill>
                  <a:srgbClr val="FFFFFF"/>
                </a:solidFill>
              </a:rPr>
              <a:t>‹#›</a:t>
            </a:fld>
            <a:endParaRPr lang="en-US">
              <a:solidFill>
                <a:srgbClr val="FFFFFF"/>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3"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4" name="Rectangle 8"/>
          <p:cNvSpPr>
            <a:spLocks noGrp="1" noChangeArrowheads="1"/>
          </p:cNvSpPr>
          <p:nvPr>
            <p:ph type="sldNum" sz="quarter" idx="12"/>
          </p:nvPr>
        </p:nvSpPr>
        <p:spPr/>
        <p:txBody>
          <a:bodyPr/>
          <a:lstStyle>
            <a:lvl1pPr>
              <a:defRPr/>
            </a:lvl1pPr>
          </a:lstStyle>
          <a:p>
            <a:pPr>
              <a:defRPr/>
            </a:pPr>
            <a:fld id="{1A48BC40-4F1E-4983-B2A0-57160069DB5C}" type="slidenum">
              <a:rPr lang="en-US">
                <a:solidFill>
                  <a:srgbClr val="FFFFFF"/>
                </a:solidFill>
              </a:rPr>
              <a:t>‹#›</a:t>
            </a:fld>
            <a:endParaRPr lang="en-US">
              <a:solidFill>
                <a:srgbClr val="FFFFFF"/>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7" name="Rectangle 8"/>
          <p:cNvSpPr>
            <a:spLocks noGrp="1" noChangeArrowheads="1"/>
          </p:cNvSpPr>
          <p:nvPr>
            <p:ph type="sldNum" sz="quarter" idx="12"/>
          </p:nvPr>
        </p:nvSpPr>
        <p:spPr/>
        <p:txBody>
          <a:bodyPr/>
          <a:lstStyle>
            <a:lvl1pPr>
              <a:defRPr/>
            </a:lvl1pPr>
          </a:lstStyle>
          <a:p>
            <a:pPr>
              <a:defRPr/>
            </a:pPr>
            <a:fld id="{39C3F9DB-EFDE-4642-9874-D5BB3CF7FE79}" type="slidenum">
              <a:rPr lang="en-US">
                <a:solidFill>
                  <a:srgbClr val="FFFFFF"/>
                </a:solidFill>
              </a:rPr>
              <a:t>‹#›</a:t>
            </a:fld>
            <a:endParaRPr lang="en-US">
              <a:solidFill>
                <a:srgbClr val="FFFFFF"/>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7" name="Rectangle 8"/>
          <p:cNvSpPr>
            <a:spLocks noGrp="1" noChangeArrowheads="1"/>
          </p:cNvSpPr>
          <p:nvPr>
            <p:ph type="sldNum" sz="quarter" idx="12"/>
          </p:nvPr>
        </p:nvSpPr>
        <p:spPr/>
        <p:txBody>
          <a:bodyPr/>
          <a:lstStyle>
            <a:lvl1pPr>
              <a:defRPr/>
            </a:lvl1pPr>
          </a:lstStyle>
          <a:p>
            <a:pPr>
              <a:defRPr/>
            </a:pPr>
            <a:fld id="{789B9CE6-0A4F-42CB-A97F-80C1DA9F0C8A}" type="slidenum">
              <a:rPr lang="en-US">
                <a:solidFill>
                  <a:srgbClr val="FFFFFF"/>
                </a:solidFill>
              </a:rPr>
              <a:t>‹#›</a:t>
            </a:fld>
            <a:endParaRPr lang="en-US">
              <a:solidFill>
                <a:srgbClr val="FFFFFF"/>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6" name="Rectangle 8"/>
          <p:cNvSpPr>
            <a:spLocks noGrp="1" noChangeArrowheads="1"/>
          </p:cNvSpPr>
          <p:nvPr>
            <p:ph type="sldNum" sz="quarter" idx="12"/>
          </p:nvPr>
        </p:nvSpPr>
        <p:spPr/>
        <p:txBody>
          <a:bodyPr/>
          <a:lstStyle>
            <a:lvl1pPr>
              <a:defRPr/>
            </a:lvl1pPr>
          </a:lstStyle>
          <a:p>
            <a:pPr>
              <a:defRPr/>
            </a:pPr>
            <a:fld id="{7BD69F95-9C24-46C5-8B7A-A795C69365C8}" type="slidenum">
              <a:rPr lang="en-US">
                <a:solidFill>
                  <a:srgbClr val="FFFFFF"/>
                </a:solidFill>
              </a:rPr>
              <a:t>‹#›</a:t>
            </a:fld>
            <a:endParaRPr lang="en-US">
              <a:solidFill>
                <a:srgbClr val="FFFFFF"/>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p:cNvSpPr>
            <a:spLocks noGrp="1" noChangeArrowheads="1"/>
          </p:cNvSpPr>
          <p:nvPr>
            <p:ph type="dt" sz="half" idx="10"/>
          </p:nvPr>
        </p:nvSpPr>
        <p:spPr/>
        <p:txBody>
          <a:bodyPr/>
          <a:lstStyle>
            <a:lvl1pPr>
              <a:defRPr/>
            </a:lvl1pPr>
          </a:lstStyle>
          <a:p>
            <a:pPr>
              <a:defRPr/>
            </a:pPr>
            <a:endParaRPr lang="en-US">
              <a:solidFill>
                <a:srgbClr val="FFFFFF"/>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solidFill>
                <a:srgbClr val="FFFFFF"/>
              </a:solidFill>
            </a:endParaRPr>
          </a:p>
        </p:txBody>
      </p:sp>
      <p:sp>
        <p:nvSpPr>
          <p:cNvPr id="6" name="Rectangle 8"/>
          <p:cNvSpPr>
            <a:spLocks noGrp="1" noChangeArrowheads="1"/>
          </p:cNvSpPr>
          <p:nvPr>
            <p:ph type="sldNum" sz="quarter" idx="12"/>
          </p:nvPr>
        </p:nvSpPr>
        <p:spPr/>
        <p:txBody>
          <a:bodyPr/>
          <a:lstStyle>
            <a:lvl1pPr>
              <a:defRPr/>
            </a:lvl1pPr>
          </a:lstStyle>
          <a:p>
            <a:pPr>
              <a:defRPr/>
            </a:pPr>
            <a:fld id="{5D7B2855-272D-4C47-B7F7-AA90A763A761}" type="slidenum">
              <a:rPr lang="en-US">
                <a:solidFill>
                  <a:srgbClr val="FFFFFF"/>
                </a:solidFill>
              </a:rPr>
              <a:t>‹#›</a:t>
            </a:fld>
            <a:endParaRPr lang="en-US">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z="1200">
                <a:solidFill>
                  <a:srgbClr val="898989"/>
                </a:solidFill>
                <a:latin typeface="Calibri" panose="020F0502020204030204" pitchFamily="-110" charset="0"/>
              </a:defRPr>
            </a:lvl1pPr>
          </a:lstStyle>
          <a:p>
            <a:pPr defTabSz="457200" fontAlgn="base">
              <a:spcBef>
                <a:spcPct val="0"/>
              </a:spcBef>
              <a:spcAft>
                <a:spcPct val="0"/>
              </a:spcAft>
              <a:defRPr/>
            </a:pPr>
            <a:fld id="{A9385024-F704-4E44-B4D8-E658D4812699}" type="datetime1">
              <a:rPr lang="en-US">
                <a:ea typeface="MS PGothic" panose="020B0600070205080204" pitchFamily="-110" charset="-128"/>
              </a:rPr>
              <a:t>10/15/2025</a:t>
            </a:fld>
            <a:endParaRPr lang="en-US">
              <a:ea typeface="MS PGothic" panose="020B0600070205080204" pitchFamily="-110" charset="-128"/>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defTabSz="4572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110" charset="0"/>
              </a:defRPr>
            </a:lvl1pPr>
          </a:lstStyle>
          <a:p>
            <a:pPr defTabSz="457200" fontAlgn="base">
              <a:spcBef>
                <a:spcPct val="0"/>
              </a:spcBef>
              <a:spcAft>
                <a:spcPct val="0"/>
              </a:spcAft>
              <a:defRPr/>
            </a:pPr>
            <a:fld id="{4433A875-712B-4A63-8F2D-05306A0918D5}" type="slidenum">
              <a:rPr lang="en-US">
                <a:ea typeface="MS PGothic" panose="020B0600070205080204" pitchFamily="-110" charset="-128"/>
              </a:rPr>
              <a:t>‹#›</a:t>
            </a:fld>
            <a:endParaRPr lang="en-US">
              <a:ea typeface="MS PGothic" panose="020B0600070205080204" pitchFamily="-110" charset="-128"/>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110" charset="-128"/>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2pPr>
      <a:lvl3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3pPr>
      <a:lvl4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4pPr>
      <a:lvl5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5pPr>
      <a:lvl6pPr marL="4572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6pPr>
      <a:lvl7pPr marL="9144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7pPr>
      <a:lvl8pPr marL="13716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8pPr>
      <a:lvl9pPr marL="18288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110"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110"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110"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10"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10"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026" name="Group 2"/>
          <p:cNvGrpSpPr/>
          <p:nvPr/>
        </p:nvGrpSpPr>
        <p:grpSpPr bwMode="auto">
          <a:xfrm>
            <a:off x="0" y="1588"/>
            <a:ext cx="9132888" cy="6845300"/>
            <a:chOff x="0" y="1"/>
            <a:chExt cx="5753" cy="4312"/>
          </a:xfrm>
        </p:grpSpPr>
        <p:sp>
          <p:nvSpPr>
            <p:cNvPr id="3075" name="Freeform 3"/>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fontAlgn="base">
                <a:spcBef>
                  <a:spcPct val="0"/>
                </a:spcBef>
                <a:spcAft>
                  <a:spcPct val="0"/>
                </a:spcAft>
                <a:defRPr/>
              </a:pPr>
              <a:endParaRPr lang="en-GB" sz="2400" b="1">
                <a:solidFill>
                  <a:srgbClr val="FFFFFF"/>
                </a:solidFill>
              </a:endParaRPr>
            </a:p>
          </p:txBody>
        </p:sp>
        <p:sp>
          <p:nvSpPr>
            <p:cNvPr id="1033" name="Arc 4"/>
            <p:cNvSpPr/>
            <p:nvPr/>
          </p:nvSpPr>
          <p:spPr bwMode="auto">
            <a:xfrm>
              <a:off x="0" y="1"/>
              <a:ext cx="5298" cy="4312"/>
            </a:xfrm>
            <a:custGeom>
              <a:avLst/>
              <a:gdLst>
                <a:gd name="T0" fmla="*/ 0 w 21600"/>
                <a:gd name="T1" fmla="*/ 0 h 21600"/>
                <a:gd name="T2" fmla="*/ 19 w 21600"/>
                <a:gd name="T3" fmla="*/ 7 h 21600"/>
                <a:gd name="T4" fmla="*/ 0 w 21600"/>
                <a:gd name="T5" fmla="*/ 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sz="2400" b="1">
                <a:solidFill>
                  <a:srgbClr val="FFFFFF"/>
                </a:solidFill>
              </a:endParaRPr>
            </a:p>
          </p:txBody>
        </p:sp>
      </p:grpSp>
      <p:sp>
        <p:nvSpPr>
          <p:cNvPr id="3077"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en-US"/>
              <a:t>Click to edit Master title style</a:t>
            </a:r>
          </a:p>
        </p:txBody>
      </p:sp>
      <p:sp>
        <p:nvSpPr>
          <p:cNvPr id="3078" name="Rectangle 6"/>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eaLnBrk="1" hangingPunct="1">
              <a:defRPr sz="1400" b="0">
                <a:latin typeface="Times New Roman" panose="02020603050405020304" pitchFamily="18" charset="0"/>
                <a:ea typeface="+mn-ea"/>
                <a:cs typeface="Times New Roman" panose="02020603050405020304" pitchFamily="18" charset="0"/>
              </a:defRPr>
            </a:lvl1pPr>
          </a:lstStyle>
          <a:p>
            <a:pPr fontAlgn="base">
              <a:spcBef>
                <a:spcPct val="0"/>
              </a:spcBef>
              <a:spcAft>
                <a:spcPct val="0"/>
              </a:spcAft>
              <a:defRPr/>
            </a:pPr>
            <a:endParaRPr lang="en-US">
              <a:solidFill>
                <a:srgbClr val="FFFFFF"/>
              </a:solidFill>
            </a:endParaRPr>
          </a:p>
        </p:txBody>
      </p:sp>
      <p:sp>
        <p:nvSpPr>
          <p:cNvPr id="3079" name="Rectangle 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eaLnBrk="1" hangingPunct="1">
              <a:defRPr sz="1400" b="0">
                <a:latin typeface="Times New Roman" panose="02020603050405020304" pitchFamily="18" charset="0"/>
                <a:ea typeface="+mn-ea"/>
                <a:cs typeface="Times New Roman" panose="02020603050405020304" pitchFamily="18" charset="0"/>
              </a:defRPr>
            </a:lvl1pPr>
          </a:lstStyle>
          <a:p>
            <a:pPr fontAlgn="base">
              <a:spcBef>
                <a:spcPct val="0"/>
              </a:spcBef>
              <a:spcAft>
                <a:spcPct val="0"/>
              </a:spcAft>
              <a:defRPr/>
            </a:pPr>
            <a:endParaRPr lang="en-US">
              <a:solidFill>
                <a:srgbClr val="FFFFFF"/>
              </a:solidFill>
            </a:endParaRPr>
          </a:p>
        </p:txBody>
      </p:sp>
      <p:sp>
        <p:nvSpPr>
          <p:cNvPr id="3080" name="Rectangle 8"/>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lgn="r" eaLnBrk="1" hangingPunct="1">
              <a:defRPr sz="1400" b="0"/>
            </a:lvl1pPr>
          </a:lstStyle>
          <a:p>
            <a:pPr fontAlgn="base">
              <a:spcBef>
                <a:spcPct val="0"/>
              </a:spcBef>
              <a:spcAft>
                <a:spcPct val="0"/>
              </a:spcAft>
              <a:defRPr/>
            </a:pPr>
            <a:fld id="{E4DF84A1-A211-4875-9097-CF8D31A84F8D}" type="slidenum">
              <a:rPr lang="en-US">
                <a:solidFill>
                  <a:srgbClr val="FFFFFF"/>
                </a:solidFill>
              </a:rPr>
              <a:t>‹#›</a:t>
            </a:fld>
            <a:endParaRPr lang="en-US">
              <a:solidFill>
                <a:srgbClr val="FFFFFF"/>
              </a:solidFill>
            </a:endParaRPr>
          </a:p>
        </p:txBody>
      </p:sp>
      <p:sp>
        <p:nvSpPr>
          <p:cNvPr id="1031" name="Rectangle 9"/>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Times New Roman" panose="02020603050405020304" pitchFamily="18"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Times New Roman" panose="02020603050405020304" pitchFamily="18" charset="0"/>
          <a:cs typeface="Times New Roman" panose="02020603050405020304" pitchFamily="18"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Times New Roman" panose="02020603050405020304" pitchFamily="18" charset="0"/>
          <a:cs typeface="Times New Roman" panose="02020603050405020304" pitchFamily="18"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Times New Roman" panose="02020603050405020304" pitchFamily="18" charset="0"/>
          <a:cs typeface="Times New Roman" panose="02020603050405020304" pitchFamily="18"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Times New Roman" panose="02020603050405020304" pitchFamily="18" charset="0"/>
          <a:cs typeface="Times New Roman" panose="02020603050405020304" pitchFamily="18"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cs typeface="Times New Roman" panose="02020603050405020304" pitchFamily="18"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cs typeface="Times New Roman" panose="02020603050405020304" pitchFamily="18"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cs typeface="Times New Roman" panose="02020603050405020304" pitchFamily="18"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cs typeface="Times New Roman" panose="02020603050405020304" pitchFamily="18" charset="0"/>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a:solidFill>
            <a:schemeClr val="tx1"/>
          </a:solidFill>
          <a:latin typeface="+mn-lt"/>
          <a:ea typeface="Times New Roman" panose="02020603050405020304" pitchFamily="18" charset="0"/>
          <a:cs typeface="+mn-cs"/>
        </a:defRPr>
      </a:lvl1pPr>
      <a:lvl2pPr marL="742950" indent="-285750" algn="l" rtl="0" eaLnBrk="0" fontAlgn="base" hangingPunct="0">
        <a:spcBef>
          <a:spcPct val="20000"/>
        </a:spcBef>
        <a:spcAft>
          <a:spcPct val="0"/>
        </a:spcAft>
        <a:buClr>
          <a:schemeClr val="tx1"/>
        </a:buClr>
        <a:buSzPct val="90000"/>
        <a:buChar char="–"/>
        <a:defRPr sz="2800">
          <a:solidFill>
            <a:schemeClr val="tx1"/>
          </a:solidFill>
          <a:latin typeface="+mn-lt"/>
          <a:ea typeface="Times New Roman" panose="02020603050405020304" pitchFamily="18" charset="0"/>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a:solidFill>
            <a:schemeClr val="tx1"/>
          </a:solidFill>
          <a:latin typeface="+mn-lt"/>
          <a:ea typeface="Times New Roman" panose="02020603050405020304" pitchFamily="18" charset="0"/>
          <a:cs typeface="+mn-cs"/>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ea typeface="Times New Roman" panose="02020603050405020304" pitchFamily="18" charset="0"/>
          <a:cs typeface="+mn-cs"/>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ea typeface="Times New Roman" panose="02020603050405020304" pitchFamily="18" charset="0"/>
          <a:cs typeface="+mn-cs"/>
        </a:defRPr>
      </a:lvl5pPr>
      <a:lvl6pPr marL="2514600" indent="-228600" algn="l" rtl="0" fontAlgn="base">
        <a:spcBef>
          <a:spcPct val="20000"/>
        </a:spcBef>
        <a:spcAft>
          <a:spcPct val="0"/>
        </a:spcAft>
        <a:buClr>
          <a:schemeClr val="accent1"/>
        </a:buClr>
        <a:buChar char="•"/>
        <a:defRPr sz="2000">
          <a:solidFill>
            <a:schemeClr val="tx1"/>
          </a:solidFill>
          <a:latin typeface="+mn-lt"/>
          <a:cs typeface="+mn-cs"/>
        </a:defRPr>
      </a:lvl6pPr>
      <a:lvl7pPr marL="2971800" indent="-228600" algn="l" rtl="0" fontAlgn="base">
        <a:spcBef>
          <a:spcPct val="20000"/>
        </a:spcBef>
        <a:spcAft>
          <a:spcPct val="0"/>
        </a:spcAft>
        <a:buClr>
          <a:schemeClr val="accent1"/>
        </a:buClr>
        <a:buChar char="•"/>
        <a:defRPr sz="2000">
          <a:solidFill>
            <a:schemeClr val="tx1"/>
          </a:solidFill>
          <a:latin typeface="+mn-lt"/>
          <a:cs typeface="+mn-cs"/>
        </a:defRPr>
      </a:lvl7pPr>
      <a:lvl8pPr marL="3429000" indent="-228600" algn="l" rtl="0" fontAlgn="base">
        <a:spcBef>
          <a:spcPct val="20000"/>
        </a:spcBef>
        <a:spcAft>
          <a:spcPct val="0"/>
        </a:spcAft>
        <a:buClr>
          <a:schemeClr val="accent1"/>
        </a:buClr>
        <a:buChar char="•"/>
        <a:defRPr sz="2000">
          <a:solidFill>
            <a:schemeClr val="tx1"/>
          </a:solidFill>
          <a:latin typeface="+mn-lt"/>
          <a:cs typeface="+mn-cs"/>
        </a:defRPr>
      </a:lvl8pPr>
      <a:lvl9pPr marL="3886200" indent="-228600" algn="l" rtl="0" fontAlgn="base">
        <a:spcBef>
          <a:spcPct val="20000"/>
        </a:spcBef>
        <a:spcAft>
          <a:spcPct val="0"/>
        </a:spcAft>
        <a:buClr>
          <a:schemeClr val="accent1"/>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3600" b="1" dirty="0"/>
              <a:t>Information Retrieval</a:t>
            </a:r>
            <a:r>
              <a:rPr lang="en-US" sz="2400" b="1" dirty="0"/>
              <a:t> </a:t>
            </a:r>
            <a:r>
              <a:rPr lang="en-US" sz="2800" b="1" dirty="0">
                <a:latin typeface="Arial Black" panose="020B0A04020102020204" pitchFamily="34" charset="0"/>
              </a:rPr>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solidFill>
                  <a:srgbClr val="FF0000"/>
                </a:solidFill>
                <a:latin typeface="Californian FB" panose="0207040306080B030204" pitchFamily="18" charset="0"/>
              </a:rPr>
              <a:t>Information retrieval:</a:t>
            </a:r>
          </a:p>
          <a:p>
            <a:pPr marL="0" indent="0">
              <a:buNone/>
            </a:pPr>
            <a:r>
              <a:rPr lang="en-US" sz="2400" i="1" dirty="0">
                <a:latin typeface="Californian FB" panose="0207040306080B030204" pitchFamily="18" charset="0"/>
              </a:rPr>
              <a:t>To locate information sources in a collection, and then to select certain information which is contained in these sources.</a:t>
            </a:r>
          </a:p>
          <a:p>
            <a:endParaRPr lang="en-US" sz="2400" dirty="0">
              <a:latin typeface="Californian FB" panose="0207040306080B030204" pitchFamily="18" charset="0"/>
            </a:endParaRPr>
          </a:p>
          <a:p>
            <a:r>
              <a:rPr lang="en-US" sz="2400" dirty="0">
                <a:latin typeface="Californian FB" panose="0207040306080B030204" pitchFamily="18" charset="0"/>
              </a:rPr>
              <a:t>There are two steps in IR</a:t>
            </a:r>
          </a:p>
          <a:p>
            <a:r>
              <a:rPr lang="en-US" sz="2400" dirty="0">
                <a:latin typeface="Californian FB" panose="0207040306080B030204" pitchFamily="18" charset="0"/>
              </a:rPr>
              <a:t>	</a:t>
            </a:r>
            <a:r>
              <a:rPr lang="en-US" sz="2400" dirty="0" err="1">
                <a:latin typeface="Californian FB" panose="0207040306080B030204" pitchFamily="18" charset="0"/>
              </a:rPr>
              <a:t>i</a:t>
            </a:r>
            <a:r>
              <a:rPr lang="en-US" sz="2400" dirty="0">
                <a:latin typeface="Californian FB" panose="0207040306080B030204" pitchFamily="18" charset="0"/>
              </a:rPr>
              <a:t>) Locating the information sources</a:t>
            </a:r>
          </a:p>
          <a:p>
            <a:r>
              <a:rPr lang="en-US" sz="2400" dirty="0">
                <a:latin typeface="Californian FB" panose="0207040306080B030204" pitchFamily="18" charset="0"/>
              </a:rPr>
              <a:t>	ii) Selecting the relevant information</a:t>
            </a:r>
          </a:p>
          <a:p>
            <a:endParaRPr lang="en-US" sz="2400" dirty="0">
              <a:latin typeface="Californian FB" panose="0207040306080B030204" pitchFamily="18" charset="0"/>
            </a:endParaRPr>
          </a:p>
          <a:p>
            <a:r>
              <a:rPr lang="en-US" sz="2400" dirty="0">
                <a:latin typeface="Californian FB" panose="0207040306080B030204" pitchFamily="18" charset="0"/>
              </a:rPr>
              <a:t>(</a:t>
            </a:r>
            <a:r>
              <a:rPr lang="en-US" sz="2400" dirty="0">
                <a:solidFill>
                  <a:srgbClr val="C00000"/>
                </a:solidFill>
                <a:latin typeface="Californian FB" panose="0207040306080B030204" pitchFamily="18" charset="0"/>
              </a:rPr>
              <a:t>Relevant:- </a:t>
            </a:r>
            <a:r>
              <a:rPr lang="en-US" sz="2400" dirty="0">
                <a:solidFill>
                  <a:srgbClr val="FF00FF"/>
                </a:solidFill>
                <a:latin typeface="Californian FB" panose="0207040306080B030204" pitchFamily="18" charset="0"/>
              </a:rPr>
              <a:t>Applicable, pertinent [ The information must fit in with the topics of the study]</a:t>
            </a:r>
            <a:r>
              <a:rPr lang="en-US" sz="2400" dirty="0">
                <a:latin typeface="Californian FB" panose="0207040306080B030204"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b="1" dirty="0"/>
              <a:t>TASK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i="1" dirty="0">
                <a:solidFill>
                  <a:srgbClr val="FF00FF"/>
                </a:solidFill>
                <a:cs typeface="Arial" panose="020B0604020202020204" pitchFamily="34" charset="0"/>
              </a:rPr>
              <a:t>You own a kiosk and many of your regular customers ask if you make photocopies. You need to decide whether to expand your business to provide photocopy service. Which of the information below is relevant to the task?</a:t>
            </a:r>
          </a:p>
          <a:p>
            <a:endParaRPr lang="en-US" sz="2400" i="1" dirty="0">
              <a:solidFill>
                <a:srgbClr val="FF00FF"/>
              </a:solidFill>
              <a:cs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endParaRPr lang="en-US" sz="2400" dirty="0">
              <a:latin typeface="Arial" panose="020B0604020202020204" pitchFamily="34" charset="0"/>
            </a:endParaRPr>
          </a:p>
          <a:p>
            <a:pPr marL="0" eaLnBrk="1" fontAlgn="t" hangingPunct="1">
              <a:spcBef>
                <a:spcPts val="0"/>
              </a:spcBef>
              <a:spcAft>
                <a:spcPts val="0"/>
              </a:spcAft>
            </a:pPr>
            <a:r>
              <a:rPr lang="en-US" sz="2400" dirty="0">
                <a:solidFill>
                  <a:srgbClr val="000000"/>
                </a:solidFill>
                <a:latin typeface="Arial" panose="020B0604020202020204" pitchFamily="34" charset="0"/>
              </a:rPr>
              <a:t>.</a:t>
            </a:r>
            <a:endParaRPr lang="en-US" sz="2400" dirty="0">
              <a:latin typeface="Arial" panose="020B0604020202020204" pitchFamily="34" charset="0"/>
            </a:endParaRPr>
          </a:p>
          <a:p>
            <a:endParaRPr lang="en-US" sz="2400" i="1" dirty="0">
              <a:solidFill>
                <a:srgbClr val="FF00FF"/>
              </a:solidFill>
              <a:cs typeface="Arial" panose="020B0604020202020204" pitchFamily="34" charset="0"/>
            </a:endParaRPr>
          </a:p>
        </p:txBody>
      </p:sp>
      <p:graphicFrame>
        <p:nvGraphicFramePr>
          <p:cNvPr id="2" name="Table 1"/>
          <p:cNvGraphicFramePr>
            <a:graphicFrameLocks noGrp="1"/>
          </p:cNvGraphicFramePr>
          <p:nvPr/>
        </p:nvGraphicFramePr>
        <p:xfrm>
          <a:off x="1276350" y="2611120"/>
          <a:ext cx="7867651" cy="4246880"/>
        </p:xfrm>
        <a:graphic>
          <a:graphicData uri="http://schemas.openxmlformats.org/drawingml/2006/table">
            <a:tbl>
              <a:tblPr firstRow="1" bandRow="1">
                <a:tableStyleId>{5C22544A-7EE6-4342-B048-85BDC9FD1C3A}</a:tableStyleId>
              </a:tblPr>
              <a:tblGrid>
                <a:gridCol w="5562600">
                  <a:extLst>
                    <a:ext uri="{9D8B030D-6E8A-4147-A177-3AD203B41FA5}">
                      <a16:colId xmlns:a16="http://schemas.microsoft.com/office/drawing/2014/main" val="20000"/>
                    </a:ext>
                  </a:extLst>
                </a:gridCol>
                <a:gridCol w="1124903">
                  <a:extLst>
                    <a:ext uri="{9D8B030D-6E8A-4147-A177-3AD203B41FA5}">
                      <a16:colId xmlns:a16="http://schemas.microsoft.com/office/drawing/2014/main" val="20001"/>
                    </a:ext>
                  </a:extLst>
                </a:gridCol>
                <a:gridCol w="1180148">
                  <a:extLst>
                    <a:ext uri="{9D8B030D-6E8A-4147-A177-3AD203B41FA5}">
                      <a16:colId xmlns:a16="http://schemas.microsoft.com/office/drawing/2014/main" val="20002"/>
                    </a:ext>
                  </a:extLst>
                </a:gridCol>
              </a:tblGrid>
              <a:tr h="370840">
                <a:tc>
                  <a:txBody>
                    <a:bodyPr/>
                    <a:lstStyle/>
                    <a:p>
                      <a:r>
                        <a:rPr lang="en-US" dirty="0"/>
                        <a:t>INFORMATION ON:</a:t>
                      </a:r>
                    </a:p>
                  </a:txBody>
                  <a:tcPr/>
                </a:tc>
                <a:tc>
                  <a:txBody>
                    <a:bodyPr/>
                    <a:lstStyle/>
                    <a:p>
                      <a:r>
                        <a:rPr lang="en-US" dirty="0"/>
                        <a:t>Relevant</a:t>
                      </a:r>
                    </a:p>
                  </a:txBody>
                  <a:tcPr/>
                </a:tc>
                <a:tc>
                  <a:txBody>
                    <a:bodyPr/>
                    <a:lstStyle/>
                    <a:p>
                      <a:r>
                        <a:rPr lang="en-US" dirty="0"/>
                        <a:t>Irrelevant</a:t>
                      </a:r>
                    </a:p>
                  </a:txBody>
                  <a:tcPr/>
                </a:tc>
                <a:extLst>
                  <a:ext uri="{0D108BD9-81ED-4DB2-BD59-A6C34878D82A}">
                    <a16:rowId xmlns:a16="http://schemas.microsoft.com/office/drawing/2014/main" val="10000"/>
                  </a:ext>
                </a:extLst>
              </a:tr>
              <a:tr h="370840">
                <a:tc>
                  <a:txBody>
                    <a:bodyPr/>
                    <a:lstStyle/>
                    <a:p>
                      <a:r>
                        <a:rPr lang="en-US" sz="1800" dirty="0">
                          <a:solidFill>
                            <a:srgbClr val="000000"/>
                          </a:solidFill>
                          <a:latin typeface="Arial" panose="020B0604020202020204" pitchFamily="34" charset="0"/>
                        </a:rPr>
                        <a:t>The cost of buying or hiring a photocopier</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sz="1800" dirty="0">
                          <a:solidFill>
                            <a:srgbClr val="000000"/>
                          </a:solidFill>
                          <a:latin typeface="Arial" panose="020B0604020202020204" pitchFamily="34" charset="0"/>
                        </a:rPr>
                        <a:t>The number of customers in your shop per </a:t>
                      </a:r>
                      <a:r>
                        <a:rPr lang="en-US" sz="1800" dirty="0" err="1">
                          <a:solidFill>
                            <a:srgbClr val="000000"/>
                          </a:solidFill>
                          <a:latin typeface="Arial" panose="020B0604020202020204" pitchFamily="34" charset="0"/>
                        </a:rPr>
                        <a:t>wk</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r>
                        <a:rPr lang="en-US" sz="1800" dirty="0">
                          <a:solidFill>
                            <a:srgbClr val="000000"/>
                          </a:solidFill>
                          <a:latin typeface="Arial" panose="020B0604020202020204" pitchFamily="34" charset="0"/>
                        </a:rPr>
                        <a:t>How much money those customers earn (average)</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r>
                        <a:rPr lang="en-US" sz="1800" dirty="0">
                          <a:solidFill>
                            <a:srgbClr val="000000"/>
                          </a:solidFill>
                          <a:latin typeface="Arial" panose="020B0604020202020204" pitchFamily="34" charset="0"/>
                        </a:rPr>
                        <a:t>How many customers come to buy milk &amp; bread</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pPr marL="0" eaLnBrk="1" fontAlgn="t" hangingPunct="1">
                        <a:spcBef>
                          <a:spcPts val="0"/>
                        </a:spcBef>
                        <a:spcAft>
                          <a:spcPts val="0"/>
                        </a:spcAft>
                      </a:pPr>
                      <a:endParaRPr lang="en-US" sz="1800" dirty="0">
                        <a:latin typeface="Arial" panose="020B0604020202020204" pitchFamily="34" charset="0"/>
                      </a:endParaRPr>
                    </a:p>
                    <a:p>
                      <a:pPr marL="0" eaLnBrk="1" fontAlgn="t" hangingPunct="1">
                        <a:spcBef>
                          <a:spcPts val="0"/>
                        </a:spcBef>
                        <a:spcAft>
                          <a:spcPts val="0"/>
                        </a:spcAft>
                      </a:pPr>
                      <a:r>
                        <a:rPr lang="en-US" sz="1800" dirty="0">
                          <a:solidFill>
                            <a:srgbClr val="000000"/>
                          </a:solidFill>
                          <a:latin typeface="Arial" panose="020B0604020202020204" pitchFamily="34" charset="0"/>
                        </a:rPr>
                        <a:t>How many small businesses there are near you</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r>
                        <a:rPr lang="en-US" sz="1800" dirty="0">
                          <a:solidFill>
                            <a:srgbClr val="000000"/>
                          </a:solidFill>
                          <a:latin typeface="Arial" panose="020B0604020202020204" pitchFamily="34" charset="0"/>
                        </a:rPr>
                        <a:t>Whether there is a large student population near you</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370840">
                <a:tc>
                  <a:txBody>
                    <a:bodyPr/>
                    <a:lstStyle/>
                    <a:p>
                      <a:r>
                        <a:rPr lang="en-US" sz="1800" dirty="0">
                          <a:solidFill>
                            <a:srgbClr val="000000"/>
                          </a:solidFill>
                          <a:latin typeface="Arial" panose="020B0604020202020204" pitchFamily="34" charset="0"/>
                        </a:rPr>
                        <a:t>How much money you have in your account</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7"/>
                  </a:ext>
                </a:extLst>
              </a:tr>
              <a:tr h="370840">
                <a:tc>
                  <a:txBody>
                    <a:bodyPr/>
                    <a:lstStyle/>
                    <a:p>
                      <a:r>
                        <a:rPr lang="en-US" sz="1800" dirty="0">
                          <a:solidFill>
                            <a:srgbClr val="000000"/>
                          </a:solidFill>
                          <a:latin typeface="Arial" panose="020B0604020202020204" pitchFamily="34" charset="0"/>
                        </a:rPr>
                        <a:t>Your distance from the nearest bank</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8"/>
                  </a:ext>
                </a:extLst>
              </a:tr>
              <a:tr h="370840">
                <a:tc>
                  <a:txBody>
                    <a:bodyPr/>
                    <a:lstStyle/>
                    <a:p>
                      <a:r>
                        <a:rPr lang="en-US" sz="1800" dirty="0">
                          <a:solidFill>
                            <a:srgbClr val="000000"/>
                          </a:solidFill>
                          <a:latin typeface="Arial" panose="020B0604020202020204" pitchFamily="34" charset="0"/>
                        </a:rPr>
                        <a:t>How many customers are ready to pay for photocopies</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152401"/>
            <a:ext cx="7802562" cy="661988"/>
          </a:xfrm>
        </p:spPr>
        <p:txBody>
          <a:bodyPr/>
          <a:lstStyle/>
          <a:p>
            <a:pPr algn="l"/>
            <a:br>
              <a:rPr lang="en-US" b="1" dirty="0"/>
            </a:br>
            <a:br>
              <a:rPr lang="en-US" b="1" dirty="0"/>
            </a:br>
            <a:r>
              <a:rPr lang="en-US" sz="2400" b="1" dirty="0"/>
              <a:t> Retrieval</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US" dirty="0"/>
          </a:p>
        </p:txBody>
      </p:sp>
      <p:sp>
        <p:nvSpPr>
          <p:cNvPr id="4099" name="Content Placeholder 2"/>
          <p:cNvSpPr>
            <a:spLocks noGrp="1"/>
          </p:cNvSpPr>
          <p:nvPr>
            <p:ph idx="1"/>
          </p:nvPr>
        </p:nvSpPr>
        <p:spPr>
          <a:xfrm>
            <a:off x="1341438" y="1076325"/>
            <a:ext cx="7802562" cy="5486400"/>
          </a:xfrm>
        </p:spPr>
        <p:txBody>
          <a:bodyPr/>
          <a:lstStyle/>
          <a:p>
            <a:r>
              <a:rPr lang="en-US" sz="2400" dirty="0">
                <a:latin typeface="Californian FB" panose="0207040306080B030204" pitchFamily="18" charset="0"/>
              </a:rPr>
              <a:t>Step 1: Locate the relevant sources.</a:t>
            </a:r>
          </a:p>
          <a:p>
            <a:r>
              <a:rPr lang="en-US" sz="2400" dirty="0">
                <a:latin typeface="Californian FB" panose="0207040306080B030204" pitchFamily="18" charset="0"/>
              </a:rPr>
              <a:t>Prioritize</a:t>
            </a:r>
          </a:p>
          <a:p>
            <a:pPr lvl="1">
              <a:buFont typeface="Arial" panose="020B0604020202020204" pitchFamily="34" charset="0"/>
              <a:buChar char="•"/>
            </a:pPr>
            <a:r>
              <a:rPr lang="en-US" sz="2400" dirty="0">
                <a:latin typeface="Californian FB" panose="0207040306080B030204" pitchFamily="18" charset="0"/>
              </a:rPr>
              <a:t>Lecture notes</a:t>
            </a:r>
          </a:p>
          <a:p>
            <a:pPr lvl="1">
              <a:buFont typeface="Arial" panose="020B0604020202020204" pitchFamily="34" charset="0"/>
              <a:buChar char="•"/>
            </a:pPr>
            <a:r>
              <a:rPr lang="en-US" sz="2400" dirty="0">
                <a:latin typeface="Californian FB" panose="0207040306080B030204" pitchFamily="18" charset="0"/>
              </a:rPr>
              <a:t>Prescribed book</a:t>
            </a:r>
          </a:p>
          <a:p>
            <a:pPr lvl="1">
              <a:buFont typeface="Arial" panose="020B0604020202020204" pitchFamily="34" charset="0"/>
              <a:buChar char="•"/>
            </a:pPr>
            <a:r>
              <a:rPr lang="en-US" sz="2400" dirty="0">
                <a:latin typeface="Californian FB" panose="0207040306080B030204" pitchFamily="18" charset="0"/>
              </a:rPr>
              <a:t>Reading list</a:t>
            </a:r>
          </a:p>
          <a:p>
            <a:pPr lvl="1">
              <a:buFont typeface="Arial" panose="020B0604020202020204" pitchFamily="34" charset="0"/>
              <a:buChar char="•"/>
            </a:pPr>
            <a:r>
              <a:rPr lang="en-US" sz="2400" dirty="0">
                <a:latin typeface="Californian FB" panose="0207040306080B030204" pitchFamily="18" charset="0"/>
              </a:rPr>
              <a:t>Internet</a:t>
            </a:r>
          </a:p>
          <a:p>
            <a:pPr lvl="1">
              <a:buFont typeface="Arial" panose="020B0604020202020204" pitchFamily="34" charset="0"/>
              <a:buChar char="•"/>
            </a:pPr>
            <a:r>
              <a:rPr lang="en-US" sz="2400" dirty="0">
                <a:latin typeface="Californian FB" panose="0207040306080B030204" pitchFamily="18" charset="0"/>
              </a:rPr>
              <a:t>Library</a:t>
            </a:r>
          </a:p>
          <a:p>
            <a:pPr lvl="1">
              <a:buFont typeface="Arial" panose="020B0604020202020204" pitchFamily="34" charset="0"/>
              <a:buChar char="•"/>
            </a:pPr>
            <a:endParaRPr lang="en-US" sz="2400" dirty="0">
              <a:latin typeface="Californian FB" panose="0207040306080B030204" pitchFamily="18" charset="0"/>
            </a:endParaRPr>
          </a:p>
          <a:p>
            <a:pPr marL="0" indent="0">
              <a:buNone/>
            </a:pPr>
            <a:endParaRPr lang="en-US" sz="2400" dirty="0">
              <a:latin typeface="Californian FB" panose="0207040306080B030204" pitchFamily="18" charset="0"/>
            </a:endParaRPr>
          </a:p>
          <a:p>
            <a:pPr marL="0" lvl="0" indent="0" defTabSz="914400" eaLnBrk="1" hangingPunct="1">
              <a:spcBef>
                <a:spcPct val="0"/>
              </a:spcBef>
              <a:buNone/>
            </a:pPr>
            <a:endParaRPr lang="en-US" sz="4000" dirty="0">
              <a:solidFill>
                <a:srgbClr val="000000"/>
              </a:solidFill>
              <a:latin typeface="Arial" panose="020B0604020202020204" pitchFamily="34" charset="0"/>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152400"/>
            <a:ext cx="7802562" cy="762000"/>
          </a:xfrm>
        </p:spPr>
        <p:txBody>
          <a:bodyPr/>
          <a:lstStyle/>
          <a:p>
            <a:br>
              <a:rPr lang="en-US" b="1" dirty="0"/>
            </a:br>
            <a:br>
              <a:rPr lang="en-US" b="1" dirty="0"/>
            </a:br>
            <a:r>
              <a:rPr lang="en-US" sz="2400" b="1" dirty="0"/>
              <a:t> </a:t>
            </a:r>
            <a:br>
              <a:rPr lang="en-US" sz="2400" b="1" dirty="0"/>
            </a:br>
            <a:br>
              <a:rPr lang="en-US" sz="2800" b="1" dirty="0">
                <a:latin typeface="Arial Black" panose="020B0A04020102020204" pitchFamily="34" charset="0"/>
              </a:rPr>
            </a:br>
            <a:br>
              <a:rPr lang="en-US" sz="2400" b="1" dirty="0"/>
            </a:br>
            <a:br>
              <a:rPr lang="en-US" sz="2000" b="1" dirty="0">
                <a:latin typeface="Times New Roman" panose="02020603050405020304" pitchFamily="18" charset="0"/>
                <a:cs typeface="Times New Roman" panose="02020603050405020304" pitchFamily="18" charset="0"/>
              </a:rPr>
            </a:br>
            <a:endParaRPr lang="en-US" dirty="0"/>
          </a:p>
        </p:txBody>
      </p:sp>
      <p:sp>
        <p:nvSpPr>
          <p:cNvPr id="4099" name="Content Placeholder 2"/>
          <p:cNvSpPr>
            <a:spLocks noGrp="1"/>
          </p:cNvSpPr>
          <p:nvPr>
            <p:ph idx="1"/>
          </p:nvPr>
        </p:nvSpPr>
        <p:spPr>
          <a:xfrm>
            <a:off x="1341438" y="1076325"/>
            <a:ext cx="7802562" cy="5486400"/>
          </a:xfrm>
        </p:spPr>
        <p:txBody>
          <a:bodyPr/>
          <a:lstStyle/>
          <a:p>
            <a:pPr>
              <a:defRPr/>
            </a:pPr>
            <a:r>
              <a:rPr lang="en-US" sz="2400" dirty="0">
                <a:latin typeface="Californian FB" panose="0207040306080B030204" pitchFamily="18" charset="0"/>
              </a:rPr>
              <a:t>Step 2: Select the information.</a:t>
            </a:r>
          </a:p>
          <a:p>
            <a:pPr>
              <a:defRPr/>
            </a:pPr>
            <a:endParaRPr lang="en-US" sz="2400" dirty="0">
              <a:latin typeface="Californian FB" panose="0207040306080B030204" pitchFamily="18" charset="0"/>
            </a:endParaRPr>
          </a:p>
          <a:p>
            <a:pPr>
              <a:defRPr/>
            </a:pPr>
            <a:r>
              <a:rPr lang="en-US" sz="2400" dirty="0">
                <a:latin typeface="Californian FB" panose="0207040306080B030204" pitchFamily="18" charset="0"/>
              </a:rPr>
              <a:t>Once you have identified pieces (or blocks) of information, think about their relevance. </a:t>
            </a:r>
          </a:p>
          <a:p>
            <a:pPr>
              <a:defRPr/>
            </a:pPr>
            <a:endParaRPr lang="en-US" sz="2400" dirty="0">
              <a:latin typeface="Californian FB" panose="0207040306080B030204" pitchFamily="18" charset="0"/>
            </a:endParaRPr>
          </a:p>
          <a:p>
            <a:pPr>
              <a:defRPr/>
            </a:pPr>
            <a:r>
              <a:rPr lang="en-US" sz="2400" dirty="0">
                <a:latin typeface="Californian FB" panose="0207040306080B030204" pitchFamily="18" charset="0"/>
              </a:rPr>
              <a:t>Questions:</a:t>
            </a:r>
          </a:p>
          <a:p>
            <a:pPr marL="457200" indent="-457200">
              <a:buFontTx/>
              <a:buAutoNum type="arabicPeriod"/>
              <a:defRPr/>
            </a:pPr>
            <a:r>
              <a:rPr lang="en-US" sz="2400" dirty="0">
                <a:latin typeface="Californian FB" panose="0207040306080B030204" pitchFamily="18" charset="0"/>
              </a:rPr>
              <a:t>Is this information relevant to my task? (you do this by reading the information in detail). </a:t>
            </a:r>
            <a:r>
              <a:rPr lang="en-US" sz="2400" i="1" dirty="0">
                <a:solidFill>
                  <a:srgbClr val="FF00FF"/>
                </a:solidFill>
                <a:latin typeface="Californian FB" panose="0207040306080B030204" pitchFamily="18" charset="0"/>
              </a:rPr>
              <a:t>(</a:t>
            </a:r>
            <a:r>
              <a:rPr lang="en-US" sz="2400" i="1" dirty="0" err="1">
                <a:solidFill>
                  <a:srgbClr val="FF00FF"/>
                </a:solidFill>
                <a:latin typeface="Californian FB" panose="0207040306080B030204" pitchFamily="18" charset="0"/>
              </a:rPr>
              <a:t>eg</a:t>
            </a:r>
            <a:r>
              <a:rPr lang="en-US" sz="2400" i="1" dirty="0">
                <a:solidFill>
                  <a:srgbClr val="FF00FF"/>
                </a:solidFill>
                <a:latin typeface="Californian FB" panose="0207040306080B030204" pitchFamily="18" charset="0"/>
              </a:rPr>
              <a:t>. Does any of the information obtained help you understand what information age is? Are there definitions? </a:t>
            </a:r>
            <a:r>
              <a:rPr lang="en-US" sz="2400" i="1" dirty="0" err="1">
                <a:solidFill>
                  <a:srgbClr val="FF00FF"/>
                </a:solidFill>
                <a:latin typeface="Californian FB" panose="0207040306080B030204" pitchFamily="18" charset="0"/>
              </a:rPr>
              <a:t>etc</a:t>
            </a:r>
            <a:r>
              <a:rPr lang="en-US" sz="2400" i="1" dirty="0">
                <a:solidFill>
                  <a:srgbClr val="FF00FF"/>
                </a:solidFill>
                <a:latin typeface="Californian FB" panose="0207040306080B030204" pitchFamily="18" charset="0"/>
              </a:rPr>
              <a:t>)</a:t>
            </a:r>
          </a:p>
          <a:p>
            <a:pPr marL="457200" indent="-457200">
              <a:buFontTx/>
              <a:buAutoNum type="arabicPeriod"/>
              <a:defRPr/>
            </a:pPr>
            <a:r>
              <a:rPr lang="en-US" sz="2400" dirty="0">
                <a:latin typeface="Californian FB" panose="0207040306080B030204" pitchFamily="18" charset="0"/>
              </a:rPr>
              <a:t>What and how much information should I record?</a:t>
            </a:r>
          </a:p>
          <a:p>
            <a:pPr marL="457200" indent="-457200">
              <a:buFontTx/>
              <a:buAutoNum type="arabicPeriod"/>
              <a:defRPr/>
            </a:pPr>
            <a:r>
              <a:rPr lang="en-US" sz="2400" dirty="0">
                <a:latin typeface="Californian FB" panose="0207040306080B030204" pitchFamily="18" charset="0"/>
              </a:rPr>
              <a:t>How should I record this information? – </a:t>
            </a:r>
            <a:r>
              <a:rPr lang="en-US" sz="2000" i="1" dirty="0">
                <a:solidFill>
                  <a:srgbClr val="FF00FF"/>
                </a:solidFill>
                <a:latin typeface="Californian FB" panose="0207040306080B030204" pitchFamily="18" charset="0"/>
              </a:rPr>
              <a:t>At this level you also note down the sources for later compilation </a:t>
            </a:r>
            <a:r>
              <a:rPr lang="en-US" sz="2000" i="1">
                <a:solidFill>
                  <a:srgbClr val="FF00FF"/>
                </a:solidFill>
                <a:latin typeface="Californian FB" panose="0207040306080B030204" pitchFamily="18" charset="0"/>
              </a:rPr>
              <a:t>of references)</a:t>
            </a:r>
            <a:br>
              <a:rPr lang="en-US" sz="2400" dirty="0">
                <a:latin typeface="Californian FB" panose="0207040306080B030204" pitchFamily="18" charset="0"/>
              </a:rPr>
            </a:br>
            <a:endParaRPr lang="en-US" sz="2400" dirty="0">
              <a:latin typeface="Californian FB" panose="0207040306080B030204" pitchFamily="18" charset="0"/>
            </a:endParaRPr>
          </a:p>
          <a:p>
            <a:pPr marL="0" lvl="0" indent="0" defTabSz="914400" eaLnBrk="1" hangingPunct="1">
              <a:spcBef>
                <a:spcPct val="0"/>
              </a:spcBef>
              <a:buNone/>
            </a:pPr>
            <a:endParaRPr lang="en-US" b="1" dirty="0">
              <a:solidFill>
                <a:srgbClr val="000000"/>
              </a:solidFill>
              <a:latin typeface="Arial" panose="020B0604020202020204" pitchFamily="34" charset="0"/>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b="1" dirty="0"/>
              <a:t>ORGANIZATION</a:t>
            </a: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You have collected blocks of information. You now have to organize them for the final presentation.</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There are four steps.</a:t>
            </a:r>
          </a:p>
          <a:p>
            <a:pPr marL="0" indent="0">
              <a:buNone/>
            </a:pPr>
            <a:r>
              <a:rPr lang="en-US" sz="2400" dirty="0">
                <a:latin typeface="Californian FB" panose="0207040306080B030204" pitchFamily="18" charset="0"/>
              </a:rPr>
              <a:t>	1. Evaluate the information</a:t>
            </a:r>
          </a:p>
          <a:p>
            <a:pPr marL="0" indent="0">
              <a:buNone/>
            </a:pPr>
            <a:r>
              <a:rPr lang="en-US" sz="2400" dirty="0">
                <a:latin typeface="Californian FB" panose="0207040306080B030204" pitchFamily="18" charset="0"/>
              </a:rPr>
              <a:t>	2. Synthesize the information</a:t>
            </a:r>
          </a:p>
          <a:p>
            <a:pPr marL="0" indent="0">
              <a:buNone/>
            </a:pPr>
            <a:r>
              <a:rPr lang="en-US" sz="2400" dirty="0">
                <a:latin typeface="Californian FB" panose="0207040306080B030204" pitchFamily="18" charset="0"/>
              </a:rPr>
              <a:t>	3. Present the information task</a:t>
            </a:r>
          </a:p>
          <a:p>
            <a:pPr marL="0" indent="0">
              <a:buNone/>
            </a:pPr>
            <a:r>
              <a:rPr lang="en-US" sz="2400" dirty="0">
                <a:latin typeface="Californian FB" panose="0207040306080B030204" pitchFamily="18" charset="0"/>
              </a:rPr>
              <a:t>	4. Appraise the completed task.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13564" y="981777"/>
            <a:ext cx="7802562" cy="5876223"/>
          </a:xfrm>
        </p:spPr>
        <p:txBody>
          <a:bodyPr/>
          <a:lstStyle/>
          <a:p>
            <a:pPr marL="0" indent="0">
              <a:buNone/>
            </a:pPr>
            <a:r>
              <a:rPr lang="en-US" sz="2400" dirty="0">
                <a:latin typeface="Californian FB" panose="0207040306080B030204" pitchFamily="18" charset="0"/>
              </a:rPr>
              <a:t>Step 5: Evaluate the information.</a:t>
            </a:r>
            <a:br>
              <a:rPr lang="en-US" sz="2400" dirty="0">
                <a:latin typeface="Californian FB" panose="0207040306080B030204" pitchFamily="18" charset="0"/>
              </a:rPr>
            </a:br>
            <a:r>
              <a:rPr lang="en-US" sz="2400" dirty="0">
                <a:latin typeface="Californian FB" panose="0207040306080B030204" pitchFamily="18" charset="0"/>
              </a:rPr>
              <a:t>Here you decide the definite suitability of the information for your task.</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You use critical thinking skills.</a:t>
            </a:r>
          </a:p>
          <a:p>
            <a:pPr marL="0" indent="0">
              <a:buNone/>
            </a:pPr>
            <a:r>
              <a:rPr lang="en-US" sz="2400" dirty="0">
                <a:latin typeface="Californian FB" panose="0207040306080B030204" pitchFamily="18" charset="0"/>
              </a:rPr>
              <a:t>Questions to ask</a:t>
            </a:r>
          </a:p>
          <a:p>
            <a:pPr marL="0" indent="0">
              <a:buNone/>
            </a:pPr>
            <a:r>
              <a:rPr lang="en-US" sz="2400" dirty="0">
                <a:latin typeface="Californian FB" panose="0207040306080B030204" pitchFamily="18" charset="0"/>
              </a:rPr>
              <a:t>1. Is the information at a level I can understand?</a:t>
            </a:r>
          </a:p>
          <a:p>
            <a:pPr marL="0" indent="0">
              <a:buNone/>
            </a:pPr>
            <a:r>
              <a:rPr lang="en-US" sz="2400" dirty="0">
                <a:latin typeface="Californian FB" panose="0207040306080B030204" pitchFamily="18" charset="0"/>
              </a:rPr>
              <a:t>2. Is the information up to date? (check publ. Date)</a:t>
            </a:r>
          </a:p>
          <a:p>
            <a:pPr marL="0" indent="0">
              <a:buNone/>
            </a:pPr>
            <a:r>
              <a:rPr lang="en-US" sz="2400" dirty="0">
                <a:latin typeface="Californian FB" panose="0207040306080B030204" pitchFamily="18" charset="0"/>
              </a:rPr>
              <a:t>3. Is the information accurate and unbiased? Is some of the </a:t>
            </a:r>
          </a:p>
          <a:p>
            <a:pPr marL="0" indent="0">
              <a:buNone/>
            </a:pPr>
            <a:r>
              <a:rPr lang="en-US" sz="2400" dirty="0">
                <a:latin typeface="Californian FB" panose="0207040306080B030204" pitchFamily="18" charset="0"/>
              </a:rPr>
              <a:t> 	      information conflicting?</a:t>
            </a:r>
          </a:p>
          <a:p>
            <a:pPr marL="0" indent="0">
              <a:buNone/>
            </a:pPr>
            <a:r>
              <a:rPr lang="en-US" sz="2400" dirty="0">
                <a:latin typeface="Californian FB" panose="0207040306080B030204" pitchFamily="18" charset="0"/>
              </a:rPr>
              <a:t>4. Which of the information is most relevant?</a:t>
            </a:r>
          </a:p>
          <a:p>
            <a:pPr marL="0" indent="0">
              <a:buNone/>
            </a:pPr>
            <a:r>
              <a:rPr lang="en-US" sz="2400" dirty="0">
                <a:latin typeface="Californian FB" panose="0207040306080B030204" pitchFamily="18" charset="0"/>
              </a:rPr>
              <a:t>5. How does this information help with the problem in the  	     task?</a:t>
            </a:r>
          </a:p>
          <a:p>
            <a:pPr marL="0" indent="0">
              <a:buNone/>
            </a:pPr>
            <a:r>
              <a:rPr lang="en-US" sz="2400" dirty="0">
                <a:latin typeface="Californian FB" panose="0207040306080B030204" pitchFamily="18" charset="0"/>
              </a:rPr>
              <a:t>6.Do I have enough information to complete the task?</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r>
              <a:rPr lang="en-US" sz="2400" dirty="0">
                <a:latin typeface="Californian FB" panose="0207040306080B030204" pitchFamily="18" charset="0"/>
              </a:rPr>
              <a:t>Step 6: Synthesizing the information.</a:t>
            </a:r>
          </a:p>
          <a:p>
            <a:endParaRPr lang="en-US" sz="2400" dirty="0">
              <a:latin typeface="Californian FB" panose="0207040306080B030204" pitchFamily="18" charset="0"/>
            </a:endParaRPr>
          </a:p>
          <a:p>
            <a:r>
              <a:rPr lang="en-US" sz="2400" dirty="0">
                <a:latin typeface="Californian FB" panose="0207040306080B030204" pitchFamily="18" charset="0"/>
              </a:rPr>
              <a:t>Synthesizing is putting all the relevant information together by combining, merging, and blending it.</a:t>
            </a:r>
          </a:p>
          <a:p>
            <a:r>
              <a:rPr lang="en-US" sz="2400" dirty="0">
                <a:latin typeface="Californian FB" panose="0207040306080B030204" pitchFamily="18" charset="0"/>
              </a:rPr>
              <a:t>You package it in to a new information product </a:t>
            </a:r>
            <a:r>
              <a:rPr lang="en-US" sz="2400" dirty="0" err="1">
                <a:latin typeface="Californian FB" panose="0207040306080B030204" pitchFamily="18" charset="0"/>
              </a:rPr>
              <a:t>ie</a:t>
            </a:r>
            <a:r>
              <a:rPr lang="en-US" sz="2400" dirty="0">
                <a:latin typeface="Californian FB" panose="0207040306080B030204" pitchFamily="18" charset="0"/>
              </a:rPr>
              <a:t>. The completed task.</a:t>
            </a:r>
          </a:p>
          <a:p>
            <a:r>
              <a:rPr lang="en-US" sz="2400" dirty="0">
                <a:latin typeface="Californian FB" panose="0207040306080B030204" pitchFamily="18" charset="0"/>
              </a:rPr>
              <a:t>This synthesized information will form the answer to the information problem.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Step 7: Present the information task.</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What you have in step 6 is only a detailed outline.</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In step 7, you apply the information to your blueprint. You use the headings and subheadings to compose paragraphs which include the relevant information in detail under each heading or subheading. </a:t>
            </a:r>
            <a:br>
              <a:rPr lang="en-US" sz="2400" dirty="0">
                <a:latin typeface="Californian FB" panose="0207040306080B030204" pitchFamily="18" charset="0"/>
              </a:rPr>
            </a:b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Step 8: Appraise the completed task.</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Your task appears complete, but you still need to step back and assess what you have done.</a:t>
            </a:r>
          </a:p>
          <a:p>
            <a:pPr marL="0" indent="0">
              <a:buNone/>
            </a:pPr>
            <a:r>
              <a:rPr lang="en-US" sz="2400" dirty="0">
                <a:latin typeface="Californian FB" panose="0207040306080B030204" pitchFamily="18" charset="0"/>
              </a:rPr>
              <a:t>Ask yourself:</a:t>
            </a:r>
          </a:p>
          <a:p>
            <a:pPr marL="0" indent="0">
              <a:buNone/>
            </a:pPr>
            <a:r>
              <a:rPr lang="en-US" sz="2400" dirty="0">
                <a:latin typeface="Californian FB" panose="0207040306080B030204" pitchFamily="18" charset="0"/>
              </a:rPr>
              <a:t>	1. Is there part of the task that seems incomplete?</a:t>
            </a:r>
          </a:p>
          <a:p>
            <a:pPr marL="0" indent="0">
              <a:buNone/>
            </a:pPr>
            <a:r>
              <a:rPr lang="en-US" sz="2400" dirty="0">
                <a:latin typeface="Californian FB" panose="0207040306080B030204" pitchFamily="18" charset="0"/>
              </a:rPr>
              <a:t>	2. What should I do to improve it?</a:t>
            </a:r>
          </a:p>
          <a:p>
            <a:pPr marL="0" indent="0">
              <a:buNone/>
            </a:pPr>
            <a:r>
              <a:rPr lang="en-US" sz="2400" dirty="0">
                <a:latin typeface="Californian FB" panose="0207040306080B030204" pitchFamily="18" charset="0"/>
              </a:rPr>
              <a:t>	3. How has doing this task helped me?</a:t>
            </a:r>
          </a:p>
          <a:p>
            <a:pPr marL="0" indent="0">
              <a:buNone/>
            </a:pPr>
            <a:r>
              <a:rPr lang="en-US" sz="2400" dirty="0">
                <a:latin typeface="Californian FB" panose="0207040306080B030204" pitchFamily="18" charset="0"/>
              </a:rPr>
              <a:t>		- Why would a lecturer assign you such a task?</a:t>
            </a:r>
          </a:p>
          <a:p>
            <a:pPr marL="0" indent="0">
              <a:buNone/>
            </a:pPr>
            <a:r>
              <a:rPr lang="en-US" sz="2400" dirty="0">
                <a:latin typeface="Californian FB" panose="0207040306080B030204" pitchFamily="18" charset="0"/>
              </a:rPr>
              <a:t>		- What does he want me to learn?</a:t>
            </a:r>
          </a:p>
          <a:p>
            <a:pPr marL="0" indent="0">
              <a:buNone/>
            </a:pPr>
            <a:r>
              <a:rPr lang="en-US" sz="2400" dirty="0">
                <a:latin typeface="Californian FB" panose="0207040306080B030204" pitchFamily="18" charset="0"/>
              </a:rPr>
              <a:t>		- How would such an assignment help you in  </a:t>
            </a:r>
          </a:p>
          <a:p>
            <a:pPr marL="0" indent="0">
              <a:buNone/>
            </a:pPr>
            <a:r>
              <a:rPr lang="en-US" sz="2400" dirty="0">
                <a:latin typeface="Californian FB" panose="0207040306080B030204" pitchFamily="18" charset="0"/>
              </a:rPr>
              <a:t>		    your studies?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lgn="ctr"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algn="ctr"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algn="ctr"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algn="ctr"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algn="ctr"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algn="ctr" eaLnBrk="1" hangingPunct="1">
              <a:buNone/>
            </a:pPr>
            <a:r>
              <a:rPr lang="en-US" altLang="en-US" sz="3600" b="1" dirty="0">
                <a:latin typeface="Times New Roman" panose="02020603050405020304" pitchFamily="18" charset="0"/>
                <a:cs typeface="Times New Roman" panose="02020603050405020304" pitchFamily="18" charset="0"/>
              </a:rPr>
              <a:t>SOURCES OF INFORMATION</a:t>
            </a:r>
            <a:endParaRPr lang="en-US" alt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p:spPr>
        <p:txBody>
          <a:bodyPr/>
          <a:lstStyle/>
          <a:p>
            <a:r>
              <a:rPr sz="4000" dirty="0">
                <a:latin typeface="Californian FB" panose="0207040306080B030204" pitchFamily="18" charset="0"/>
              </a:rPr>
              <a:t>Discussion Question</a:t>
            </a:r>
          </a:p>
        </p:txBody>
      </p:sp>
      <p:sp>
        <p:nvSpPr>
          <p:cNvPr id="3" name="Content Placeholder 2"/>
          <p:cNvSpPr>
            <a:spLocks noGrp="1"/>
          </p:cNvSpPr>
          <p:nvPr>
            <p:ph idx="1"/>
          </p:nvPr>
        </p:nvSpPr>
        <p:spPr>
          <a:xfrm>
            <a:off x="1524000" y="1600200"/>
            <a:ext cx="7162800" cy="4525963"/>
          </a:xfrm>
        </p:spPr>
        <p:txBody>
          <a:bodyPr/>
          <a:lstStyle/>
          <a:p>
            <a:pPr marL="0" indent="0">
              <a:buNone/>
            </a:pPr>
            <a:r>
              <a:rPr sz="2400" dirty="0">
                <a:latin typeface="Californian FB" panose="0207040306080B030204" pitchFamily="18" charset="0"/>
              </a:rPr>
              <a:t>Why is it important to distinguish between reference and non-reference sources when conducting academic research?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lgn="just" eaLnBrk="1" hangingPunct="1">
              <a:buNone/>
            </a:pPr>
            <a:r>
              <a:rPr lang="en-US" altLang="en-US" sz="2400" b="1" i="1" dirty="0"/>
              <a:t>Source: one who or that which supplies information </a:t>
            </a:r>
            <a:endParaRPr lang="en-US" altLang="en-US" sz="2400" dirty="0"/>
          </a:p>
          <a:p>
            <a:pPr algn="just" eaLnBrk="1" hangingPunct="1">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0" indent="0" algn="just" eaLnBrk="1" hangingPunct="1">
              <a:buNone/>
            </a:pPr>
            <a:r>
              <a:rPr lang="en-US" altLang="en-US" sz="2400" dirty="0">
                <a:latin typeface="Times New Roman" panose="02020603050405020304" pitchFamily="18" charset="0"/>
                <a:cs typeface="Times New Roman" panose="02020603050405020304" pitchFamily="18" charset="0"/>
              </a:rPr>
              <a:t>There is super-abundance amount of information (sources) available, and society regards this information as a key resource.</a:t>
            </a:r>
          </a:p>
          <a:p>
            <a:pPr algn="just" eaLnBrk="1" hangingPunct="1">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0" indent="0" algn="just" eaLnBrk="1" hangingPunct="1">
              <a:buNone/>
            </a:pPr>
            <a:r>
              <a:rPr lang="en-US" altLang="en-US" sz="2400" dirty="0">
                <a:latin typeface="Times New Roman" panose="02020603050405020304" pitchFamily="18" charset="0"/>
                <a:cs typeface="Times New Roman" panose="02020603050405020304" pitchFamily="18" charset="0"/>
              </a:rPr>
              <a:t> Information is found in many different sources. </a:t>
            </a:r>
          </a:p>
          <a:p>
            <a:pPr algn="just" eaLnBrk="1" hangingPunct="1">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0" indent="0" algn="just" eaLnBrk="1" hangingPunct="1">
              <a:buNone/>
            </a:pPr>
            <a:r>
              <a:rPr lang="en-US" altLang="en-US" sz="2400" dirty="0">
                <a:latin typeface="Times New Roman" panose="02020603050405020304" pitchFamily="18" charset="0"/>
                <a:cs typeface="Times New Roman" panose="02020603050405020304" pitchFamily="18" charset="0"/>
              </a:rPr>
              <a:t>The sources of information may be people, objects in the environment, books, library databases(e-books &amp; e-journals), newspapers, magazines, government publications, sound recordings, video recordings, CD-ROMs and the internet.</a:t>
            </a:r>
          </a:p>
          <a:p>
            <a:pPr marL="0" indent="0" algn="just" eaLnBrk="1" hangingPunct="1">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b="1" dirty="0"/>
              <a:t>Reference sources</a:t>
            </a: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eaLnBrk="1" hangingPunct="1">
              <a:buFontTx/>
              <a:buChar char="-"/>
            </a:pPr>
            <a:r>
              <a:rPr lang="en-US" altLang="en-US" sz="2400" dirty="0">
                <a:latin typeface="Californian FB" panose="0207040306080B030204" pitchFamily="18" charset="0"/>
              </a:rPr>
              <a:t>Sources of information  which are used for answering inquiries. </a:t>
            </a:r>
          </a:p>
          <a:p>
            <a:pPr eaLnBrk="1" hangingPunct="1">
              <a:buFontTx/>
              <a:buChar char="-"/>
            </a:pPr>
            <a:endParaRPr lang="en-US" altLang="en-US" sz="2400" dirty="0">
              <a:latin typeface="Californian FB" panose="0207040306080B030204" pitchFamily="18" charset="0"/>
            </a:endParaRPr>
          </a:p>
          <a:p>
            <a:pPr eaLnBrk="1" hangingPunct="1">
              <a:buFontTx/>
              <a:buChar char="-"/>
            </a:pPr>
            <a:r>
              <a:rPr lang="en-US" sz="2400" dirty="0">
                <a:latin typeface="Californian FB" panose="0207040306080B030204" pitchFamily="18" charset="0"/>
              </a:rPr>
              <a:t>Authoritative materials consulted for specific information.</a:t>
            </a:r>
          </a:p>
          <a:p>
            <a:pPr eaLnBrk="1" hangingPunct="1">
              <a:buFontTx/>
              <a:buChar char="-"/>
            </a:pPr>
            <a:endParaRPr lang="en-US" sz="2400" dirty="0">
              <a:latin typeface="Californian FB" panose="0207040306080B030204" pitchFamily="18" charset="0"/>
            </a:endParaRPr>
          </a:p>
          <a:p>
            <a:pPr eaLnBrk="1" hangingPunct="1">
              <a:buFontTx/>
              <a:buChar char="-"/>
            </a:pPr>
            <a:r>
              <a:rPr lang="en-US" sz="2400" dirty="0">
                <a:latin typeface="Californian FB" panose="0207040306080B030204" pitchFamily="18" charset="0"/>
              </a:rPr>
              <a:t>Provide facts, definitions, statistics, and background knowledge.</a:t>
            </a:r>
          </a:p>
          <a:p>
            <a:pPr eaLnBrk="1" hangingPunct="1">
              <a:buFontTx/>
              <a:buChar char="-"/>
            </a:pPr>
            <a:endParaRPr lang="en-US" sz="2400" dirty="0">
              <a:latin typeface="Californian FB" panose="0207040306080B030204" pitchFamily="18" charset="0"/>
            </a:endParaRPr>
          </a:p>
          <a:p>
            <a:pPr eaLnBrk="1" hangingPunct="1">
              <a:buFontTx/>
              <a:buChar char="-"/>
            </a:pPr>
            <a:r>
              <a:rPr lang="en-US" sz="2400" dirty="0">
                <a:latin typeface="Californian FB" panose="0207040306080B030204" pitchFamily="18" charset="0"/>
              </a:rPr>
              <a:t>Support quick reference rather than continuous reading</a:t>
            </a:r>
            <a:r>
              <a:rPr lang="en-US" sz="2400" dirty="0"/>
              <a:t>.</a:t>
            </a:r>
          </a:p>
          <a:p>
            <a:pPr eaLnBrk="1" hangingPunct="1">
              <a:buFontTx/>
              <a:buChar char="-"/>
            </a:pPr>
            <a:endParaRPr lang="en-US" altLang="en-US" sz="2400" dirty="0">
              <a:latin typeface="Californian FB" panose="0207040306080B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1EEA2-C18D-4BB6-98E3-83FE4055C521}"/>
              </a:ext>
            </a:extLst>
          </p:cNvPr>
          <p:cNvSpPr>
            <a:spLocks noGrp="1"/>
          </p:cNvSpPr>
          <p:nvPr>
            <p:ph type="title"/>
          </p:nvPr>
        </p:nvSpPr>
        <p:spPr>
          <a:xfrm>
            <a:off x="838200" y="274638"/>
            <a:ext cx="7848600" cy="639762"/>
          </a:xfrm>
        </p:spPr>
        <p:txBody>
          <a:bodyPr/>
          <a:lstStyle/>
          <a:p>
            <a:r>
              <a:rPr lang="en-US" sz="4000" dirty="0">
                <a:latin typeface="Californian FB" panose="0207040306080B030204" pitchFamily="18" charset="0"/>
              </a:rPr>
              <a:t>Importance of reference sources</a:t>
            </a:r>
            <a:endParaRPr lang="en-KE" sz="4000" dirty="0">
              <a:latin typeface="Californian FB" panose="0207040306080B030204" pitchFamily="18" charset="0"/>
            </a:endParaRPr>
          </a:p>
        </p:txBody>
      </p:sp>
      <p:sp>
        <p:nvSpPr>
          <p:cNvPr id="3" name="Content Placeholder 2">
            <a:extLst>
              <a:ext uri="{FF2B5EF4-FFF2-40B4-BE49-F238E27FC236}">
                <a16:creationId xmlns:a16="http://schemas.microsoft.com/office/drawing/2014/main" id="{F3BA3470-8C24-4898-BAED-47BD4019D256}"/>
              </a:ext>
            </a:extLst>
          </p:cNvPr>
          <p:cNvSpPr>
            <a:spLocks noGrp="1"/>
          </p:cNvSpPr>
          <p:nvPr>
            <p:ph idx="1"/>
          </p:nvPr>
        </p:nvSpPr>
        <p:spPr>
          <a:xfrm>
            <a:off x="1371600" y="1066800"/>
            <a:ext cx="7315200" cy="5059363"/>
          </a:xfrm>
        </p:spPr>
        <p:txBody>
          <a:bodyPr/>
          <a:lstStyle/>
          <a:p>
            <a:pPr marL="0" indent="0">
              <a:buNone/>
            </a:pPr>
            <a:r>
              <a:rPr lang="en-US" sz="2800" b="1" dirty="0">
                <a:latin typeface="Californian FB" panose="0207040306080B030204" pitchFamily="18" charset="0"/>
              </a:rPr>
              <a:t>Reference sources help students to:</a:t>
            </a:r>
          </a:p>
          <a:p>
            <a:r>
              <a:rPr lang="en-US" sz="2400" dirty="0">
                <a:latin typeface="Californian FB" panose="0207040306080B030204" pitchFamily="18" charset="0"/>
              </a:rPr>
              <a:t>Develop background understanding of a topic.</a:t>
            </a:r>
          </a:p>
          <a:p>
            <a:endParaRPr lang="en-US" sz="2400" dirty="0">
              <a:latin typeface="Californian FB" panose="0207040306080B030204" pitchFamily="18" charset="0"/>
            </a:endParaRPr>
          </a:p>
          <a:p>
            <a:r>
              <a:rPr lang="en-US" sz="2400" dirty="0">
                <a:latin typeface="Californian FB" panose="0207040306080B030204" pitchFamily="18" charset="0"/>
              </a:rPr>
              <a:t>Clarify concepts and terminology.</a:t>
            </a:r>
          </a:p>
          <a:p>
            <a:endParaRPr lang="en-US" sz="2400" dirty="0">
              <a:latin typeface="Californian FB" panose="0207040306080B030204" pitchFamily="18" charset="0"/>
            </a:endParaRPr>
          </a:p>
          <a:p>
            <a:r>
              <a:rPr lang="en-US" sz="2400" dirty="0">
                <a:latin typeface="Californian FB" panose="0207040306080B030204" pitchFamily="18" charset="0"/>
              </a:rPr>
              <a:t>Verify facts and data.</a:t>
            </a:r>
          </a:p>
          <a:p>
            <a:endParaRPr lang="en-US" sz="2400" dirty="0">
              <a:latin typeface="Californian FB" panose="0207040306080B030204" pitchFamily="18" charset="0"/>
            </a:endParaRPr>
          </a:p>
          <a:p>
            <a:r>
              <a:rPr lang="en-US" sz="2400" dirty="0">
                <a:latin typeface="Californian FB" panose="0207040306080B030204" pitchFamily="18" charset="0"/>
              </a:rPr>
              <a:t>Identify credible sources for further research.</a:t>
            </a:r>
          </a:p>
          <a:p>
            <a:endParaRPr lang="en-US" sz="2400" dirty="0">
              <a:latin typeface="Californian FB" panose="0207040306080B030204" pitchFamily="18" charset="0"/>
            </a:endParaRPr>
          </a:p>
          <a:p>
            <a:r>
              <a:rPr lang="en-US" sz="2400" dirty="0">
                <a:latin typeface="Californian FB" panose="0207040306080B030204" pitchFamily="18" charset="0"/>
              </a:rPr>
              <a:t>Using them correctly shows evaluation and search skills.</a:t>
            </a:r>
          </a:p>
          <a:p>
            <a:endParaRPr lang="en-KE" dirty="0"/>
          </a:p>
        </p:txBody>
      </p:sp>
    </p:spTree>
    <p:extLst>
      <p:ext uri="{BB962C8B-B14F-4D97-AF65-F5344CB8AC3E}">
        <p14:creationId xmlns:p14="http://schemas.microsoft.com/office/powerpoint/2010/main" val="2181056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a:defRPr/>
            </a:pPr>
            <a:r>
              <a:rPr lang="en-US" sz="2400" dirty="0">
                <a:latin typeface="Californian FB" panose="0207040306080B030204" pitchFamily="18" charset="0"/>
              </a:rPr>
              <a:t>Examples of ref. sources: </a:t>
            </a:r>
          </a:p>
          <a:p>
            <a:pPr>
              <a:defRPr/>
            </a:pPr>
            <a:endParaRPr lang="en-US" sz="2400" dirty="0">
              <a:latin typeface="Californian FB" panose="0207040306080B030204" pitchFamily="18" charset="0"/>
            </a:endParaRPr>
          </a:p>
          <a:p>
            <a:pPr marL="457200" indent="-457200">
              <a:buFontTx/>
              <a:buAutoNum type="arabicPeriod"/>
              <a:defRPr/>
            </a:pPr>
            <a:r>
              <a:rPr lang="en-US" sz="2400" dirty="0">
                <a:latin typeface="Californian FB" panose="0207040306080B030204" pitchFamily="18" charset="0"/>
              </a:rPr>
              <a:t>Dictionary</a:t>
            </a:r>
          </a:p>
          <a:p>
            <a:pPr marL="457200" indent="-457200">
              <a:defRPr/>
            </a:pPr>
            <a:r>
              <a:rPr lang="en-US" sz="2400" b="1" dirty="0">
                <a:latin typeface="Californian FB" panose="0207040306080B030204" pitchFamily="18" charset="0"/>
              </a:rPr>
              <a:t>A source which explains or translates, usually in alphabetical order, the words of a language or languages (or of a particular category of vocabulary), giving for each word its typical spelling, an explanation of its meaning or meanings, and often other information, such as pronunciation, etymology, synonyms, equivalents in other languages, and illustrative examples</a:t>
            </a:r>
            <a:r>
              <a:rPr lang="en-US" sz="2400" b="1" dirty="0">
                <a:latin typeface="Arial" panose="020B0604020202020204" pitchFamily="34" charset="0"/>
              </a:rPr>
              <a:t>.</a:t>
            </a:r>
          </a:p>
          <a:p>
            <a:pPr marL="457200" indent="-457200">
              <a:defRPr/>
            </a:pPr>
            <a:endParaRPr lang="en-US" sz="2400" dirty="0">
              <a:latin typeface="Californian FB" panose="0207040306080B030204" pitchFamily="18" charset="0"/>
            </a:endParaRPr>
          </a:p>
          <a:p>
            <a:pPr marL="457200" indent="-457200">
              <a:defRPr/>
            </a:pPr>
            <a:r>
              <a:rPr lang="en-US" sz="2400" dirty="0">
                <a:latin typeface="Californian FB" panose="0207040306080B030204" pitchFamily="18" charset="0"/>
              </a:rPr>
              <a:t>We also have subject dictionaries.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4"/>
            <a:ext cx="7802562" cy="5781675"/>
          </a:xfrm>
        </p:spPr>
        <p:txBody>
          <a:bodyPr/>
          <a:lstStyle/>
          <a:p>
            <a:pPr marL="0" indent="0" eaLnBrk="1" hangingPunct="1">
              <a:buNone/>
            </a:pPr>
            <a:r>
              <a:rPr lang="en-US" altLang="en-US" sz="2400" dirty="0">
                <a:latin typeface="Californian FB" panose="0207040306080B030204" pitchFamily="18" charset="0"/>
              </a:rPr>
              <a:t>2. </a:t>
            </a:r>
            <a:r>
              <a:rPr lang="en-US" altLang="en-US" sz="2400" dirty="0" err="1">
                <a:latin typeface="Californian FB" panose="0207040306080B030204" pitchFamily="18" charset="0"/>
              </a:rPr>
              <a:t>Encyclopaedia</a:t>
            </a:r>
            <a:endParaRPr lang="en-US" altLang="en-US" sz="2400" dirty="0">
              <a:latin typeface="Californian FB" panose="0207040306080B030204" pitchFamily="18" charset="0"/>
            </a:endParaRPr>
          </a:p>
          <a:p>
            <a:pPr marL="0" indent="0" eaLnBrk="1" hangingPunct="1">
              <a:buNone/>
            </a:pPr>
            <a:r>
              <a:rPr lang="en-US" altLang="en-US" sz="2400" dirty="0">
                <a:latin typeface="Californian FB" panose="0207040306080B030204" pitchFamily="18" charset="0"/>
              </a:rPr>
              <a:t>A reference source containing extensive information on all branches of knowledge, usually arranged in alphabetical order.</a:t>
            </a:r>
          </a:p>
          <a:p>
            <a:pPr marL="0" indent="0" eaLnBrk="1" hangingPunct="1">
              <a:buNone/>
            </a:pPr>
            <a:r>
              <a:rPr lang="en-US" altLang="en-US" sz="2400" dirty="0">
                <a:latin typeface="Californian FB" panose="0207040306080B030204" pitchFamily="18" charset="0"/>
              </a:rPr>
              <a:t>	Uses</a:t>
            </a:r>
          </a:p>
          <a:p>
            <a:pPr lvl="1"/>
            <a:r>
              <a:rPr lang="en-US" altLang="en-US" sz="1600" dirty="0"/>
              <a:t>1. when looking for background information on a topic</a:t>
            </a:r>
          </a:p>
          <a:p>
            <a:pPr lvl="1"/>
            <a:r>
              <a:rPr lang="en-US" altLang="en-US" sz="1600" dirty="0"/>
              <a:t>2. when trying to find key ideas, important dates or concepts</a:t>
            </a:r>
          </a:p>
          <a:p>
            <a:pPr marL="0" indent="0" eaLnBrk="1" hangingPunct="1">
              <a:buNone/>
            </a:pPr>
            <a:r>
              <a:rPr lang="en-US" altLang="en-US" sz="2400" dirty="0">
                <a:latin typeface="Californian FB" panose="0207040306080B030204" pitchFamily="18" charset="0"/>
              </a:rPr>
              <a:t>3. Directory</a:t>
            </a:r>
          </a:p>
          <a:p>
            <a:pPr marL="0" indent="0" eaLnBrk="1" hangingPunct="1">
              <a:buNone/>
            </a:pPr>
            <a:r>
              <a:rPr lang="en-US" altLang="en-US" sz="2400" dirty="0">
                <a:latin typeface="Californian FB" panose="0207040306080B030204" pitchFamily="18" charset="0"/>
              </a:rPr>
              <a:t>A reference source which lists the names and addresses and telephone/ fax numbers of persons, companies, organizations or members of a profession.</a:t>
            </a:r>
          </a:p>
          <a:p>
            <a:pPr eaLnBrk="1" hangingPunct="1"/>
            <a:endParaRPr lang="en-US" altLang="en-US" sz="2400" dirty="0">
              <a:latin typeface="Californian FB" panose="0207040306080B030204" pitchFamily="18" charset="0"/>
            </a:endParaRPr>
          </a:p>
          <a:p>
            <a:pPr marL="0" indent="0" eaLnBrk="1" hangingPunct="1">
              <a:buNone/>
            </a:pPr>
            <a:r>
              <a:rPr lang="en-US" altLang="en-US" sz="2400" dirty="0">
                <a:latin typeface="Californian FB" panose="0207040306080B030204" pitchFamily="18" charset="0"/>
              </a:rPr>
              <a:t>4. Handbooks</a:t>
            </a:r>
          </a:p>
          <a:p>
            <a:pPr marL="0" indent="0" eaLnBrk="1" hangingPunct="1">
              <a:buNone/>
            </a:pPr>
            <a:r>
              <a:rPr lang="en-US" altLang="en-US" sz="2400" dirty="0">
                <a:latin typeface="Californian FB" panose="0207040306080B030204" pitchFamily="18" charset="0"/>
              </a:rPr>
              <a:t>A reference source which is a compact guide to a specific subject.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eaLnBrk="1" hangingPunct="1">
              <a:buNone/>
            </a:pPr>
            <a:r>
              <a:rPr lang="en-US" altLang="en-US" sz="2400" dirty="0">
                <a:latin typeface="Californian FB" panose="0207040306080B030204" pitchFamily="18" charset="0"/>
              </a:rPr>
              <a:t>5. Atlas</a:t>
            </a:r>
          </a:p>
          <a:p>
            <a:pPr marL="0" indent="0" eaLnBrk="1" hangingPunct="1">
              <a:buNone/>
            </a:pPr>
            <a:r>
              <a:rPr lang="en-US" altLang="en-US" sz="2400" dirty="0">
                <a:latin typeface="Californian FB" panose="0207040306080B030204" pitchFamily="18" charset="0"/>
              </a:rPr>
              <a:t>A reference source which comprises a collection of maps, and an index to the maps.</a:t>
            </a:r>
          </a:p>
          <a:p>
            <a:pPr eaLnBrk="1" hangingPunct="1"/>
            <a:endParaRPr lang="en-US" altLang="en-US" sz="2400" dirty="0">
              <a:latin typeface="Californian FB" panose="0207040306080B030204" pitchFamily="18" charset="0"/>
            </a:endParaRPr>
          </a:p>
          <a:p>
            <a:pPr marL="0" indent="0" eaLnBrk="1" hangingPunct="1">
              <a:buNone/>
            </a:pPr>
            <a:r>
              <a:rPr lang="en-US" altLang="en-US" sz="2400" dirty="0">
                <a:latin typeface="Californian FB" panose="0207040306080B030204" pitchFamily="18" charset="0"/>
              </a:rPr>
              <a:t>6. Almanac</a:t>
            </a:r>
          </a:p>
          <a:p>
            <a:pPr marL="0" indent="0" eaLnBrk="1" hangingPunct="1">
              <a:buNone/>
            </a:pPr>
            <a:r>
              <a:rPr lang="en-US" altLang="en-US" sz="2400" dirty="0">
                <a:latin typeface="Californian FB" panose="0207040306080B030204" pitchFamily="18" charset="0"/>
              </a:rPr>
              <a:t>A reference source published annually containing useful facts and statistics.</a:t>
            </a:r>
          </a:p>
          <a:p>
            <a:pPr eaLnBrk="1" hangingPunct="1"/>
            <a:endParaRPr lang="en-US" altLang="en-US" sz="2400" dirty="0">
              <a:latin typeface="Californian FB" panose="0207040306080B030204" pitchFamily="18" charset="0"/>
            </a:endParaRPr>
          </a:p>
          <a:p>
            <a:pPr marL="0" indent="0" eaLnBrk="1" hangingPunct="1">
              <a:buNone/>
            </a:pPr>
            <a:r>
              <a:rPr lang="en-US" altLang="en-US" sz="2400" dirty="0">
                <a:latin typeface="Californian FB" panose="0207040306080B030204" pitchFamily="18" charset="0"/>
              </a:rPr>
              <a:t>7. Year book</a:t>
            </a:r>
          </a:p>
          <a:p>
            <a:pPr marL="0" indent="0" eaLnBrk="1" hangingPunct="1">
              <a:buNone/>
            </a:pPr>
            <a:r>
              <a:rPr lang="en-US" altLang="en-US" sz="2400" dirty="0">
                <a:latin typeface="Californian FB" panose="0207040306080B030204" pitchFamily="18" charset="0"/>
              </a:rPr>
              <a:t>A reference source published annually and which brings information on some topic or organization up to date.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99D5-3DE7-4C66-9FFB-3EE0EFCFA08A}"/>
              </a:ext>
            </a:extLst>
          </p:cNvPr>
          <p:cNvSpPr>
            <a:spLocks noGrp="1"/>
          </p:cNvSpPr>
          <p:nvPr>
            <p:ph type="title"/>
          </p:nvPr>
        </p:nvSpPr>
        <p:spPr>
          <a:xfrm>
            <a:off x="1371600" y="274638"/>
            <a:ext cx="7315200" cy="639762"/>
          </a:xfrm>
        </p:spPr>
        <p:txBody>
          <a:bodyPr/>
          <a:lstStyle/>
          <a:p>
            <a:r>
              <a:rPr lang="en-US" sz="4000" dirty="0">
                <a:latin typeface="Californian FB" panose="0207040306080B030204" pitchFamily="18" charset="0"/>
              </a:rPr>
              <a:t>Formats of reference sources</a:t>
            </a:r>
            <a:endParaRPr lang="en-KE" sz="4000" dirty="0">
              <a:latin typeface="Californian FB" panose="0207040306080B030204" pitchFamily="18" charset="0"/>
            </a:endParaRPr>
          </a:p>
        </p:txBody>
      </p:sp>
      <p:sp>
        <p:nvSpPr>
          <p:cNvPr id="3" name="Content Placeholder 2">
            <a:extLst>
              <a:ext uri="{FF2B5EF4-FFF2-40B4-BE49-F238E27FC236}">
                <a16:creationId xmlns:a16="http://schemas.microsoft.com/office/drawing/2014/main" id="{14D94C97-7176-402F-8454-CA1874EE54C3}"/>
              </a:ext>
            </a:extLst>
          </p:cNvPr>
          <p:cNvSpPr>
            <a:spLocks noGrp="1"/>
          </p:cNvSpPr>
          <p:nvPr>
            <p:ph idx="1"/>
          </p:nvPr>
        </p:nvSpPr>
        <p:spPr>
          <a:xfrm>
            <a:off x="1371600" y="990600"/>
            <a:ext cx="7315200" cy="5592762"/>
          </a:xfrm>
        </p:spPr>
        <p:txBody>
          <a:bodyPr/>
          <a:lstStyle/>
          <a:p>
            <a:r>
              <a:rPr lang="en-US" sz="2800" dirty="0">
                <a:latin typeface="Californian FB" panose="0207040306080B030204" pitchFamily="18" charset="0"/>
              </a:rPr>
              <a:t>Print format – traditional library shelves (dictionaries, encyclopedias).</a:t>
            </a:r>
          </a:p>
          <a:p>
            <a:endParaRPr lang="en-US" sz="2800" dirty="0">
              <a:latin typeface="Californian FB" panose="0207040306080B030204" pitchFamily="18" charset="0"/>
            </a:endParaRPr>
          </a:p>
          <a:p>
            <a:r>
              <a:rPr lang="en-US" sz="2800" dirty="0">
                <a:latin typeface="Californian FB" panose="0207040306080B030204" pitchFamily="18" charset="0"/>
              </a:rPr>
              <a:t>Electronic format – online databases and tools:</a:t>
            </a:r>
          </a:p>
          <a:p>
            <a:pPr marL="0" indent="0">
              <a:buNone/>
            </a:pPr>
            <a:r>
              <a:rPr lang="en-US" sz="2800" dirty="0">
                <a:latin typeface="Californian FB" panose="0207040306080B030204" pitchFamily="18" charset="0"/>
              </a:rPr>
              <a:t>	- Britannica Online</a:t>
            </a:r>
          </a:p>
          <a:p>
            <a:pPr marL="0" indent="0">
              <a:buNone/>
            </a:pPr>
            <a:r>
              <a:rPr lang="en-US" sz="2800" dirty="0">
                <a:latin typeface="Californian FB" panose="0207040306080B030204" pitchFamily="18" charset="0"/>
              </a:rPr>
              <a:t>	- Oxford Reference</a:t>
            </a:r>
          </a:p>
          <a:p>
            <a:pPr marL="0" indent="0">
              <a:buNone/>
            </a:pPr>
            <a:r>
              <a:rPr lang="en-US" sz="2800" dirty="0">
                <a:latin typeface="Californian FB" panose="0207040306080B030204" pitchFamily="18" charset="0"/>
              </a:rPr>
              <a:t>	- Google Scholar</a:t>
            </a:r>
          </a:p>
          <a:p>
            <a:endParaRPr lang="en-KE" dirty="0"/>
          </a:p>
        </p:txBody>
      </p:sp>
    </p:spTree>
    <p:extLst>
      <p:ext uri="{BB962C8B-B14F-4D97-AF65-F5344CB8AC3E}">
        <p14:creationId xmlns:p14="http://schemas.microsoft.com/office/powerpoint/2010/main" val="86412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66CBD-8F13-4BF8-8FA1-522258990CEA}"/>
              </a:ext>
            </a:extLst>
          </p:cNvPr>
          <p:cNvSpPr>
            <a:spLocks noGrp="1"/>
          </p:cNvSpPr>
          <p:nvPr>
            <p:ph type="title"/>
          </p:nvPr>
        </p:nvSpPr>
        <p:spPr>
          <a:xfrm>
            <a:off x="1371600" y="274638"/>
            <a:ext cx="7315200" cy="715962"/>
          </a:xfrm>
        </p:spPr>
        <p:txBody>
          <a:bodyPr/>
          <a:lstStyle/>
          <a:p>
            <a:r>
              <a:rPr lang="en-US" sz="4000" dirty="0">
                <a:latin typeface="Californian FB" panose="0207040306080B030204" pitchFamily="18" charset="0"/>
              </a:rPr>
              <a:t>Role in Academic Research</a:t>
            </a:r>
            <a:endParaRPr lang="en-KE" sz="4000" dirty="0">
              <a:latin typeface="Californian FB" panose="0207040306080B030204" pitchFamily="18" charset="0"/>
            </a:endParaRPr>
          </a:p>
        </p:txBody>
      </p:sp>
      <p:sp>
        <p:nvSpPr>
          <p:cNvPr id="3" name="Content Placeholder 2">
            <a:extLst>
              <a:ext uri="{FF2B5EF4-FFF2-40B4-BE49-F238E27FC236}">
                <a16:creationId xmlns:a16="http://schemas.microsoft.com/office/drawing/2014/main" id="{6BD81526-11B2-48F0-8B0F-2BC5A2C9E1EF}"/>
              </a:ext>
            </a:extLst>
          </p:cNvPr>
          <p:cNvSpPr>
            <a:spLocks noGrp="1"/>
          </p:cNvSpPr>
          <p:nvPr>
            <p:ph idx="1"/>
          </p:nvPr>
        </p:nvSpPr>
        <p:spPr>
          <a:xfrm>
            <a:off x="1371600" y="1524000"/>
            <a:ext cx="7315200" cy="5181600"/>
          </a:xfrm>
        </p:spPr>
        <p:txBody>
          <a:bodyPr/>
          <a:lstStyle/>
          <a:p>
            <a:r>
              <a:rPr lang="en-US" sz="2800" dirty="0">
                <a:latin typeface="Californian FB" panose="0207040306080B030204" pitchFamily="18" charset="0"/>
              </a:rPr>
              <a:t>Support topic selection and refinement.</a:t>
            </a:r>
          </a:p>
          <a:p>
            <a:endParaRPr lang="en-US" sz="2800" dirty="0">
              <a:latin typeface="Californian FB" panose="0207040306080B030204" pitchFamily="18" charset="0"/>
            </a:endParaRPr>
          </a:p>
          <a:p>
            <a:r>
              <a:rPr lang="en-US" sz="2800" dirty="0">
                <a:latin typeface="Californian FB" panose="0207040306080B030204" pitchFamily="18" charset="0"/>
              </a:rPr>
              <a:t>Build foundational understanding.</a:t>
            </a:r>
          </a:p>
          <a:p>
            <a:endParaRPr lang="en-US" sz="2800" dirty="0">
              <a:latin typeface="Californian FB" panose="0207040306080B030204" pitchFamily="18" charset="0"/>
            </a:endParaRPr>
          </a:p>
          <a:p>
            <a:r>
              <a:rPr lang="en-US" sz="2800" dirty="0">
                <a:latin typeface="Californian FB" panose="0207040306080B030204" pitchFamily="18" charset="0"/>
              </a:rPr>
              <a:t>Offer verified, reliable, and authoritative information.</a:t>
            </a:r>
          </a:p>
          <a:p>
            <a:endParaRPr lang="en-US" sz="2800" dirty="0">
              <a:latin typeface="Californian FB" panose="0207040306080B030204" pitchFamily="18" charset="0"/>
            </a:endParaRPr>
          </a:p>
          <a:p>
            <a:r>
              <a:rPr lang="en-US" sz="2800" dirty="0">
                <a:latin typeface="Californian FB" panose="0207040306080B030204" pitchFamily="18" charset="0"/>
              </a:rPr>
              <a:t>Help avoid misinformation and plagiarism</a:t>
            </a:r>
            <a:endParaRPr lang="en-KE" sz="2800" dirty="0">
              <a:latin typeface="Californian FB" panose="0207040306080B030204" pitchFamily="18" charset="0"/>
            </a:endParaRPr>
          </a:p>
        </p:txBody>
      </p:sp>
    </p:spTree>
    <p:extLst>
      <p:ext uri="{BB962C8B-B14F-4D97-AF65-F5344CB8AC3E}">
        <p14:creationId xmlns:p14="http://schemas.microsoft.com/office/powerpoint/2010/main" val="2103627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7FD1-8C4A-44A9-9430-4225AAACBF74}"/>
              </a:ext>
            </a:extLst>
          </p:cNvPr>
          <p:cNvSpPr>
            <a:spLocks noGrp="1"/>
          </p:cNvSpPr>
          <p:nvPr>
            <p:ph type="title"/>
          </p:nvPr>
        </p:nvSpPr>
        <p:spPr>
          <a:xfrm>
            <a:off x="1447800" y="274638"/>
            <a:ext cx="7239000" cy="639762"/>
          </a:xfrm>
        </p:spPr>
        <p:txBody>
          <a:bodyPr/>
          <a:lstStyle/>
          <a:p>
            <a:r>
              <a:rPr lang="en-US" sz="4000" dirty="0">
                <a:latin typeface="Californian FB" panose="0207040306080B030204" pitchFamily="18" charset="0"/>
              </a:rPr>
              <a:t>SUMMARY</a:t>
            </a:r>
            <a:endParaRPr lang="en-KE" sz="4000" dirty="0">
              <a:latin typeface="Californian FB" panose="0207040306080B030204" pitchFamily="18" charset="0"/>
            </a:endParaRPr>
          </a:p>
        </p:txBody>
      </p:sp>
      <p:sp>
        <p:nvSpPr>
          <p:cNvPr id="3" name="Content Placeholder 2">
            <a:extLst>
              <a:ext uri="{FF2B5EF4-FFF2-40B4-BE49-F238E27FC236}">
                <a16:creationId xmlns:a16="http://schemas.microsoft.com/office/drawing/2014/main" id="{AB6C8157-A066-4ACB-8BDC-4789EAB38A9F}"/>
              </a:ext>
            </a:extLst>
          </p:cNvPr>
          <p:cNvSpPr>
            <a:spLocks noGrp="1"/>
          </p:cNvSpPr>
          <p:nvPr>
            <p:ph idx="1"/>
          </p:nvPr>
        </p:nvSpPr>
        <p:spPr>
          <a:xfrm>
            <a:off x="1447800" y="1066800"/>
            <a:ext cx="7620000" cy="5715000"/>
          </a:xfrm>
        </p:spPr>
        <p:txBody>
          <a:bodyPr/>
          <a:lstStyle/>
          <a:p>
            <a:pPr marL="0" indent="0">
              <a:buNone/>
            </a:pPr>
            <a:r>
              <a:rPr lang="en-US" dirty="0"/>
              <a:t>✅ </a:t>
            </a:r>
            <a:r>
              <a:rPr lang="en-US" sz="2800" dirty="0">
                <a:latin typeface="Californian FB" panose="0207040306080B030204" pitchFamily="18" charset="0"/>
              </a:rPr>
              <a:t>Provide quick, factual, and background information.</a:t>
            </a:r>
          </a:p>
          <a:p>
            <a:pPr marL="0" indent="0">
              <a:buNone/>
            </a:pPr>
            <a:endParaRPr lang="en-US" sz="2800" dirty="0">
              <a:latin typeface="Californian FB" panose="0207040306080B030204" pitchFamily="18" charset="0"/>
            </a:endParaRPr>
          </a:p>
          <a:p>
            <a:pPr marL="0" indent="0">
              <a:buNone/>
            </a:pPr>
            <a:r>
              <a:rPr lang="en-US" sz="2800" dirty="0">
                <a:latin typeface="Californian FB" panose="0207040306080B030204" pitchFamily="18" charset="0"/>
              </a:rPr>
              <a:t>✅ Essential for effective information search and evaluation.</a:t>
            </a:r>
          </a:p>
          <a:p>
            <a:pPr marL="0" indent="0">
              <a:buNone/>
            </a:pPr>
            <a:endParaRPr lang="en-US" sz="2800" dirty="0">
              <a:latin typeface="Californian FB" panose="0207040306080B030204" pitchFamily="18" charset="0"/>
            </a:endParaRPr>
          </a:p>
          <a:p>
            <a:pPr marL="0" indent="0">
              <a:buNone/>
            </a:pPr>
            <a:r>
              <a:rPr lang="en-US" sz="2800" dirty="0">
                <a:latin typeface="Californian FB" panose="0207040306080B030204" pitchFamily="18" charset="0"/>
              </a:rPr>
              <a:t>✅ Available in both print and electronic formats.</a:t>
            </a:r>
          </a:p>
          <a:p>
            <a:pPr marL="0" indent="0">
              <a:buNone/>
            </a:pPr>
            <a:endParaRPr lang="en-US" sz="2800" dirty="0">
              <a:latin typeface="Californian FB" panose="0207040306080B030204" pitchFamily="18" charset="0"/>
            </a:endParaRPr>
          </a:p>
          <a:p>
            <a:pPr marL="0" indent="0">
              <a:buNone/>
            </a:pPr>
            <a:r>
              <a:rPr lang="en-US" sz="2800" dirty="0">
                <a:latin typeface="Californian FB" panose="0207040306080B030204" pitchFamily="18" charset="0"/>
              </a:rPr>
              <a:t>✅ Key to developing informed and independent learners.</a:t>
            </a:r>
          </a:p>
          <a:p>
            <a:endParaRPr lang="en-KE" dirty="0"/>
          </a:p>
        </p:txBody>
      </p:sp>
    </p:spTree>
    <p:extLst>
      <p:ext uri="{BB962C8B-B14F-4D97-AF65-F5344CB8AC3E}">
        <p14:creationId xmlns:p14="http://schemas.microsoft.com/office/powerpoint/2010/main" val="3243896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a:xfrm>
            <a:off x="457200" y="0"/>
            <a:ext cx="8229600" cy="6705601"/>
          </a:xfrm>
        </p:spPr>
        <p:txBody>
          <a:bodyPr>
            <a:normAutofit/>
          </a:bodyPr>
          <a:lstStyle/>
          <a:p>
            <a:pPr>
              <a:defRPr/>
            </a:pPr>
            <a:endParaRPr lang="en-US" sz="2800" dirty="0">
              <a:effectLst>
                <a:outerShdw blurRad="38100" dist="38100" dir="2700000" algn="tl">
                  <a:srgbClr val="000000">
                    <a:alpha val="43137"/>
                  </a:srgbClr>
                </a:outerShdw>
              </a:effectLst>
            </a:endParaRPr>
          </a:p>
        </p:txBody>
      </p:sp>
      <p:sp>
        <p:nvSpPr>
          <p:cNvPr id="5123" name="Slide Number Placeholder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tx1"/>
              </a:buClr>
              <a:buSzPct val="9000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ClrTx/>
              <a:buSzTx/>
              <a:buFontTx/>
              <a:buNone/>
            </a:pPr>
            <a:fld id="{2F796461-3CD8-4D8F-988D-562E30177D8B}" type="slidenum">
              <a:rPr lang="en-US" altLang="en-US" sz="1400" smtClean="0">
                <a:solidFill>
                  <a:srgbClr val="FFFFFF"/>
                </a:solidFill>
              </a:rPr>
              <a:t>21</a:t>
            </a:fld>
            <a:endParaRPr lang="en-US" altLang="en-US" sz="1400">
              <a:solidFill>
                <a:srgbClr val="FFFFFF"/>
              </a:solidFill>
            </a:endParaRPr>
          </a:p>
        </p:txBody>
      </p:sp>
      <p:sp>
        <p:nvSpPr>
          <p:cNvPr id="2" name="Rectangle 1"/>
          <p:cNvSpPr/>
          <p:nvPr/>
        </p:nvSpPr>
        <p:spPr>
          <a:xfrm>
            <a:off x="457200" y="1219200"/>
            <a:ext cx="8534400" cy="4175502"/>
          </a:xfrm>
          <a:prstGeom prst="rect">
            <a:avLst/>
          </a:prstGeom>
        </p:spPr>
        <p:txBody>
          <a:bodyPr wrap="square">
            <a:spAutoFit/>
          </a:bodyPr>
          <a:lstStyle/>
          <a:p>
            <a:pPr algn="ctr" eaLnBrk="0" fontAlgn="base" hangingPunct="0">
              <a:lnSpc>
                <a:spcPct val="115000"/>
              </a:lnSpc>
              <a:spcAft>
                <a:spcPts val="1000"/>
              </a:spcAft>
            </a:pPr>
            <a:endParaRPr lang="en-US" sz="2400" b="1" dirty="0">
              <a:solidFill>
                <a:srgbClr val="FFFFFF"/>
              </a:solidFill>
              <a:latin typeface="Tahoma" panose="020B0604030504040204" pitchFamily="34" charset="0"/>
              <a:ea typeface="Calibri" panose="020F0502020204030204" pitchFamily="-110" charset="0"/>
            </a:endParaRPr>
          </a:p>
          <a:p>
            <a:pPr algn="ctr" eaLnBrk="0" fontAlgn="base" hangingPunct="0">
              <a:lnSpc>
                <a:spcPct val="115000"/>
              </a:lnSpc>
              <a:spcAft>
                <a:spcPts val="1000"/>
              </a:spcAft>
            </a:pPr>
            <a:endParaRPr lang="en-US" sz="2400" b="1" dirty="0">
              <a:solidFill>
                <a:srgbClr val="FFFFFF"/>
              </a:solidFill>
              <a:latin typeface="Tahoma" panose="020B0604030504040204" pitchFamily="34" charset="0"/>
              <a:ea typeface="Calibri" panose="020F0502020204030204" pitchFamily="-110" charset="0"/>
            </a:endParaRPr>
          </a:p>
          <a:p>
            <a:pPr algn="ctr" eaLnBrk="0" fontAlgn="base" hangingPunct="0">
              <a:lnSpc>
                <a:spcPct val="115000"/>
              </a:lnSpc>
              <a:spcAft>
                <a:spcPts val="1000"/>
              </a:spcAft>
            </a:pPr>
            <a:endParaRPr lang="en-US" sz="2400" b="1" dirty="0">
              <a:solidFill>
                <a:srgbClr val="FFFFFF"/>
              </a:solidFill>
              <a:latin typeface="Tahoma" panose="020B0604030504040204" pitchFamily="34" charset="0"/>
              <a:ea typeface="Calibri" panose="020F0502020204030204" pitchFamily="-110" charset="0"/>
            </a:endParaRPr>
          </a:p>
          <a:p>
            <a:pPr algn="ctr" eaLnBrk="0" fontAlgn="base" hangingPunct="0">
              <a:lnSpc>
                <a:spcPct val="115000"/>
              </a:lnSpc>
              <a:spcAft>
                <a:spcPts val="1000"/>
              </a:spcAft>
            </a:pPr>
            <a:endParaRPr lang="en-US" sz="2400" b="1" dirty="0">
              <a:solidFill>
                <a:srgbClr val="FFFFFF"/>
              </a:solidFill>
              <a:latin typeface="Tahoma" panose="020B0604030504040204" pitchFamily="34" charset="0"/>
              <a:ea typeface="Calibri" panose="020F0502020204030204" pitchFamily="-110" charset="0"/>
            </a:endParaRPr>
          </a:p>
          <a:p>
            <a:pPr algn="ctr" eaLnBrk="0" fontAlgn="base" hangingPunct="0">
              <a:lnSpc>
                <a:spcPct val="115000"/>
              </a:lnSpc>
              <a:spcAft>
                <a:spcPts val="1000"/>
              </a:spcAft>
            </a:pPr>
            <a:endParaRPr lang="en-US" sz="2400" b="1" dirty="0">
              <a:solidFill>
                <a:srgbClr val="FFFFFF"/>
              </a:solidFill>
              <a:latin typeface="Tahoma" panose="020B0604030504040204" pitchFamily="34" charset="0"/>
              <a:ea typeface="Calibri" panose="020F0502020204030204" pitchFamily="-110" charset="0"/>
            </a:endParaRPr>
          </a:p>
          <a:p>
            <a:pPr algn="ctr" eaLnBrk="0" fontAlgn="base" hangingPunct="0">
              <a:lnSpc>
                <a:spcPct val="115000"/>
              </a:lnSpc>
              <a:spcAft>
                <a:spcPts val="1000"/>
              </a:spcAft>
            </a:pPr>
            <a:r>
              <a:rPr lang="en-US" sz="2400" b="1" dirty="0" err="1">
                <a:solidFill>
                  <a:srgbClr val="FFFFFF"/>
                </a:solidFill>
                <a:latin typeface="Tahoma" panose="020B0604030504040204" pitchFamily="34" charset="0"/>
                <a:ea typeface="Calibri" panose="020F0502020204030204" pitchFamily="-110" charset="0"/>
              </a:rPr>
              <a:t>iversity</a:t>
            </a:r>
            <a:r>
              <a:rPr lang="en-US" sz="2400" b="1" dirty="0">
                <a:solidFill>
                  <a:srgbClr val="FFFFFF"/>
                </a:solidFill>
                <a:latin typeface="Tahoma" panose="020B0604030504040204" pitchFamily="34" charset="0"/>
                <a:ea typeface="Calibri" panose="020F0502020204030204" pitchFamily="-110" charset="0"/>
              </a:rPr>
              <a:t>,</a:t>
            </a:r>
            <a:endParaRPr lang="en-US" sz="1200" b="1" dirty="0">
              <a:solidFill>
                <a:srgbClr val="FFFFFF"/>
              </a:solidFill>
              <a:latin typeface="Calibri" panose="020F0502020204030204" pitchFamily="-110" charset="0"/>
              <a:ea typeface="Calibri" panose="020F0502020204030204" pitchFamily="-110" charset="0"/>
            </a:endParaRPr>
          </a:p>
          <a:p>
            <a:pPr algn="ctr" eaLnBrk="0" fontAlgn="base" hangingPunct="0">
              <a:lnSpc>
                <a:spcPct val="115000"/>
              </a:lnSpc>
              <a:spcAft>
                <a:spcPts val="1000"/>
              </a:spcAft>
            </a:pPr>
            <a:endParaRPr lang="en-US" sz="1200" b="1" dirty="0">
              <a:solidFill>
                <a:srgbClr val="FFFFFF"/>
              </a:solidFill>
              <a:latin typeface="Calibri" panose="020F0502020204030204" pitchFamily="-110" charset="0"/>
              <a:ea typeface="Calibri" panose="020F0502020204030204" pitchFamily="-110" charset="0"/>
            </a:endParaRPr>
          </a:p>
          <a:p>
            <a:pPr algn="ctr" eaLnBrk="0" fontAlgn="base" hangingPunct="0">
              <a:lnSpc>
                <a:spcPct val="115000"/>
              </a:lnSpc>
              <a:spcAft>
                <a:spcPts val="1000"/>
              </a:spcAft>
            </a:pPr>
            <a:r>
              <a:rPr lang="en-US" sz="2400" b="1" dirty="0">
                <a:solidFill>
                  <a:srgbClr val="FFFFFF"/>
                </a:solidFill>
                <a:latin typeface="Tahoma" panose="020B0604030504040204" pitchFamily="34" charset="0"/>
                <a:ea typeface="Calibri" panose="020F0502020204030204" pitchFamily="-110" charset="0"/>
              </a:rPr>
              <a:t> </a:t>
            </a:r>
            <a:endParaRPr lang="en-US" sz="1200" b="1" dirty="0">
              <a:solidFill>
                <a:srgbClr val="FFFFFF"/>
              </a:solidFill>
              <a:latin typeface="Calibri" panose="020F0502020204030204" pitchFamily="-110" charset="0"/>
              <a:ea typeface="Calibri" panose="020F0502020204030204" pitchFamily="-110"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5100" y="1295400"/>
            <a:ext cx="4000500" cy="3810000"/>
          </a:xfrm>
          <a:prstGeom prst="rect">
            <a:avLst/>
          </a:prstGeom>
        </p:spPr>
      </p:pic>
    </p:spTree>
  </p:cSld>
  <p:clrMapOvr>
    <a:masterClrMapping/>
  </p:clrMapOvr>
  <p:transition/>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1283</Words>
  <Application>Microsoft Office PowerPoint</Application>
  <PresentationFormat>On-screen Show (4:3)</PresentationFormat>
  <Paragraphs>191</Paragraphs>
  <Slides>21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MS PGothic</vt:lpstr>
      <vt:lpstr>Arial</vt:lpstr>
      <vt:lpstr>Arial Black</vt:lpstr>
      <vt:lpstr>Calibri</vt:lpstr>
      <vt:lpstr>Californian FB</vt:lpstr>
      <vt:lpstr>Tahoma</vt:lpstr>
      <vt:lpstr>Times New Roman</vt:lpstr>
      <vt:lpstr>Wingdings</vt:lpstr>
      <vt:lpstr>1_Office Theme</vt:lpstr>
      <vt:lpstr>Soaring</vt:lpstr>
      <vt:lpstr>  Information Retrieval     </vt:lpstr>
      <vt:lpstr>  TASK    </vt:lpstr>
      <vt:lpstr>   Retrieval   </vt:lpstr>
      <vt:lpstr>       </vt:lpstr>
      <vt:lpstr>  ORGANIZATION    </vt:lpstr>
      <vt:lpstr>      </vt:lpstr>
      <vt:lpstr>     </vt:lpstr>
      <vt:lpstr>      </vt:lpstr>
      <vt:lpstr>      </vt:lpstr>
      <vt:lpstr>      </vt:lpstr>
      <vt:lpstr>Discussion Question</vt:lpstr>
      <vt:lpstr>      </vt:lpstr>
      <vt:lpstr>  Reference sources    </vt:lpstr>
      <vt:lpstr>Importance of reference sources</vt:lpstr>
      <vt:lpstr>      </vt:lpstr>
      <vt:lpstr>      </vt:lpstr>
      <vt:lpstr>      </vt:lpstr>
      <vt:lpstr>Formats of reference sources</vt:lpstr>
      <vt:lpstr>Role in Academic Research</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Benjamin Mutungi</dc:creator>
  <cp:lastModifiedBy>BKASYOKI</cp:lastModifiedBy>
  <cp:revision>86</cp:revision>
  <dcterms:created xsi:type="dcterms:W3CDTF">2012-12-05T15:17:00Z</dcterms:created>
  <dcterms:modified xsi:type="dcterms:W3CDTF">2025-10-15T10:07:52Z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C9DD04E038A1420CB3EFACAD7B27528A</vt:lpwstr>
  </property>
  <property fmtid="{D5CDD505-2E9C-101B-9397-08002B2CF9AE}" pid="3" name="KSOProductBuildVer">
    <vt:lpwstr>1033-11.2.0.11130</vt:lpwstr>
  </property>
</Properties>
</file>