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8" r:id="rId2"/>
    <p:sldId id="299" r:id="rId3"/>
    <p:sldId id="285" r:id="rId4"/>
    <p:sldId id="297" r:id="rId5"/>
    <p:sldId id="300" r:id="rId6"/>
    <p:sldId id="269" r:id="rId7"/>
    <p:sldId id="301" r:id="rId8"/>
    <p:sldId id="259" r:id="rId9"/>
    <p:sldId id="298" r:id="rId10"/>
    <p:sldId id="277" r:id="rId11"/>
    <p:sldId id="278" r:id="rId12"/>
    <p:sldId id="279" r:id="rId13"/>
    <p:sldId id="280" r:id="rId14"/>
    <p:sldId id="281" r:id="rId15"/>
    <p:sldId id="282" r:id="rId16"/>
    <p:sldId id="283" r:id="rId17"/>
    <p:sldId id="284" r:id="rId18"/>
    <p:sldId id="286" r:id="rId19"/>
    <p:sldId id="287" r:id="rId20"/>
    <p:sldId id="263" r:id="rId21"/>
    <p:sldId id="302" r:id="rId22"/>
    <p:sldId id="264"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5" d="100"/>
          <a:sy n="75" d="100"/>
        </p:scale>
        <p:origin x="1020" y="5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31106E7-797E-4886-93B3-CAFE2D57BD8E}" type="datetimeFigureOut">
              <a:rPr lang="en-US" smtClean="0"/>
              <a:t>5/26/2026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38D3ED2-538D-4F33-83A4-461D9FDA262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4728A1DF-A75B-4BB2-9FBD-0F98D6000C65}" type="datetime1">
              <a:rPr lang="en-US"/>
              <a:t>5/26/2026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42657413-60C4-4CAA-82CA-C9D9F19EDB71}"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E13E10A7-430D-4C37-B10D-721623C3460C}" type="datetime1">
              <a:rPr lang="en-US"/>
              <a:t>5/26/2026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CCA87C71-E661-40C8-9FC5-660A22483F67}"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7A41C96-51BE-4E64-8C59-B273E4D9F917}" type="datetime1">
              <a:rPr lang="en-US"/>
              <a:t>5/26/2026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0B66E2B5-607D-4337-B0CB-94BDB215A48A}"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FB2BC406-1845-4CC2-96E0-F10E08FE5779}" type="datetime1">
              <a:rPr lang="en-US"/>
              <a:t>5/26/2026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F8DFDA99-C5E1-4B8E-B7A2-60B652D991BD}"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72BA1720-8088-4074-BA13-7406D6241480}" type="datetime1">
              <a:rPr lang="en-US"/>
              <a:t>5/26/2026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44B45BCC-5E7C-4859-A3F7-B9A1CE9EB99A}"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DF433778-0330-4731-B551-4F698832ED56}" type="datetime1">
              <a:rPr lang="en-US"/>
              <a:t>5/26/2026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D8CD1F01-6FEF-4B7B-8D40-99870C4B5B3C}"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79E9D58-7FEC-433E-AE19-2AA064E88A20}" type="datetime1">
              <a:rPr lang="en-US"/>
              <a:t>5/26/2026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01052E83-4190-4330-9575-D494C2789A9E}"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5FC1B1BF-F49F-4CC1-BF55-54396FA08FFE}" type="datetime1">
              <a:rPr lang="en-US"/>
              <a:t>5/26/2026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782DC5F3-20D9-433D-A92B-690FA48276B3}"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920F2951-B80B-4589-A386-421B50524C5D}" type="datetime1">
              <a:rPr lang="en-US"/>
              <a:t>5/26/2026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7A1DDFF6-6B34-4C1B-BEAE-4CA951EB5A18}"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4606306-028A-4F59-9E19-73C544EAE2CD}" type="datetime1">
              <a:rPr lang="en-US"/>
              <a:t>5/26/2026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B072E394-1E9E-4F9C-A324-C0C7329F2FB0}"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961B6EC7-79E5-4F33-B489-66EC0B3129EF}" type="datetime1">
              <a:rPr lang="en-US"/>
              <a:t>5/26/2026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39C558D1-423D-41D2-96C8-73E26B2C08A0}" type="slidenum">
              <a:rPr lang="en-US"/>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1"/>
            <a:ext cx="8229600" cy="4525963"/>
          </a:xfrm>
        </p:spPr>
        <p:txBody>
          <a:bodyPr/>
          <a:lstStyle/>
          <a:p>
            <a:pPr lvl="0"/>
            <a:endParaRPr lang="en-US" noProof="0"/>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Rectangle 6"/>
          <p:cNvSpPr>
            <a:spLocks noGrp="1" noChangeArrowheads="1"/>
          </p:cNvSpPr>
          <p:nvPr>
            <p:ph type="sldNum" sz="quarter" idx="12"/>
          </p:nvPr>
        </p:nvSpPr>
        <p:spPr/>
        <p:txBody>
          <a:bodyPr/>
          <a:lstStyle>
            <a:lvl1pPr>
              <a:defRPr/>
            </a:lvl1pPr>
          </a:lstStyle>
          <a:p>
            <a:pPr>
              <a:defRPr/>
            </a:pPr>
            <a:fld id="{326C064B-0B34-4880-BEDD-F1ECF3BCF137}"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lstStyle>
            <a:lvl1pPr>
              <a:defRPr sz="1200">
                <a:solidFill>
                  <a:srgbClr val="898989"/>
                </a:solidFill>
                <a:latin typeface="Calibri" panose="020F0502020204030204" pitchFamily="-110" charset="0"/>
              </a:defRPr>
            </a:lvl1pPr>
          </a:lstStyle>
          <a:p>
            <a:pPr defTabSz="457200" fontAlgn="base">
              <a:spcBef>
                <a:spcPct val="0"/>
              </a:spcBef>
              <a:spcAft>
                <a:spcPct val="0"/>
              </a:spcAft>
              <a:defRPr/>
            </a:pPr>
            <a:fld id="{A9385024-F704-4E44-B4D8-E658D4812699}" type="datetime1">
              <a:rPr lang="en-US">
                <a:ea typeface="MS PGothic" panose="020B0600070205080204" pitchFamily="-110" charset="-128"/>
              </a:rPr>
              <a:t>5/26/2026</a:t>
            </a:fld>
            <a:endParaRPr lang="en-US">
              <a:ea typeface="MS PGothic" panose="020B0600070205080204" pitchFamily="-110" charset="-128"/>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defTabSz="457200">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a:defRPr sz="1200">
                <a:solidFill>
                  <a:srgbClr val="898989"/>
                </a:solidFill>
                <a:latin typeface="Calibri" panose="020F0502020204030204" pitchFamily="-110" charset="0"/>
              </a:defRPr>
            </a:lvl1pPr>
          </a:lstStyle>
          <a:p>
            <a:pPr defTabSz="457200" fontAlgn="base">
              <a:spcBef>
                <a:spcPct val="0"/>
              </a:spcBef>
              <a:spcAft>
                <a:spcPct val="0"/>
              </a:spcAft>
              <a:defRPr/>
            </a:pPr>
            <a:fld id="{4433A875-712B-4A63-8F2D-05306A0918D5}" type="slidenum">
              <a:rPr lang="en-US">
                <a:ea typeface="MS PGothic" panose="020B0600070205080204" pitchFamily="-110" charset="-128"/>
              </a:rPr>
              <a:t>‹#›</a:t>
            </a:fld>
            <a:endParaRPr lang="en-US">
              <a:ea typeface="MS PGothic" panose="020B0600070205080204" pitchFamily="-110" charset="-128"/>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0" fontAlgn="base" hangingPunct="0">
        <a:spcBef>
          <a:spcPct val="0"/>
        </a:spcBef>
        <a:spcAft>
          <a:spcPct val="0"/>
        </a:spcAft>
        <a:defRPr sz="4400" kern="1200">
          <a:solidFill>
            <a:schemeClr val="tx1"/>
          </a:solidFill>
          <a:latin typeface="+mj-lt"/>
          <a:ea typeface="MS PGothic" panose="020B0600070205080204" pitchFamily="-110" charset="-128"/>
          <a:cs typeface="+mj-cs"/>
        </a:defRPr>
      </a:lvl1pPr>
      <a:lvl2pPr algn="ctr" defTabSz="457200" rtl="0" eaLnBrk="0" fontAlgn="base" hangingPunct="0">
        <a:spcBef>
          <a:spcPct val="0"/>
        </a:spcBef>
        <a:spcAft>
          <a:spcPct val="0"/>
        </a:spcAft>
        <a:defRPr sz="4400">
          <a:solidFill>
            <a:schemeClr val="tx1"/>
          </a:solidFill>
          <a:latin typeface="Calibri" panose="020F0502020204030204" pitchFamily="-110" charset="0"/>
          <a:ea typeface="MS PGothic" panose="020B0600070205080204" pitchFamily="-110" charset="-128"/>
        </a:defRPr>
      </a:lvl2pPr>
      <a:lvl3pPr algn="ctr" defTabSz="457200" rtl="0" eaLnBrk="0" fontAlgn="base" hangingPunct="0">
        <a:spcBef>
          <a:spcPct val="0"/>
        </a:spcBef>
        <a:spcAft>
          <a:spcPct val="0"/>
        </a:spcAft>
        <a:defRPr sz="4400">
          <a:solidFill>
            <a:schemeClr val="tx1"/>
          </a:solidFill>
          <a:latin typeface="Calibri" panose="020F0502020204030204" pitchFamily="-110" charset="0"/>
          <a:ea typeface="MS PGothic" panose="020B0600070205080204" pitchFamily="-110" charset="-128"/>
        </a:defRPr>
      </a:lvl3pPr>
      <a:lvl4pPr algn="ctr" defTabSz="457200" rtl="0" eaLnBrk="0" fontAlgn="base" hangingPunct="0">
        <a:spcBef>
          <a:spcPct val="0"/>
        </a:spcBef>
        <a:spcAft>
          <a:spcPct val="0"/>
        </a:spcAft>
        <a:defRPr sz="4400">
          <a:solidFill>
            <a:schemeClr val="tx1"/>
          </a:solidFill>
          <a:latin typeface="Calibri" panose="020F0502020204030204" pitchFamily="-110" charset="0"/>
          <a:ea typeface="MS PGothic" panose="020B0600070205080204" pitchFamily="-110" charset="-128"/>
        </a:defRPr>
      </a:lvl4pPr>
      <a:lvl5pPr algn="ctr" defTabSz="457200" rtl="0" eaLnBrk="0" fontAlgn="base" hangingPunct="0">
        <a:spcBef>
          <a:spcPct val="0"/>
        </a:spcBef>
        <a:spcAft>
          <a:spcPct val="0"/>
        </a:spcAft>
        <a:defRPr sz="4400">
          <a:solidFill>
            <a:schemeClr val="tx1"/>
          </a:solidFill>
          <a:latin typeface="Calibri" panose="020F0502020204030204" pitchFamily="-110" charset="0"/>
          <a:ea typeface="MS PGothic" panose="020B0600070205080204" pitchFamily="-110" charset="-128"/>
        </a:defRPr>
      </a:lvl5pPr>
      <a:lvl6pPr marL="457200" algn="ctr" defTabSz="457200" rtl="0" fontAlgn="base">
        <a:spcBef>
          <a:spcPct val="0"/>
        </a:spcBef>
        <a:spcAft>
          <a:spcPct val="0"/>
        </a:spcAft>
        <a:defRPr sz="4400">
          <a:solidFill>
            <a:schemeClr val="tx1"/>
          </a:solidFill>
          <a:latin typeface="Calibri" panose="020F0502020204030204" pitchFamily="-110" charset="0"/>
          <a:ea typeface="MS PGothic" panose="020B0600070205080204" pitchFamily="-110" charset="-128"/>
        </a:defRPr>
      </a:lvl6pPr>
      <a:lvl7pPr marL="914400" algn="ctr" defTabSz="457200" rtl="0" fontAlgn="base">
        <a:spcBef>
          <a:spcPct val="0"/>
        </a:spcBef>
        <a:spcAft>
          <a:spcPct val="0"/>
        </a:spcAft>
        <a:defRPr sz="4400">
          <a:solidFill>
            <a:schemeClr val="tx1"/>
          </a:solidFill>
          <a:latin typeface="Calibri" panose="020F0502020204030204" pitchFamily="-110" charset="0"/>
          <a:ea typeface="MS PGothic" panose="020B0600070205080204" pitchFamily="-110" charset="-128"/>
        </a:defRPr>
      </a:lvl7pPr>
      <a:lvl8pPr marL="1371600" algn="ctr" defTabSz="457200" rtl="0" fontAlgn="base">
        <a:spcBef>
          <a:spcPct val="0"/>
        </a:spcBef>
        <a:spcAft>
          <a:spcPct val="0"/>
        </a:spcAft>
        <a:defRPr sz="4400">
          <a:solidFill>
            <a:schemeClr val="tx1"/>
          </a:solidFill>
          <a:latin typeface="Calibri" panose="020F0502020204030204" pitchFamily="-110" charset="0"/>
          <a:ea typeface="MS PGothic" panose="020B0600070205080204" pitchFamily="-110" charset="-128"/>
        </a:defRPr>
      </a:lvl8pPr>
      <a:lvl9pPr marL="1828800" algn="ctr" defTabSz="457200" rtl="0" fontAlgn="base">
        <a:spcBef>
          <a:spcPct val="0"/>
        </a:spcBef>
        <a:spcAft>
          <a:spcPct val="0"/>
        </a:spcAft>
        <a:defRPr sz="4400">
          <a:solidFill>
            <a:schemeClr val="tx1"/>
          </a:solidFill>
          <a:latin typeface="Calibri" panose="020F0502020204030204" pitchFamily="-110" charset="0"/>
          <a:ea typeface="MS PGothic" panose="020B0600070205080204" pitchFamily="-110" charset="-128"/>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S PGothic" panose="020B0600070205080204" pitchFamily="-110" charset="-128"/>
          <a:cs typeface="+mn-cs"/>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S PGothic" panose="020B0600070205080204" pitchFamily="-110" charset="-128"/>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S PGothic" panose="020B0600070205080204" pitchFamily="-110" charset="-128"/>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110" charset="-128"/>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S PGothic" panose="020B0600070205080204" pitchFamily="-110" charset="-128"/>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librarian@kca.ac.ke"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ebookcentral.proquest.com/ebc/lib/kcauebooks/#/detail?docID=7104385&amp;query=information%2520literacy" TargetMode="External"/><Relationship Id="rId2" Type="http://schemas.openxmlformats.org/officeDocument/2006/relationships/hyperlink" Target="https://ebookcentral.proquest.com/ebc/" TargetMode="External"/><Relationship Id="rId1" Type="http://schemas.openxmlformats.org/officeDocument/2006/relationships/slideLayout" Target="../slideLayouts/slideLayout2.xml"/><Relationship Id="rId4" Type="http://schemas.openxmlformats.org/officeDocument/2006/relationships/hyperlink" Target="https://ebookcentral.proquest.com/ebc/lib/kcauebooks/#/detail?docID=1753150&amp;query=academic%2520writing"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265113"/>
            <a:ext cx="7802562" cy="549275"/>
          </a:xfrm>
        </p:spPr>
        <p:txBody>
          <a:bodyPr/>
          <a:lstStyle/>
          <a:p>
            <a:br>
              <a:rPr lang="en-US" b="1" dirty="0"/>
            </a:br>
            <a:br>
              <a:rPr lang="en-US" b="1" dirty="0"/>
            </a:br>
            <a:r>
              <a:rPr lang="en-US" sz="2400" b="1" dirty="0"/>
              <a:t> </a:t>
            </a:r>
            <a:r>
              <a:rPr lang="en-US" sz="2800" b="1" dirty="0">
                <a:latin typeface="Arial Black" panose="020B0A04020102020204" pitchFamily="34" charset="0"/>
              </a:rPr>
              <a:t> </a:t>
            </a:r>
            <a:br>
              <a:rPr lang="en-US" sz="2800" b="1" dirty="0">
                <a:latin typeface="Arial Black" panose="020B0A04020102020204" pitchFamily="34" charset="0"/>
              </a:rPr>
            </a:br>
            <a:br>
              <a:rPr lang="en-US" sz="2400" b="1" dirty="0"/>
            </a:br>
            <a:br>
              <a:rPr lang="en-US" sz="2400" b="1" dirty="0"/>
            </a:br>
            <a:endParaRPr lang="en-US" dirty="0"/>
          </a:p>
        </p:txBody>
      </p:sp>
      <p:sp>
        <p:nvSpPr>
          <p:cNvPr id="4099" name="Content Placeholder 2"/>
          <p:cNvSpPr>
            <a:spLocks noGrp="1"/>
          </p:cNvSpPr>
          <p:nvPr>
            <p:ph idx="1"/>
          </p:nvPr>
        </p:nvSpPr>
        <p:spPr>
          <a:xfrm>
            <a:off x="1341438" y="1076325"/>
            <a:ext cx="7802562" cy="5486400"/>
          </a:xfrm>
        </p:spPr>
        <p:txBody>
          <a:bodyPr/>
          <a:lstStyle/>
          <a:p>
            <a:pPr marL="0" indent="0" algn="ctr">
              <a:buNone/>
            </a:pPr>
            <a:r>
              <a:rPr lang="en-US" sz="4400" dirty="0">
                <a:latin typeface="Bauhaus 93" panose="04030905020B02020C02" pitchFamily="82" charset="0"/>
              </a:rPr>
              <a:t>CUU 2102: </a:t>
            </a:r>
          </a:p>
          <a:p>
            <a:pPr marL="0" indent="0" algn="ctr">
              <a:buNone/>
            </a:pPr>
            <a:r>
              <a:rPr lang="en-US" sz="4400" dirty="0">
                <a:latin typeface="Bauhaus 93" panose="04030905020B02020C02" pitchFamily="82" charset="0"/>
              </a:rPr>
              <a:t>Information literacy &amp;Academic Writing</a:t>
            </a:r>
          </a:p>
          <a:p>
            <a:pPr algn="ctr"/>
            <a:endParaRPr lang="en-US" dirty="0"/>
          </a:p>
          <a:p>
            <a:pPr marL="0" indent="0" algn="ctr">
              <a:buNone/>
            </a:pPr>
            <a:r>
              <a:rPr lang="en-US" sz="2400" dirty="0">
                <a:latin typeface="Bauhaus 93" panose="04030905020B02020C02" pitchFamily="82" charset="0"/>
              </a:rPr>
              <a:t>Benjamin </a:t>
            </a:r>
            <a:r>
              <a:rPr lang="en-US" sz="2400" dirty="0" err="1">
                <a:latin typeface="Bauhaus 93" panose="04030905020B02020C02" pitchFamily="82" charset="0"/>
              </a:rPr>
              <a:t>Mutungi</a:t>
            </a:r>
            <a:endParaRPr lang="en-US" sz="2400" dirty="0">
              <a:latin typeface="Bauhaus 93" panose="04030905020B02020C02" pitchFamily="82" charset="0"/>
            </a:endParaRPr>
          </a:p>
          <a:p>
            <a:pPr algn="ctr"/>
            <a:endParaRPr lang="en-US" sz="2400" dirty="0">
              <a:latin typeface="Bauhaus 93" panose="04030905020B02020C02" pitchFamily="82" charset="0"/>
            </a:endParaRPr>
          </a:p>
          <a:p>
            <a:pPr marL="0" indent="0" algn="ctr">
              <a:buNone/>
            </a:pPr>
            <a:r>
              <a:rPr lang="en-US" sz="2400" dirty="0">
                <a:latin typeface="Bauhaus 93" panose="04030905020B02020C02" pitchFamily="82" charset="0"/>
                <a:hlinkClick r:id="rId2"/>
              </a:rPr>
              <a:t>librarian@kcau.ac.ke</a:t>
            </a:r>
            <a:endParaRPr lang="en-US" sz="2400" dirty="0">
              <a:latin typeface="Bauhaus 93" panose="04030905020B02020C02" pitchFamily="82" charset="0"/>
            </a:endParaRPr>
          </a:p>
          <a:p>
            <a:pPr algn="ctr"/>
            <a:endParaRPr lang="en-US" sz="2400" dirty="0">
              <a:latin typeface="Bauhaus 93" panose="04030905020B02020C02" pitchFamily="82" charset="0"/>
            </a:endParaRPr>
          </a:p>
          <a:p>
            <a:pPr marL="0" indent="0" algn="ctr">
              <a:buNone/>
            </a:pPr>
            <a:r>
              <a:rPr lang="en-US" sz="2400" dirty="0">
                <a:latin typeface="Bauhaus 93" panose="04030905020B02020C02" pitchFamily="82" charset="0"/>
              </a:rPr>
              <a:t>0721550708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B703E-AD4C-443E-B6DC-50C12834F4C1}"/>
              </a:ext>
            </a:extLst>
          </p:cNvPr>
          <p:cNvSpPr>
            <a:spLocks noGrp="1"/>
          </p:cNvSpPr>
          <p:nvPr>
            <p:ph type="title"/>
          </p:nvPr>
        </p:nvSpPr>
        <p:spPr>
          <a:xfrm>
            <a:off x="457200" y="274638"/>
            <a:ext cx="8229600" cy="639762"/>
          </a:xfrm>
        </p:spPr>
        <p:txBody>
          <a:bodyPr/>
          <a:lstStyle/>
          <a:p>
            <a:r>
              <a:rPr lang="en-US" dirty="0"/>
              <a:t>Picture speak</a:t>
            </a:r>
            <a:endParaRPr lang="en-KE" dirty="0"/>
          </a:p>
        </p:txBody>
      </p:sp>
      <p:pic>
        <p:nvPicPr>
          <p:cNvPr id="1026" name="Picture 2" descr="Lightbulb with glasses next to a stack of books">
            <a:extLst>
              <a:ext uri="{FF2B5EF4-FFF2-40B4-BE49-F238E27FC236}">
                <a16:creationId xmlns:a16="http://schemas.microsoft.com/office/drawing/2014/main" id="{375D7925-1121-4AFF-B447-DB334F984C5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371600" y="1066800"/>
            <a:ext cx="7772400" cy="579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5278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265113"/>
            <a:ext cx="7802562" cy="549275"/>
          </a:xfrm>
        </p:spPr>
        <p:txBody>
          <a:bodyPr/>
          <a:lstStyle/>
          <a:p>
            <a:br>
              <a:rPr lang="en-US" b="1" dirty="0"/>
            </a:br>
            <a:br>
              <a:rPr lang="en-US" b="1" dirty="0"/>
            </a:br>
            <a:r>
              <a:rPr lang="en-US" sz="2400" b="1" dirty="0"/>
              <a:t> </a:t>
            </a:r>
            <a:r>
              <a:rPr lang="en-US" sz="2800" b="1" dirty="0">
                <a:latin typeface="Arial Black" panose="020B0A04020102020204" pitchFamily="34" charset="0"/>
              </a:rPr>
              <a:t>Objective</a:t>
            </a:r>
            <a:br>
              <a:rPr lang="en-US" sz="2800" b="1" dirty="0">
                <a:latin typeface="Arial Black" panose="020B0A04020102020204" pitchFamily="34" charset="0"/>
              </a:rPr>
            </a:br>
            <a:br>
              <a:rPr lang="en-US" sz="2400" b="1" dirty="0"/>
            </a:br>
            <a:br>
              <a:rPr lang="en-US" sz="2400" b="1" dirty="0"/>
            </a:br>
            <a:endParaRPr lang="en-US" dirty="0"/>
          </a:p>
        </p:txBody>
      </p:sp>
      <p:sp>
        <p:nvSpPr>
          <p:cNvPr id="4099" name="Content Placeholder 2"/>
          <p:cNvSpPr>
            <a:spLocks noGrp="1"/>
          </p:cNvSpPr>
          <p:nvPr>
            <p:ph idx="1"/>
          </p:nvPr>
        </p:nvSpPr>
        <p:spPr>
          <a:xfrm>
            <a:off x="1341438" y="1076325"/>
            <a:ext cx="7802562" cy="5486400"/>
          </a:xfrm>
        </p:spPr>
        <p:txBody>
          <a:bodyPr/>
          <a:lstStyle/>
          <a:p>
            <a:pPr marL="0" indent="0">
              <a:buNone/>
            </a:pPr>
            <a:r>
              <a:rPr lang="en-US" dirty="0"/>
              <a:t>To equip you with crucial skills for academic success and lifelong learning: </a:t>
            </a:r>
          </a:p>
          <a:p>
            <a:pPr marL="0" indent="0" algn="just">
              <a:buNone/>
            </a:pPr>
            <a:r>
              <a:rPr lang="en-US" dirty="0">
                <a:solidFill>
                  <a:srgbClr val="FF0000"/>
                </a:solidFill>
              </a:rPr>
              <a:t>Finding, evaluating, and ethically using credible information to construct well-supported, clear, and persuasive arguments.</a:t>
            </a:r>
          </a:p>
          <a:p>
            <a:pPr marL="0" indent="0">
              <a:buNone/>
            </a:pPr>
            <a:endParaRPr lang="en-US" dirty="0"/>
          </a:p>
          <a:p>
            <a:pPr marL="0" indent="0" algn="just">
              <a:buNone/>
            </a:pPr>
            <a:r>
              <a:rPr lang="en-US" dirty="0">
                <a:solidFill>
                  <a:srgbClr val="0070C0"/>
                </a:solidFill>
              </a:rPr>
              <a:t>Enable you to become critical thinkers, informed citizens, and self-directed learners in a complex information world</a:t>
            </a:r>
            <a:r>
              <a:rPr lang="en-US" dirty="0">
                <a:solidFill>
                  <a:srgbClr val="0070C0"/>
                </a:solidFill>
                <a:latin typeface="Californian FB" panose="0207040306080B030204" pitchFamily="18" charset="0"/>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a:t>
            </a:r>
          </a:p>
        </p:txBody>
      </p:sp>
      <p:sp>
        <p:nvSpPr>
          <p:cNvPr id="3" name="Content Placeholder 2"/>
          <p:cNvSpPr>
            <a:spLocks noGrp="1"/>
          </p:cNvSpPr>
          <p:nvPr>
            <p:ph sz="half" idx="1"/>
          </p:nvPr>
        </p:nvSpPr>
        <p:spPr/>
        <p:txBody>
          <a:bodyPr/>
          <a:lstStyle/>
          <a:p>
            <a:pPr marL="0" indent="0">
              <a:buNone/>
            </a:pPr>
            <a:r>
              <a:rPr lang="en-US"/>
              <a:t> </a:t>
            </a:r>
          </a:p>
        </p:txBody>
      </p:sp>
      <p:pic>
        <p:nvPicPr>
          <p:cNvPr id="100" name="Content Placeholder 99"/>
          <p:cNvPicPr>
            <a:picLocks noGrp="1" noChangeAspect="1"/>
          </p:cNvPicPr>
          <p:nvPr>
            <p:ph sz="half" idx="2"/>
          </p:nvPr>
        </p:nvPicPr>
        <p:blipFill>
          <a:blip r:embed="rId2"/>
          <a:stretch>
            <a:fillRect/>
          </a:stretch>
        </p:blipFill>
        <p:spPr>
          <a:xfrm>
            <a:off x="1524000" y="1417638"/>
            <a:ext cx="6705600" cy="411480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372F7-3254-400E-A746-6CB1C9F1D50B}"/>
              </a:ext>
            </a:extLst>
          </p:cNvPr>
          <p:cNvSpPr>
            <a:spLocks noGrp="1"/>
          </p:cNvSpPr>
          <p:nvPr>
            <p:ph type="title"/>
          </p:nvPr>
        </p:nvSpPr>
        <p:spPr>
          <a:xfrm>
            <a:off x="457200" y="274638"/>
            <a:ext cx="8229600" cy="639762"/>
          </a:xfrm>
        </p:spPr>
        <p:txBody>
          <a:bodyPr/>
          <a:lstStyle/>
          <a:p>
            <a:r>
              <a:rPr lang="en-US" dirty="0"/>
              <a:t> </a:t>
            </a:r>
            <a:endParaRPr lang="en-KE" dirty="0"/>
          </a:p>
        </p:txBody>
      </p:sp>
      <p:pic>
        <p:nvPicPr>
          <p:cNvPr id="4" name="Content Placeholder 3">
            <a:extLst>
              <a:ext uri="{FF2B5EF4-FFF2-40B4-BE49-F238E27FC236}">
                <a16:creationId xmlns:a16="http://schemas.microsoft.com/office/drawing/2014/main" id="{9C14326F-3D9A-46EC-AFA7-D8266B0DD246}"/>
              </a:ext>
            </a:extLst>
          </p:cNvPr>
          <p:cNvPicPr>
            <a:picLocks noGrp="1"/>
          </p:cNvPicPr>
          <p:nvPr>
            <p:ph idx="1"/>
          </p:nvPr>
        </p:nvPicPr>
        <p:blipFill>
          <a:blip r:embed="rId2"/>
          <a:stretch>
            <a:fillRect/>
          </a:stretch>
        </p:blipFill>
        <p:spPr>
          <a:xfrm>
            <a:off x="1371601" y="1676400"/>
            <a:ext cx="7620000" cy="4800600"/>
          </a:xfrm>
          <a:prstGeom prst="rect">
            <a:avLst/>
          </a:prstGeom>
          <a:noFill/>
          <a:ln w="9525">
            <a:noFill/>
          </a:ln>
        </p:spPr>
      </p:pic>
    </p:spTree>
    <p:extLst>
      <p:ext uri="{BB962C8B-B14F-4D97-AF65-F5344CB8AC3E}">
        <p14:creationId xmlns:p14="http://schemas.microsoft.com/office/powerpoint/2010/main" val="1234553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152401"/>
            <a:ext cx="7802562" cy="661988"/>
          </a:xfrm>
        </p:spPr>
        <p:txBody>
          <a:bodyPr/>
          <a:lstStyle/>
          <a:p>
            <a:pPr algn="l"/>
            <a:br>
              <a:rPr lang="en-US" b="1" dirty="0"/>
            </a:br>
            <a:br>
              <a:rPr lang="en-US" b="1" dirty="0"/>
            </a:br>
            <a:r>
              <a:rPr lang="en-US" sz="2400" b="1" dirty="0"/>
              <a:t> </a:t>
            </a:r>
            <a:r>
              <a:rPr lang="en-US" sz="2800" b="1" dirty="0">
                <a:latin typeface="Times New Roman" panose="02020603050405020304" pitchFamily="18" charset="0"/>
                <a:cs typeface="Times New Roman" panose="02020603050405020304" pitchFamily="18" charset="0"/>
              </a:rPr>
              <a:t>The world we live in</a:t>
            </a:r>
            <a:br>
              <a:rPr lang="en-US" sz="2800" b="1" dirty="0">
                <a:latin typeface="Times New Roman" panose="02020603050405020304" pitchFamily="18" charset="0"/>
                <a:cs typeface="Times New Roman" panose="02020603050405020304" pitchFamily="18" charset="0"/>
              </a:rPr>
            </a:br>
            <a:br>
              <a:rPr lang="en-US" sz="2800" b="1" dirty="0">
                <a:latin typeface="Times New Roman" panose="02020603050405020304" pitchFamily="18" charset="0"/>
                <a:cs typeface="Times New Roman" panose="02020603050405020304" pitchFamily="18" charset="0"/>
              </a:rPr>
            </a:br>
            <a:br>
              <a:rPr lang="en-US" sz="2000" b="1" dirty="0">
                <a:latin typeface="Times New Roman" panose="02020603050405020304" pitchFamily="18" charset="0"/>
                <a:cs typeface="Times New Roman" panose="02020603050405020304" pitchFamily="18" charset="0"/>
              </a:rPr>
            </a:br>
            <a:endParaRPr lang="en-US" dirty="0"/>
          </a:p>
        </p:txBody>
      </p:sp>
      <p:sp>
        <p:nvSpPr>
          <p:cNvPr id="4099" name="Content Placeholder 2"/>
          <p:cNvSpPr>
            <a:spLocks noGrp="1"/>
          </p:cNvSpPr>
          <p:nvPr>
            <p:ph idx="1"/>
          </p:nvPr>
        </p:nvSpPr>
        <p:spPr>
          <a:xfrm>
            <a:off x="1341438" y="1076325"/>
            <a:ext cx="7802562" cy="5486400"/>
          </a:xfrm>
        </p:spPr>
        <p:txBody>
          <a:bodyPr/>
          <a:lstStyle/>
          <a:p>
            <a:r>
              <a:rPr lang="en-US" sz="2800" dirty="0">
                <a:latin typeface="Californian FB" panose="0207040306080B030204" pitchFamily="18" charset="0"/>
              </a:rPr>
              <a:t>Today we live in a very exciting and interesting time. WHY??</a:t>
            </a:r>
          </a:p>
          <a:p>
            <a:endParaRPr lang="en-US" sz="2800" dirty="0">
              <a:latin typeface="Californian FB" panose="0207040306080B030204" pitchFamily="18" charset="0"/>
            </a:endParaRPr>
          </a:p>
          <a:p>
            <a:r>
              <a:rPr lang="en-US" sz="2800" dirty="0">
                <a:latin typeface="Californian FB" panose="0207040306080B030204" pitchFamily="18" charset="0"/>
              </a:rPr>
              <a:t>Life long learning is necessary for survival in today’s world. The greatest skill therefore you can learn at University is the skill of learning how to learn.</a:t>
            </a:r>
          </a:p>
          <a:p>
            <a:endParaRPr lang="en-US" sz="2800" dirty="0">
              <a:latin typeface="Californian FB" panose="0207040306080B030204" pitchFamily="18" charset="0"/>
            </a:endParaRPr>
          </a:p>
          <a:p>
            <a:r>
              <a:rPr lang="en-US" sz="2800" dirty="0">
                <a:latin typeface="Californian FB" panose="0207040306080B030204" pitchFamily="18" charset="0"/>
              </a:rPr>
              <a:t>This unit of IL will therefore help prepare you to deal with informaton in your academic journey.</a:t>
            </a:r>
          </a:p>
          <a:p>
            <a:pPr marL="0" lvl="0" indent="0" defTabSz="914400" eaLnBrk="1" hangingPunct="1">
              <a:spcBef>
                <a:spcPct val="0"/>
              </a:spcBef>
              <a:buNone/>
            </a:pPr>
            <a:endParaRPr lang="en-US" sz="4000" dirty="0">
              <a:solidFill>
                <a:srgbClr val="000000"/>
              </a:solidFill>
              <a:latin typeface="Arial" panose="020B0604020202020204" pitchFamily="34" charset="0"/>
              <a:ea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877A8-71D3-4D60-BA35-8A210F40ABB2}"/>
              </a:ext>
            </a:extLst>
          </p:cNvPr>
          <p:cNvSpPr>
            <a:spLocks noGrp="1"/>
          </p:cNvSpPr>
          <p:nvPr>
            <p:ph type="title"/>
          </p:nvPr>
        </p:nvSpPr>
        <p:spPr>
          <a:xfrm>
            <a:off x="1171338" y="357119"/>
            <a:ext cx="6801323" cy="639762"/>
          </a:xfrm>
        </p:spPr>
        <p:txBody>
          <a:bodyPr/>
          <a:lstStyle/>
          <a:p>
            <a:r>
              <a:rPr lang="en-US" sz="3600" dirty="0">
                <a:highlight>
                  <a:srgbClr val="FFFF00"/>
                </a:highlight>
              </a:rPr>
              <a:t>Important</a:t>
            </a:r>
            <a:endParaRPr lang="en-KE" sz="3600" dirty="0">
              <a:highlight>
                <a:srgbClr val="FFFF00"/>
              </a:highlight>
            </a:endParaRPr>
          </a:p>
        </p:txBody>
      </p:sp>
      <p:sp>
        <p:nvSpPr>
          <p:cNvPr id="3" name="Content Placeholder 2">
            <a:extLst>
              <a:ext uri="{FF2B5EF4-FFF2-40B4-BE49-F238E27FC236}">
                <a16:creationId xmlns:a16="http://schemas.microsoft.com/office/drawing/2014/main" id="{7C1041E2-1959-4435-9D14-B9FBDCE61762}"/>
              </a:ext>
            </a:extLst>
          </p:cNvPr>
          <p:cNvSpPr>
            <a:spLocks noGrp="1"/>
          </p:cNvSpPr>
          <p:nvPr>
            <p:ph idx="1"/>
          </p:nvPr>
        </p:nvSpPr>
        <p:spPr>
          <a:xfrm>
            <a:off x="1371600" y="1066800"/>
            <a:ext cx="7772400" cy="5638800"/>
          </a:xfrm>
        </p:spPr>
        <p:txBody>
          <a:bodyPr/>
          <a:lstStyle/>
          <a:p>
            <a:pPr marL="0" indent="0" algn="just">
              <a:buNone/>
            </a:pPr>
            <a:r>
              <a:rPr lang="en-US" dirty="0"/>
              <a:t>In the digital age, where information is readily available at our fingertips, the ability to effectively find, evaluate, and use information has become a crucial skill for students.</a:t>
            </a:r>
          </a:p>
          <a:p>
            <a:pPr marL="0" indent="0">
              <a:buNone/>
            </a:pPr>
            <a:endParaRPr lang="en-US" dirty="0"/>
          </a:p>
          <a:p>
            <a:pPr marL="0" indent="0">
              <a:buNone/>
            </a:pPr>
            <a:endParaRPr lang="en-US" dirty="0"/>
          </a:p>
          <a:p>
            <a:pPr marL="0" indent="0" algn="just">
              <a:buNone/>
            </a:pPr>
            <a:r>
              <a:rPr lang="en-US" dirty="0">
                <a:solidFill>
                  <a:srgbClr val="0070C0"/>
                </a:solidFill>
              </a:rPr>
              <a:t>Information literacy, the competency to navigate the vast array of information sources and utilize them effectively, is essential for academic success and lifelong learning</a:t>
            </a:r>
            <a:r>
              <a:rPr lang="en-US" dirty="0"/>
              <a:t>.</a:t>
            </a:r>
            <a:endParaRPr lang="en-KE" dirty="0"/>
          </a:p>
        </p:txBody>
      </p:sp>
      <p:pic>
        <p:nvPicPr>
          <p:cNvPr id="2050" name="Picture 2" descr="Cute funny emoji smile face with idea lamp – Royalty-Free ...">
            <a:extLst>
              <a:ext uri="{FF2B5EF4-FFF2-40B4-BE49-F238E27FC236}">
                <a16:creationId xmlns:a16="http://schemas.microsoft.com/office/drawing/2014/main" id="{E6BC1443-966C-4842-8863-8507122BC4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0"/>
            <a:ext cx="1143000" cy="91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8176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152400"/>
            <a:ext cx="7802562" cy="762000"/>
          </a:xfrm>
        </p:spPr>
        <p:txBody>
          <a:bodyPr/>
          <a:lstStyle/>
          <a:p>
            <a:br>
              <a:rPr lang="en-US" b="1" dirty="0"/>
            </a:br>
            <a:br>
              <a:rPr lang="en-US" b="1" dirty="0"/>
            </a:br>
            <a:r>
              <a:rPr lang="en-US" sz="2400" b="1" dirty="0"/>
              <a:t> </a:t>
            </a:r>
            <a:br>
              <a:rPr lang="en-US" sz="2400" b="1" dirty="0"/>
            </a:br>
            <a:r>
              <a:rPr lang="en-US" sz="2400" b="1" dirty="0"/>
              <a:t>Information</a:t>
            </a:r>
            <a:br>
              <a:rPr lang="en-US" sz="2800" b="1" dirty="0">
                <a:latin typeface="Arial Black" panose="020B0A04020102020204" pitchFamily="34" charset="0"/>
              </a:rPr>
            </a:br>
            <a:br>
              <a:rPr lang="en-US" sz="2400" b="1" dirty="0"/>
            </a:br>
            <a:br>
              <a:rPr lang="en-US" sz="2000" b="1" dirty="0">
                <a:latin typeface="Times New Roman" panose="02020603050405020304" pitchFamily="18" charset="0"/>
                <a:cs typeface="Times New Roman" panose="02020603050405020304" pitchFamily="18" charset="0"/>
              </a:rPr>
            </a:br>
            <a:endParaRPr lang="en-US" dirty="0"/>
          </a:p>
        </p:txBody>
      </p:sp>
      <p:sp>
        <p:nvSpPr>
          <p:cNvPr id="4099" name="Content Placeholder 2"/>
          <p:cNvSpPr>
            <a:spLocks noGrp="1"/>
          </p:cNvSpPr>
          <p:nvPr>
            <p:ph idx="1"/>
          </p:nvPr>
        </p:nvSpPr>
        <p:spPr>
          <a:xfrm>
            <a:off x="1341438" y="1076325"/>
            <a:ext cx="7802562" cy="5486400"/>
          </a:xfrm>
        </p:spPr>
        <p:txBody>
          <a:bodyPr/>
          <a:lstStyle/>
          <a:p>
            <a:r>
              <a:rPr lang="en-US" sz="2400" dirty="0">
                <a:latin typeface="Californian FB" panose="0207040306080B030204" pitchFamily="18" charset="0"/>
              </a:rPr>
              <a:t>It has been estimated that the amount of information in the world doubles every 20 months (Annual review …. 1997: 197)</a:t>
            </a:r>
          </a:p>
          <a:p>
            <a:endParaRPr lang="en-US" sz="2400" dirty="0">
              <a:latin typeface="Californian FB" panose="0207040306080B030204" pitchFamily="18" charset="0"/>
            </a:endParaRPr>
          </a:p>
          <a:p>
            <a:r>
              <a:rPr lang="en-US" sz="2400" dirty="0">
                <a:latin typeface="Californian FB" panose="0207040306080B030204" pitchFamily="18" charset="0"/>
              </a:rPr>
              <a:t>Fifty years ago, researchers had to deal with filing cabinets full of paper forms. Now they routinely deal with digital databases containing terabytes. (A terabyte is 1,000 gigabytes of information). That much electronic information creates problems both for computer scientists and for statisticians (</a:t>
            </a:r>
            <a:r>
              <a:rPr lang="en-US" sz="2400" dirty="0" err="1">
                <a:latin typeface="Californian FB" panose="0207040306080B030204" pitchFamily="18" charset="0"/>
              </a:rPr>
              <a:t>Kleiner</a:t>
            </a:r>
            <a:r>
              <a:rPr lang="en-US" sz="2400" dirty="0">
                <a:latin typeface="Californian FB" panose="0207040306080B030204" pitchFamily="18" charset="0"/>
              </a:rPr>
              <a:t>, K. …. 2010)</a:t>
            </a:r>
          </a:p>
          <a:p>
            <a:endParaRPr lang="en-US" sz="2400" dirty="0">
              <a:latin typeface="Californian FB" panose="0207040306080B030204" pitchFamily="18" charset="0"/>
            </a:endParaRPr>
          </a:p>
          <a:p>
            <a:r>
              <a:rPr lang="en-US" sz="2400" dirty="0">
                <a:latin typeface="Californian FB" panose="0207040306080B030204" pitchFamily="18" charset="0"/>
              </a:rPr>
              <a:t>How to extract meaningful information out of the massive data is the challenge today.</a:t>
            </a:r>
          </a:p>
          <a:p>
            <a:pPr marL="0" lvl="0" indent="0" defTabSz="914400" eaLnBrk="1" hangingPunct="1">
              <a:spcBef>
                <a:spcPct val="0"/>
              </a:spcBef>
              <a:buNone/>
            </a:pPr>
            <a:endParaRPr lang="en-US" b="1" dirty="0">
              <a:solidFill>
                <a:srgbClr val="000000"/>
              </a:solidFill>
              <a:latin typeface="Arial" panose="020B0604020202020204" pitchFamily="34" charset="0"/>
              <a:ea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a:t>
            </a:r>
          </a:p>
        </p:txBody>
      </p:sp>
      <p:sp>
        <p:nvSpPr>
          <p:cNvPr id="3" name="Content Placeholder 2"/>
          <p:cNvSpPr>
            <a:spLocks noGrp="1"/>
          </p:cNvSpPr>
          <p:nvPr>
            <p:ph idx="1"/>
          </p:nvPr>
        </p:nvSpPr>
        <p:spPr/>
        <p:txBody>
          <a:bodyPr/>
          <a:lstStyle/>
          <a:p>
            <a:pPr marL="0" indent="0">
              <a:buNone/>
            </a:pPr>
            <a:r>
              <a:rPr lang="en-US"/>
              <a:t> </a:t>
            </a:r>
          </a:p>
        </p:txBody>
      </p:sp>
      <p:sp>
        <p:nvSpPr>
          <p:cNvPr id="4" name="Text Box 3"/>
          <p:cNvSpPr txBox="1"/>
          <p:nvPr/>
        </p:nvSpPr>
        <p:spPr>
          <a:xfrm>
            <a:off x="1438910" y="1687195"/>
            <a:ext cx="7580630" cy="3874135"/>
          </a:xfrm>
          <a:prstGeom prst="rect">
            <a:avLst/>
          </a:prstGeom>
          <a:noFill/>
        </p:spPr>
        <p:txBody>
          <a:bodyPr wrap="square" rtlCol="0" anchor="t">
            <a:noAutofit/>
          </a:bodyPr>
          <a:lstStyle/>
          <a:p>
            <a:r>
              <a:rPr lang="en-US" sz="2800"/>
              <a:t>Year	Data Generated	Change Over Previous Year</a:t>
            </a:r>
          </a:p>
          <a:p>
            <a:r>
              <a:rPr lang="en-US" sz="2800"/>
              <a:t>2022*	 97 zettabytes	↑ 18 zettabytes</a:t>
            </a:r>
          </a:p>
          <a:p>
            <a:r>
              <a:rPr lang="en-US" sz="2800"/>
              <a:t>2023*	 120 zettabytes	↑ 23 zettabytes</a:t>
            </a:r>
          </a:p>
          <a:p>
            <a:r>
              <a:rPr lang="en-US" sz="2800"/>
              <a:t>2024* 147 zettabytes	↑ 27 zettabytes</a:t>
            </a:r>
          </a:p>
          <a:p>
            <a:r>
              <a:rPr lang="en-US" sz="2800"/>
              <a:t>2025*	181 zettabytes	↑ 34 zettabytes</a:t>
            </a:r>
          </a:p>
        </p:txBody>
      </p:sp>
      <p:sp>
        <p:nvSpPr>
          <p:cNvPr id="5" name="Text Box 4"/>
          <p:cNvSpPr txBox="1"/>
          <p:nvPr/>
        </p:nvSpPr>
        <p:spPr>
          <a:xfrm>
            <a:off x="3810000" y="457200"/>
            <a:ext cx="3048000" cy="368300"/>
          </a:xfrm>
          <a:prstGeom prst="rect">
            <a:avLst/>
          </a:prstGeom>
          <a:noFill/>
        </p:spPr>
        <p:txBody>
          <a:bodyPr wrap="square" rtlCol="0">
            <a:spAutoFit/>
          </a:bodyPr>
          <a:lstStyle/>
          <a:p>
            <a:r>
              <a:rPr lang="en-US"/>
              <a:t>Fabio Duarte 2023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265113"/>
            <a:ext cx="7802562" cy="549275"/>
          </a:xfrm>
        </p:spPr>
        <p:txBody>
          <a:bodyPr/>
          <a:lstStyle/>
          <a:p>
            <a:br>
              <a:rPr lang="en-US" b="1" dirty="0"/>
            </a:br>
            <a:br>
              <a:rPr lang="en-US" b="1" dirty="0"/>
            </a:br>
            <a:r>
              <a:rPr lang="en-US" sz="2400" b="1" dirty="0"/>
              <a:t> </a:t>
            </a:r>
            <a:r>
              <a:rPr lang="en-US" sz="2800" b="1" dirty="0">
                <a:latin typeface="Arial Black" panose="020B0A04020102020204" pitchFamily="34" charset="0"/>
              </a:rPr>
              <a:t>Information/ Literacy defined</a:t>
            </a:r>
            <a:br>
              <a:rPr lang="en-US" sz="2800" b="1" dirty="0">
                <a:latin typeface="Arial Black" panose="020B0A04020102020204" pitchFamily="34" charset="0"/>
              </a:rPr>
            </a:br>
            <a:br>
              <a:rPr lang="en-US" sz="2400" b="1" dirty="0"/>
            </a:br>
            <a:br>
              <a:rPr lang="en-US" sz="2400" b="1" dirty="0"/>
            </a:br>
            <a:endParaRPr lang="en-US" dirty="0"/>
          </a:p>
        </p:txBody>
      </p:sp>
      <p:sp>
        <p:nvSpPr>
          <p:cNvPr id="4099" name="Content Placeholder 2"/>
          <p:cNvSpPr>
            <a:spLocks noGrp="1"/>
          </p:cNvSpPr>
          <p:nvPr>
            <p:ph idx="1"/>
          </p:nvPr>
        </p:nvSpPr>
        <p:spPr>
          <a:xfrm>
            <a:off x="1341438" y="1076325"/>
            <a:ext cx="7802562" cy="5486400"/>
          </a:xfrm>
        </p:spPr>
        <p:txBody>
          <a:bodyPr/>
          <a:lstStyle/>
          <a:p>
            <a:pPr marL="0" indent="0">
              <a:buNone/>
            </a:pPr>
            <a:r>
              <a:rPr lang="en-US" sz="2400" b="1" dirty="0">
                <a:latin typeface="Californian FB" panose="0207040306080B030204" pitchFamily="18" charset="0"/>
              </a:rPr>
              <a:t>Knowledge communicated concerning some particular fact, subject, or event; that of which one is apprised or told; intelligence, news. (OED 2011)</a:t>
            </a:r>
          </a:p>
          <a:p>
            <a:endParaRPr lang="en-US" sz="2400" b="1" dirty="0">
              <a:latin typeface="Californian FB" panose="0207040306080B030204" pitchFamily="18" charset="0"/>
            </a:endParaRPr>
          </a:p>
          <a:p>
            <a:pPr marL="0" indent="0">
              <a:buNone/>
            </a:pPr>
            <a:r>
              <a:rPr lang="en-US" sz="2400" b="1" dirty="0">
                <a:latin typeface="Californian FB" panose="0207040306080B030204" pitchFamily="18" charset="0"/>
              </a:rPr>
              <a:t>A collection of facts or messages which have some meaning for the person receiving them; communicated knowledge (INS 102-V</a:t>
            </a:r>
            <a:r>
              <a:rPr lang="en-US" sz="2400" b="1" dirty="0"/>
              <a:t>)</a:t>
            </a:r>
          </a:p>
          <a:p>
            <a:endParaRPr lang="en-US" sz="2400" b="1" dirty="0"/>
          </a:p>
          <a:p>
            <a:endParaRPr lang="en-US" sz="2400" b="1" dirty="0"/>
          </a:p>
          <a:p>
            <a:endParaRPr lang="en-US" sz="2400" b="1" dirty="0"/>
          </a:p>
          <a:p>
            <a:pPr marL="0" indent="0">
              <a:buNone/>
            </a:pPr>
            <a:r>
              <a:rPr lang="en-US" sz="2400" b="1" dirty="0">
                <a:solidFill>
                  <a:srgbClr val="FF0066"/>
                </a:solidFill>
              </a:rPr>
              <a:t>Literacy:</a:t>
            </a:r>
            <a:r>
              <a:rPr lang="en-US" sz="2400" b="1" dirty="0"/>
              <a:t> </a:t>
            </a:r>
            <a:r>
              <a:rPr lang="en-US" sz="2400" b="1" dirty="0">
                <a:latin typeface="Californian FB" panose="0207040306080B030204" pitchFamily="18" charset="0"/>
              </a:rPr>
              <a:t>Competence or knowledge in a particular area </a:t>
            </a:r>
            <a:r>
              <a:rPr lang="en-US" sz="2400" b="1"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265113"/>
            <a:ext cx="7802562" cy="549275"/>
          </a:xfrm>
        </p:spPr>
        <p:txBody>
          <a:bodyPr/>
          <a:lstStyle/>
          <a:p>
            <a:br>
              <a:rPr lang="en-US" b="1" dirty="0"/>
            </a:br>
            <a:br>
              <a:rPr lang="en-US" b="1" dirty="0"/>
            </a:br>
            <a:r>
              <a:rPr lang="en-US" sz="2400" b="1" dirty="0"/>
              <a:t> How  information affects us.</a:t>
            </a:r>
            <a:br>
              <a:rPr lang="en-US" sz="2800" b="1" dirty="0">
                <a:latin typeface="Arial Black" panose="020B0A04020102020204" pitchFamily="34" charset="0"/>
              </a:rPr>
            </a:br>
            <a:br>
              <a:rPr lang="en-US" sz="2400" b="1" dirty="0"/>
            </a:br>
            <a:br>
              <a:rPr lang="en-US" sz="2400" b="1" dirty="0"/>
            </a:br>
            <a:endParaRPr lang="en-US" dirty="0"/>
          </a:p>
        </p:txBody>
      </p:sp>
      <p:sp>
        <p:nvSpPr>
          <p:cNvPr id="4099" name="Content Placeholder 2"/>
          <p:cNvSpPr>
            <a:spLocks noGrp="1"/>
          </p:cNvSpPr>
          <p:nvPr>
            <p:ph idx="1"/>
          </p:nvPr>
        </p:nvSpPr>
        <p:spPr>
          <a:xfrm>
            <a:off x="1341438" y="1076325"/>
            <a:ext cx="7802562" cy="5486400"/>
          </a:xfrm>
        </p:spPr>
        <p:txBody>
          <a:bodyPr/>
          <a:lstStyle/>
          <a:p>
            <a:pPr marL="0" indent="0">
              <a:buNone/>
            </a:pPr>
            <a:r>
              <a:rPr lang="en-US" sz="2400" dirty="0">
                <a:latin typeface="Californian FB" panose="0207040306080B030204" pitchFamily="18" charset="0"/>
              </a:rPr>
              <a:t>We need information to:</a:t>
            </a:r>
          </a:p>
          <a:p>
            <a:pPr marL="0" indent="0">
              <a:buNone/>
            </a:pPr>
            <a:r>
              <a:rPr lang="en-US" sz="2400" dirty="0">
                <a:latin typeface="Californian FB" panose="0207040306080B030204" pitchFamily="18" charset="0"/>
              </a:rPr>
              <a:t>	- Increase our chances of survival.</a:t>
            </a:r>
          </a:p>
          <a:p>
            <a:pPr marL="0" indent="0">
              <a:buNone/>
            </a:pPr>
            <a:r>
              <a:rPr lang="en-US" sz="2400" dirty="0">
                <a:latin typeface="Californian FB" panose="0207040306080B030204" pitchFamily="18" charset="0"/>
              </a:rPr>
              <a:t>	- Improve the quality of our life.</a:t>
            </a:r>
          </a:p>
          <a:p>
            <a:endParaRPr lang="en-US" sz="2400" dirty="0">
              <a:latin typeface="Californian FB" panose="0207040306080B030204" pitchFamily="18" charset="0"/>
            </a:endParaRPr>
          </a:p>
          <a:p>
            <a:pPr marL="0" indent="0">
              <a:buNone/>
            </a:pPr>
            <a:r>
              <a:rPr lang="en-US" sz="2400" dirty="0">
                <a:latin typeface="Californian FB" panose="0207040306080B030204" pitchFamily="18" charset="0"/>
              </a:rPr>
              <a:t>Information is a crucial resource in the economic, political and social life of nations.</a:t>
            </a:r>
          </a:p>
          <a:p>
            <a:endParaRPr lang="en-US" sz="2400" dirty="0">
              <a:latin typeface="Californian FB" panose="0207040306080B030204" pitchFamily="18" charset="0"/>
            </a:endParaRPr>
          </a:p>
          <a:p>
            <a:pPr marL="0" indent="0">
              <a:buNone/>
            </a:pPr>
            <a:r>
              <a:rPr lang="en-US" sz="2400" dirty="0">
                <a:latin typeface="Californian FB" panose="0207040306080B030204" pitchFamily="18" charset="0"/>
              </a:rPr>
              <a:t>You need information to make decisions or make the right choice: </a:t>
            </a:r>
          </a:p>
          <a:p>
            <a:pPr marL="0" indent="0">
              <a:buNone/>
            </a:pPr>
            <a:r>
              <a:rPr lang="en-US" sz="2400" dirty="0">
                <a:latin typeface="Californian FB" panose="0207040306080B030204" pitchFamily="18" charset="0"/>
              </a:rPr>
              <a:t>	- </a:t>
            </a:r>
            <a:r>
              <a:rPr lang="en-US" sz="2000" dirty="0">
                <a:latin typeface="Californian FB" panose="0207040306080B030204" pitchFamily="18" charset="0"/>
              </a:rPr>
              <a:t>Find a job,</a:t>
            </a:r>
          </a:p>
          <a:p>
            <a:pPr marL="0" indent="0">
              <a:buNone/>
            </a:pPr>
            <a:r>
              <a:rPr lang="en-US" sz="2000" dirty="0">
                <a:latin typeface="Californian FB" panose="0207040306080B030204" pitchFamily="18" charset="0"/>
              </a:rPr>
              <a:t>	- Catch a plane on time</a:t>
            </a:r>
          </a:p>
          <a:p>
            <a:pPr marL="0" indent="0">
              <a:buNone/>
            </a:pPr>
            <a:r>
              <a:rPr lang="en-US" sz="2000" dirty="0">
                <a:latin typeface="Californian FB" panose="0207040306080B030204" pitchFamily="18" charset="0"/>
              </a:rPr>
              <a:t>	- Vote in an election</a:t>
            </a:r>
          </a:p>
          <a:p>
            <a:pPr marL="0" indent="0">
              <a:buNone/>
            </a:pPr>
            <a:r>
              <a:rPr lang="en-US" sz="2000" dirty="0">
                <a:latin typeface="Californian FB" panose="0207040306080B030204" pitchFamily="18" charset="0"/>
              </a:rPr>
              <a:t>	- Do an assignment </a:t>
            </a:r>
          </a:p>
          <a:p>
            <a:pPr marL="0" indent="0">
              <a:buNone/>
            </a:pPr>
            <a:r>
              <a:rPr lang="en-US" sz="2000" dirty="0">
                <a:latin typeface="Californian FB" panose="0207040306080B030204" pitchFamily="18" charset="0"/>
              </a:rPr>
              <a:t>	- etc.</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265113"/>
            <a:ext cx="7802562" cy="549275"/>
          </a:xfrm>
        </p:spPr>
        <p:txBody>
          <a:bodyPr/>
          <a:lstStyle/>
          <a:p>
            <a:br>
              <a:rPr lang="en-US" b="1" dirty="0"/>
            </a:br>
            <a:br>
              <a:rPr lang="en-US" b="1" dirty="0"/>
            </a:br>
            <a:r>
              <a:rPr lang="en-US" sz="2400" b="1" dirty="0"/>
              <a:t> How information affects us</a:t>
            </a:r>
            <a:br>
              <a:rPr lang="en-US" sz="2800" b="1" dirty="0">
                <a:latin typeface="Arial Black" panose="020B0A04020102020204" pitchFamily="34" charset="0"/>
              </a:rPr>
            </a:br>
            <a:br>
              <a:rPr lang="en-US" sz="2400" b="1" dirty="0"/>
            </a:br>
            <a:br>
              <a:rPr lang="en-US" sz="2400" b="1" dirty="0"/>
            </a:br>
            <a:endParaRPr lang="en-US" dirty="0"/>
          </a:p>
        </p:txBody>
      </p:sp>
      <p:sp>
        <p:nvSpPr>
          <p:cNvPr id="4099" name="Content Placeholder 2"/>
          <p:cNvSpPr>
            <a:spLocks noGrp="1"/>
          </p:cNvSpPr>
          <p:nvPr>
            <p:ph idx="1"/>
          </p:nvPr>
        </p:nvSpPr>
        <p:spPr>
          <a:xfrm>
            <a:off x="1341438" y="1076325"/>
            <a:ext cx="7802562" cy="5486400"/>
          </a:xfrm>
        </p:spPr>
        <p:txBody>
          <a:bodyPr/>
          <a:lstStyle/>
          <a:p>
            <a:r>
              <a:rPr lang="en-US" sz="2400" dirty="0">
                <a:latin typeface="Californian FB" panose="0207040306080B030204" pitchFamily="18" charset="0"/>
              </a:rPr>
              <a:t>We need to:</a:t>
            </a:r>
          </a:p>
          <a:p>
            <a:pPr lvl="1">
              <a:buFontTx/>
              <a:buChar char="-"/>
            </a:pPr>
            <a:r>
              <a:rPr lang="en-US" sz="2400" dirty="0">
                <a:latin typeface="Californian FB" panose="0207040306080B030204" pitchFamily="18" charset="0"/>
              </a:rPr>
              <a:t>Function in a society where information is considered to be important and indispensable, it has economic value.</a:t>
            </a:r>
          </a:p>
          <a:p>
            <a:pPr lvl="1">
              <a:buFontTx/>
              <a:buChar char="-"/>
            </a:pPr>
            <a:r>
              <a:rPr lang="en-US" sz="2400" dirty="0">
                <a:latin typeface="Californian FB" panose="0207040306080B030204" pitchFamily="18" charset="0"/>
              </a:rPr>
              <a:t>Be aware that information can help us to solve problems and make decisions. </a:t>
            </a:r>
          </a:p>
          <a:p>
            <a:pPr lvl="1">
              <a:buFontTx/>
              <a:buChar char="-"/>
            </a:pPr>
            <a:r>
              <a:rPr lang="en-US" sz="2400" b="1" dirty="0">
                <a:latin typeface="Californian FB" panose="0207040306080B030204" pitchFamily="18" charset="0"/>
              </a:rPr>
              <a:t>Be able to obtain the right information for our purposes</a:t>
            </a:r>
          </a:p>
          <a:p>
            <a:pPr lvl="1">
              <a:buFontTx/>
              <a:buChar char="-"/>
            </a:pPr>
            <a:r>
              <a:rPr lang="en-US" sz="2400" b="1" dirty="0">
                <a:latin typeface="Californian FB" panose="0207040306080B030204" pitchFamily="18" charset="0"/>
              </a:rPr>
              <a:t>Know how to work with this information</a:t>
            </a:r>
            <a:r>
              <a:rPr lang="en-US" b="1" dirty="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265113"/>
            <a:ext cx="7802562" cy="549275"/>
          </a:xfrm>
        </p:spPr>
        <p:txBody>
          <a:bodyPr/>
          <a:lstStyle/>
          <a:p>
            <a:br>
              <a:rPr lang="en-US" b="1" dirty="0"/>
            </a:br>
            <a:br>
              <a:rPr lang="en-US" b="1" dirty="0"/>
            </a:br>
            <a:r>
              <a:rPr lang="en-US" sz="2400" b="1" dirty="0"/>
              <a:t> Material dimension of information</a:t>
            </a:r>
            <a:br>
              <a:rPr lang="en-US" sz="2800" b="1" dirty="0">
                <a:latin typeface="Arial Black" panose="020B0A04020102020204" pitchFamily="34" charset="0"/>
              </a:rPr>
            </a:br>
            <a:br>
              <a:rPr lang="en-US" sz="2400" b="1" dirty="0"/>
            </a:br>
            <a:br>
              <a:rPr lang="en-US" sz="2400" b="1" dirty="0"/>
            </a:br>
            <a:endParaRPr lang="en-US" dirty="0"/>
          </a:p>
        </p:txBody>
      </p:sp>
      <p:sp>
        <p:nvSpPr>
          <p:cNvPr id="4099" name="Content Placeholder 2"/>
          <p:cNvSpPr>
            <a:spLocks noGrp="1"/>
          </p:cNvSpPr>
          <p:nvPr>
            <p:ph idx="1"/>
          </p:nvPr>
        </p:nvSpPr>
        <p:spPr>
          <a:xfrm>
            <a:off x="1341438" y="1076325"/>
            <a:ext cx="7802562" cy="5486400"/>
          </a:xfrm>
        </p:spPr>
        <p:txBody>
          <a:bodyPr/>
          <a:lstStyle/>
          <a:p>
            <a:pPr marL="0" indent="0">
              <a:buNone/>
            </a:pPr>
            <a:r>
              <a:rPr lang="en-US" sz="2400" dirty="0">
                <a:latin typeface="Californian FB" panose="0207040306080B030204" pitchFamily="18" charset="0"/>
              </a:rPr>
              <a:t>Information has economic value. This is because of its capacity to carry meaning.</a:t>
            </a:r>
          </a:p>
          <a:p>
            <a:endParaRPr lang="en-US" sz="2400" dirty="0">
              <a:latin typeface="Californian FB" panose="0207040306080B030204" pitchFamily="18" charset="0"/>
            </a:endParaRPr>
          </a:p>
          <a:p>
            <a:pPr marL="0" indent="0">
              <a:buNone/>
            </a:pPr>
            <a:r>
              <a:rPr lang="en-US" sz="2400" dirty="0">
                <a:latin typeface="Californian FB" panose="0207040306080B030204" pitchFamily="18" charset="0"/>
              </a:rPr>
              <a:t>As information increases, more expertise is required to use it effectively.</a:t>
            </a:r>
          </a:p>
          <a:p>
            <a:endParaRPr lang="en-US" sz="2400" dirty="0">
              <a:latin typeface="Californian FB" panose="0207040306080B030204" pitchFamily="18" charset="0"/>
            </a:endParaRPr>
          </a:p>
          <a:p>
            <a:pPr marL="0" indent="0">
              <a:buNone/>
            </a:pPr>
            <a:r>
              <a:rPr lang="en-US" sz="2400" dirty="0">
                <a:latin typeface="Californian FB" panose="0207040306080B030204" pitchFamily="18" charset="0"/>
              </a:rPr>
              <a:t>Technological aids have been created to help create, process and distribute information. This does not however necessarily mean that people are better informed.</a:t>
            </a:r>
          </a:p>
          <a:p>
            <a:endParaRPr lang="en-US" sz="2400" dirty="0">
              <a:latin typeface="Californian FB" panose="0207040306080B030204" pitchFamily="18" charset="0"/>
            </a:endParaRPr>
          </a:p>
          <a:p>
            <a:pPr marL="0" indent="0">
              <a:buNone/>
            </a:pPr>
            <a:r>
              <a:rPr lang="en-US" sz="2400" dirty="0">
                <a:latin typeface="Californian FB" panose="0207040306080B030204" pitchFamily="18" charset="0"/>
              </a:rPr>
              <a:t>One requires information skills to effectively utilize information.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265113"/>
            <a:ext cx="7802562" cy="549275"/>
          </a:xfrm>
        </p:spPr>
        <p:txBody>
          <a:bodyPr/>
          <a:lstStyle/>
          <a:p>
            <a:br>
              <a:rPr lang="en-US" b="1" dirty="0"/>
            </a:br>
            <a:br>
              <a:rPr lang="en-US" b="1" dirty="0"/>
            </a:br>
            <a:r>
              <a:rPr lang="en-US" sz="2400" b="1" dirty="0"/>
              <a:t> Information Skills</a:t>
            </a:r>
            <a:br>
              <a:rPr lang="en-US" sz="2800" b="1" dirty="0">
                <a:latin typeface="Arial Black" panose="020B0A04020102020204" pitchFamily="34" charset="0"/>
              </a:rPr>
            </a:br>
            <a:br>
              <a:rPr lang="en-US" sz="2400" b="1" dirty="0"/>
            </a:br>
            <a:br>
              <a:rPr lang="en-US" sz="2400" b="1" dirty="0"/>
            </a:br>
            <a:endParaRPr lang="en-US" dirty="0"/>
          </a:p>
        </p:txBody>
      </p:sp>
      <p:sp>
        <p:nvSpPr>
          <p:cNvPr id="4099" name="Content Placeholder 2"/>
          <p:cNvSpPr>
            <a:spLocks noGrp="1"/>
          </p:cNvSpPr>
          <p:nvPr>
            <p:ph idx="1"/>
          </p:nvPr>
        </p:nvSpPr>
        <p:spPr>
          <a:xfrm>
            <a:off x="1341438" y="1076325"/>
            <a:ext cx="7802562" cy="5486400"/>
          </a:xfrm>
        </p:spPr>
        <p:txBody>
          <a:bodyPr/>
          <a:lstStyle/>
          <a:p>
            <a:pPr>
              <a:buFontTx/>
              <a:buChar char="-"/>
            </a:pPr>
            <a:r>
              <a:rPr lang="en-US" sz="2000" dirty="0">
                <a:latin typeface="Californian FB" panose="0207040306080B030204" pitchFamily="18" charset="0"/>
              </a:rPr>
              <a:t>These are skills for handling information.</a:t>
            </a:r>
          </a:p>
          <a:p>
            <a:pPr>
              <a:buFontTx/>
              <a:buChar char="-"/>
            </a:pPr>
            <a:r>
              <a:rPr lang="en-US" sz="2000" dirty="0">
                <a:latin typeface="Californian FB" panose="0207040306080B030204" pitchFamily="18" charset="0"/>
              </a:rPr>
              <a:t>They involve ability to access, evaluate and use information</a:t>
            </a:r>
          </a:p>
          <a:p>
            <a:pPr>
              <a:buFontTx/>
              <a:buChar char="-"/>
            </a:pPr>
            <a:endParaRPr lang="en-US" sz="2000" dirty="0">
              <a:latin typeface="Californian FB" panose="0207040306080B030204" pitchFamily="18" charset="0"/>
            </a:endParaRPr>
          </a:p>
          <a:p>
            <a:pPr>
              <a:buFontTx/>
              <a:buChar char="-"/>
            </a:pPr>
            <a:endParaRPr lang="en-US" sz="2000" dirty="0">
              <a:latin typeface="Californian FB" panose="0207040306080B030204" pitchFamily="18" charset="0"/>
            </a:endParaRPr>
          </a:p>
          <a:p>
            <a:pPr>
              <a:buFontTx/>
              <a:buChar char="-"/>
            </a:pPr>
            <a:endParaRPr lang="en-US" sz="2000" dirty="0">
              <a:latin typeface="Californian FB" panose="0207040306080B030204" pitchFamily="18" charset="0"/>
            </a:endParaRPr>
          </a:p>
          <a:p>
            <a:pPr>
              <a:buFontTx/>
              <a:buChar char="-"/>
            </a:pPr>
            <a:r>
              <a:rPr lang="en-US" sz="2000" dirty="0">
                <a:latin typeface="Californian FB" panose="0207040306080B030204" pitchFamily="18" charset="0"/>
              </a:rPr>
              <a:t>To be information literate, you need information skills that enable you to:</a:t>
            </a:r>
          </a:p>
          <a:p>
            <a:pPr lvl="1">
              <a:buFontTx/>
              <a:buChar char="-"/>
            </a:pPr>
            <a:r>
              <a:rPr lang="en-US" sz="2000" dirty="0">
                <a:latin typeface="Californian FB" panose="0207040306080B030204" pitchFamily="18" charset="0"/>
              </a:rPr>
              <a:t>Recognize when you need information</a:t>
            </a:r>
          </a:p>
          <a:p>
            <a:pPr lvl="1">
              <a:buFontTx/>
              <a:buChar char="-"/>
            </a:pPr>
            <a:r>
              <a:rPr lang="en-US" sz="2000" dirty="0">
                <a:latin typeface="Californian FB" panose="0207040306080B030204" pitchFamily="18" charset="0"/>
              </a:rPr>
              <a:t>Know where and how to find information using various resources.</a:t>
            </a:r>
          </a:p>
          <a:p>
            <a:pPr lvl="1">
              <a:buFontTx/>
              <a:buChar char="-"/>
            </a:pPr>
            <a:r>
              <a:rPr lang="en-US" sz="2000" dirty="0">
                <a:latin typeface="Californian FB" panose="0207040306080B030204" pitchFamily="18" charset="0"/>
              </a:rPr>
              <a:t>Work with the information to evaluate and synthesize it.</a:t>
            </a:r>
          </a:p>
          <a:p>
            <a:pPr lvl="1">
              <a:buFontTx/>
              <a:buChar char="-"/>
            </a:pPr>
            <a:r>
              <a:rPr lang="en-US" sz="2000" dirty="0">
                <a:latin typeface="Californian FB" panose="0207040306080B030204" pitchFamily="18" charset="0"/>
              </a:rPr>
              <a:t>Use the information effectively.</a:t>
            </a:r>
          </a:p>
          <a:p>
            <a:pPr lvl="1">
              <a:buFontTx/>
              <a:buChar char="-"/>
            </a:pPr>
            <a:r>
              <a:rPr lang="en-US" sz="2000" dirty="0">
                <a:latin typeface="Californian FB" panose="0207040306080B030204" pitchFamily="18" charset="0"/>
              </a:rPr>
              <a:t>Judge how successfully you have utilized the information.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265113"/>
            <a:ext cx="7802562" cy="549275"/>
          </a:xfrm>
        </p:spPr>
        <p:txBody>
          <a:bodyPr/>
          <a:lstStyle/>
          <a:p>
            <a:br>
              <a:rPr lang="en-US" b="1" dirty="0"/>
            </a:br>
            <a:br>
              <a:rPr lang="en-US" b="1" dirty="0"/>
            </a:br>
            <a:r>
              <a:rPr lang="en-US" sz="2400" b="1" dirty="0"/>
              <a:t> Information Society</a:t>
            </a:r>
            <a:br>
              <a:rPr lang="en-US" sz="2800" b="1" dirty="0">
                <a:latin typeface="Arial Black" panose="020B0A04020102020204" pitchFamily="34" charset="0"/>
              </a:rPr>
            </a:br>
            <a:br>
              <a:rPr lang="en-US" sz="2400" b="1" dirty="0"/>
            </a:br>
            <a:br>
              <a:rPr lang="en-US" sz="2400" b="1" dirty="0"/>
            </a:br>
            <a:endParaRPr lang="en-US" dirty="0"/>
          </a:p>
        </p:txBody>
      </p:sp>
      <p:sp>
        <p:nvSpPr>
          <p:cNvPr id="4099" name="Content Placeholder 2"/>
          <p:cNvSpPr>
            <a:spLocks noGrp="1"/>
          </p:cNvSpPr>
          <p:nvPr>
            <p:ph idx="1"/>
          </p:nvPr>
        </p:nvSpPr>
        <p:spPr>
          <a:xfrm>
            <a:off x="1341438" y="1076324"/>
            <a:ext cx="7802562" cy="5781675"/>
          </a:xfrm>
        </p:spPr>
        <p:txBody>
          <a:bodyPr/>
          <a:lstStyle/>
          <a:p>
            <a:pPr marL="0" indent="0">
              <a:buNone/>
            </a:pPr>
            <a:r>
              <a:rPr lang="en-US" sz="2400" dirty="0">
                <a:latin typeface="Californian FB" panose="0207040306080B030204" pitchFamily="18" charset="0"/>
              </a:rPr>
              <a:t>Information has become one of the defining features of the modern world.</a:t>
            </a:r>
          </a:p>
          <a:p>
            <a:endParaRPr lang="en-US" sz="2400" dirty="0">
              <a:latin typeface="Californian FB" panose="0207040306080B030204" pitchFamily="18" charset="0"/>
            </a:endParaRPr>
          </a:p>
          <a:p>
            <a:pPr marL="0" indent="0">
              <a:buNone/>
            </a:pPr>
            <a:r>
              <a:rPr lang="en-US" sz="2400" dirty="0">
                <a:latin typeface="Californian FB" panose="0207040306080B030204" pitchFamily="18" charset="0"/>
              </a:rPr>
              <a:t>Creation, packaging and use of information have accelerated so fast that we speak of information explosion.</a:t>
            </a:r>
          </a:p>
          <a:p>
            <a:endParaRPr lang="en-US" sz="2400" dirty="0">
              <a:latin typeface="Californian FB" panose="0207040306080B030204" pitchFamily="18" charset="0"/>
            </a:endParaRPr>
          </a:p>
          <a:p>
            <a:pPr marL="0" indent="0">
              <a:buNone/>
            </a:pPr>
            <a:r>
              <a:rPr lang="en-US" sz="2400" dirty="0">
                <a:latin typeface="Californian FB" panose="0207040306080B030204" pitchFamily="18" charset="0"/>
              </a:rPr>
              <a:t>The increase in information has resulted in a new social system – The information society:</a:t>
            </a:r>
          </a:p>
          <a:p>
            <a:pPr marL="0" indent="0">
              <a:buNone/>
            </a:pPr>
            <a:endParaRPr lang="en-US" sz="2400" dirty="0">
              <a:latin typeface="Californian FB" panose="0207040306080B030204" pitchFamily="18" charset="0"/>
            </a:endParaRPr>
          </a:p>
          <a:p>
            <a:pPr marL="0" indent="0" algn="just">
              <a:buNone/>
            </a:pPr>
            <a:r>
              <a:rPr lang="en-US" sz="2800" dirty="0">
                <a:solidFill>
                  <a:srgbClr val="0070C0"/>
                </a:solidFill>
                <a:latin typeface="Californian FB" panose="0207040306080B030204" pitchFamily="18" charset="0"/>
              </a:rPr>
              <a:t>“A society where the production, transmission, and manipulation of information have significant economic, cultural, and social importance, primarily driven by information technology”.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265113"/>
            <a:ext cx="7802562" cy="549275"/>
          </a:xfrm>
        </p:spPr>
        <p:txBody>
          <a:bodyPr/>
          <a:lstStyle/>
          <a:p>
            <a:br>
              <a:rPr lang="en-US" b="1" dirty="0"/>
            </a:br>
            <a:br>
              <a:rPr lang="en-US" b="1" dirty="0"/>
            </a:br>
            <a:r>
              <a:rPr lang="en-US" sz="2400" b="1" dirty="0"/>
              <a:t> Development of the information society</a:t>
            </a:r>
            <a:br>
              <a:rPr lang="en-US" sz="2800" b="1" dirty="0">
                <a:latin typeface="Arial Black" panose="020B0A04020102020204" pitchFamily="34" charset="0"/>
              </a:rPr>
            </a:br>
            <a:br>
              <a:rPr lang="en-US" sz="2400" b="1" dirty="0"/>
            </a:br>
            <a:br>
              <a:rPr lang="en-US" sz="2400" b="1" dirty="0"/>
            </a:br>
            <a:endParaRPr lang="en-US" dirty="0"/>
          </a:p>
        </p:txBody>
      </p:sp>
      <p:sp>
        <p:nvSpPr>
          <p:cNvPr id="4099" name="Content Placeholder 2"/>
          <p:cNvSpPr>
            <a:spLocks noGrp="1"/>
          </p:cNvSpPr>
          <p:nvPr>
            <p:ph idx="1"/>
          </p:nvPr>
        </p:nvSpPr>
        <p:spPr>
          <a:xfrm>
            <a:off x="1341438" y="1076325"/>
            <a:ext cx="7802562" cy="5486400"/>
          </a:xfrm>
        </p:spPr>
        <p:txBody>
          <a:bodyPr/>
          <a:lstStyle/>
          <a:p>
            <a:pPr marL="0" indent="0">
              <a:buNone/>
            </a:pPr>
            <a:r>
              <a:rPr lang="en-US" sz="2400" dirty="0">
                <a:latin typeface="Californian FB" panose="0207040306080B030204" pitchFamily="18" charset="0"/>
              </a:rPr>
              <a:t>Throughout history, humans have made use of information to increase their chances of survival and improve the quality of life. </a:t>
            </a:r>
          </a:p>
          <a:p>
            <a:endParaRPr lang="en-US" sz="2400" dirty="0">
              <a:latin typeface="Californian FB" panose="0207040306080B030204" pitchFamily="18" charset="0"/>
            </a:endParaRPr>
          </a:p>
          <a:p>
            <a:pPr marL="0" indent="0">
              <a:buNone/>
            </a:pPr>
            <a:r>
              <a:rPr lang="en-US" sz="2400" dirty="0">
                <a:latin typeface="Californian FB" panose="0207040306080B030204" pitchFamily="18" charset="0"/>
              </a:rPr>
              <a:t>They had different ways of storing and transmitting information.</a:t>
            </a:r>
          </a:p>
          <a:p>
            <a:endParaRPr lang="en-US" sz="2400" dirty="0">
              <a:latin typeface="Californian FB" panose="0207040306080B030204" pitchFamily="18" charset="0"/>
            </a:endParaRPr>
          </a:p>
          <a:p>
            <a:pPr marL="0" indent="0">
              <a:buNone/>
            </a:pPr>
            <a:r>
              <a:rPr lang="en-US" sz="2400" dirty="0">
                <a:latin typeface="Californian FB" panose="0207040306080B030204" pitchFamily="18" charset="0"/>
              </a:rPr>
              <a:t>Inventions of the 19</a:t>
            </a:r>
            <a:r>
              <a:rPr lang="en-US" sz="2400" baseline="30000" dirty="0">
                <a:latin typeface="Californian FB" panose="0207040306080B030204" pitchFamily="18" charset="0"/>
              </a:rPr>
              <a:t>th</a:t>
            </a:r>
            <a:r>
              <a:rPr lang="en-US" sz="2400" dirty="0">
                <a:latin typeface="Californian FB" panose="0207040306080B030204" pitchFamily="18" charset="0"/>
              </a:rPr>
              <a:t> C had a radical effect on the amount of information which was available.</a:t>
            </a:r>
          </a:p>
          <a:p>
            <a:endParaRPr lang="en-US" sz="2400" dirty="0">
              <a:latin typeface="Californian FB" panose="0207040306080B030204" pitchFamily="18" charset="0"/>
            </a:endParaRPr>
          </a:p>
          <a:p>
            <a:pPr marL="0" indent="0">
              <a:buNone/>
            </a:pPr>
            <a:r>
              <a:rPr lang="en-US" sz="2400" dirty="0">
                <a:latin typeface="Californian FB" panose="0207040306080B030204" pitchFamily="18" charset="0"/>
              </a:rPr>
              <a:t>The power of these new technological inventions later especially in combination with one another, led to information era.</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1341438" y="265113"/>
            <a:ext cx="7802562" cy="549275"/>
          </a:xfrm>
        </p:spPr>
        <p:txBody>
          <a:bodyPr/>
          <a:lstStyle/>
          <a:p>
            <a:br>
              <a:rPr lang="en-US" b="1" dirty="0"/>
            </a:br>
            <a:br>
              <a:rPr lang="en-US" b="1" dirty="0"/>
            </a:br>
            <a:r>
              <a:rPr lang="en-US" sz="2400" b="1" dirty="0"/>
              <a:t> Information Literacy Definition</a:t>
            </a:r>
            <a:br>
              <a:rPr lang="en-US" sz="2800" b="1" dirty="0">
                <a:latin typeface="Arial Black" panose="020B0A04020102020204" pitchFamily="34" charset="0"/>
              </a:rPr>
            </a:br>
            <a:br>
              <a:rPr lang="en-US" sz="2400" b="1" dirty="0"/>
            </a:br>
            <a:br>
              <a:rPr lang="en-US" sz="2400" b="1" dirty="0"/>
            </a:br>
            <a:endParaRPr lang="en-US" dirty="0"/>
          </a:p>
        </p:txBody>
      </p:sp>
      <p:sp>
        <p:nvSpPr>
          <p:cNvPr id="4099" name="Content Placeholder 2"/>
          <p:cNvSpPr>
            <a:spLocks noGrp="1"/>
          </p:cNvSpPr>
          <p:nvPr>
            <p:ph idx="1"/>
          </p:nvPr>
        </p:nvSpPr>
        <p:spPr>
          <a:xfrm>
            <a:off x="1341438" y="1076325"/>
            <a:ext cx="7802562" cy="5486400"/>
          </a:xfrm>
        </p:spPr>
        <p:txBody>
          <a:bodyPr/>
          <a:lstStyle/>
          <a:p>
            <a:pPr marL="0" indent="0">
              <a:buNone/>
            </a:pPr>
            <a:r>
              <a:rPr lang="en-US" sz="2400" dirty="0">
                <a:latin typeface="Californian FB" panose="0207040306080B030204" pitchFamily="18" charset="0"/>
              </a:rPr>
              <a:t>A set of abilities requiring individuals to recognize when information is needed, have the ability to locate, evaluate and use effectively the required information.</a:t>
            </a:r>
          </a:p>
          <a:p>
            <a:endParaRPr lang="en-US" sz="2400" dirty="0">
              <a:latin typeface="Californian FB" panose="0207040306080B030204" pitchFamily="18" charset="0"/>
            </a:endParaRPr>
          </a:p>
          <a:p>
            <a:pPr marL="0" indent="0">
              <a:buNone/>
            </a:pPr>
            <a:r>
              <a:rPr lang="en-US" sz="2400" dirty="0">
                <a:latin typeface="Californian FB" panose="0207040306080B030204" pitchFamily="18" charset="0"/>
              </a:rPr>
              <a:t>Knowing when and why you need information, where to find it, and how to evaluate, use and communicate it in an ethical manner (Abel </a:t>
            </a:r>
            <a:r>
              <a:rPr lang="en-US" sz="2400" i="1" dirty="0">
                <a:latin typeface="Californian FB" panose="0207040306080B030204" pitchFamily="18" charset="0"/>
              </a:rPr>
              <a:t>et al., 2005:24)</a:t>
            </a:r>
          </a:p>
          <a:p>
            <a:endParaRPr lang="en-US" sz="2400" i="1" dirty="0">
              <a:latin typeface="Californian FB" panose="0207040306080B030204" pitchFamily="18" charset="0"/>
            </a:endParaRPr>
          </a:p>
          <a:p>
            <a:endParaRPr lang="en-US" sz="2400" dirty="0">
              <a:latin typeface="Californian FB" panose="0207040306080B030204" pitchFamily="18" charset="0"/>
            </a:endParaRPr>
          </a:p>
          <a:p>
            <a:pPr marL="0" indent="0">
              <a:buNone/>
            </a:pPr>
            <a:r>
              <a:rPr lang="en-US" sz="2400" dirty="0">
                <a:latin typeface="Californian FB" panose="0207040306080B030204" pitchFamily="18" charset="0"/>
              </a:rPr>
              <a:t>It is the basis for lifelong learning.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lstStyle/>
          <a:p>
            <a:r>
              <a:rPr dirty="0"/>
              <a:t>What Is Academic Writing?</a:t>
            </a:r>
          </a:p>
        </p:txBody>
      </p:sp>
      <p:sp>
        <p:nvSpPr>
          <p:cNvPr id="3" name="Content Placeholder 2"/>
          <p:cNvSpPr>
            <a:spLocks noGrp="1"/>
          </p:cNvSpPr>
          <p:nvPr>
            <p:ph idx="1"/>
          </p:nvPr>
        </p:nvSpPr>
        <p:spPr>
          <a:xfrm>
            <a:off x="1371600" y="1066800"/>
            <a:ext cx="7772400" cy="5791200"/>
          </a:xfrm>
        </p:spPr>
        <p:txBody>
          <a:bodyPr>
            <a:normAutofit/>
          </a:bodyPr>
          <a:lstStyle/>
          <a:p>
            <a:pPr marL="0" indent="0">
              <a:buNone/>
            </a:pPr>
            <a:endParaRPr lang="en-US" dirty="0"/>
          </a:p>
          <a:p>
            <a:pPr marL="0" indent="0">
              <a:buNone/>
            </a:pPr>
            <a:r>
              <a:rPr dirty="0"/>
              <a:t>Formal writing used in universities to communicate research and ideas.</a:t>
            </a:r>
          </a:p>
          <a:p>
            <a:endParaRPr dirty="0"/>
          </a:p>
          <a:p>
            <a:pPr marL="114300" indent="0">
              <a:buNone/>
            </a:pPr>
            <a:r>
              <a:rPr dirty="0"/>
              <a:t>Characteristics:</a:t>
            </a:r>
          </a:p>
          <a:p>
            <a:pPr marL="114300" indent="0">
              <a:buNone/>
            </a:pPr>
            <a:r>
              <a:rPr dirty="0"/>
              <a:t>- Clear structure</a:t>
            </a:r>
          </a:p>
          <a:p>
            <a:pPr marL="114300" indent="0">
              <a:buNone/>
            </a:pPr>
            <a:r>
              <a:rPr dirty="0"/>
              <a:t>- Evidence-based</a:t>
            </a:r>
          </a:p>
          <a:p>
            <a:pPr marL="114300" indent="0">
              <a:buNone/>
            </a:pPr>
            <a:r>
              <a:rPr dirty="0"/>
              <a:t>- Formal tone</a:t>
            </a:r>
          </a:p>
          <a:p>
            <a:pPr marL="114300" indent="0">
              <a:buNone/>
            </a:pPr>
            <a:r>
              <a:rPr dirty="0"/>
              <a:t>- Proper citations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639762"/>
          </a:xfrm>
        </p:spPr>
        <p:txBody>
          <a:bodyPr/>
          <a:lstStyle/>
          <a:p>
            <a:r>
              <a:rPr sz="3200" dirty="0"/>
              <a:t>Common Types of Academic Writing</a:t>
            </a:r>
          </a:p>
        </p:txBody>
      </p:sp>
      <p:sp>
        <p:nvSpPr>
          <p:cNvPr id="3" name="Content Placeholder 2"/>
          <p:cNvSpPr>
            <a:spLocks noGrp="1"/>
          </p:cNvSpPr>
          <p:nvPr>
            <p:ph idx="1"/>
          </p:nvPr>
        </p:nvSpPr>
        <p:spPr>
          <a:xfrm>
            <a:off x="1371600" y="1295400"/>
            <a:ext cx="7696200" cy="5486400"/>
          </a:xfrm>
        </p:spPr>
        <p:txBody>
          <a:bodyPr/>
          <a:lstStyle/>
          <a:p>
            <a:pPr marL="114300" indent="0">
              <a:buNone/>
            </a:pPr>
            <a:r>
              <a:rPr dirty="0"/>
              <a:t>- Essays</a:t>
            </a:r>
          </a:p>
          <a:p>
            <a:pPr marL="114300" indent="0">
              <a:buNone/>
            </a:pPr>
            <a:r>
              <a:rPr dirty="0"/>
              <a:t>- Research Papers</a:t>
            </a:r>
          </a:p>
          <a:p>
            <a:pPr marL="114300" indent="0">
              <a:buNone/>
            </a:pPr>
            <a:r>
              <a:rPr dirty="0"/>
              <a:t>- Reports</a:t>
            </a:r>
          </a:p>
          <a:p>
            <a:pPr marL="114300" indent="0">
              <a:buNone/>
            </a:pPr>
            <a:r>
              <a:rPr dirty="0"/>
              <a:t>- Reviews</a:t>
            </a:r>
          </a:p>
          <a:p>
            <a:pPr marL="114300" indent="0">
              <a:buNone/>
            </a:pPr>
            <a:r>
              <a:rPr dirty="0"/>
              <a:t>- Case Studies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lstStyle/>
          <a:p>
            <a:r>
              <a:rPr dirty="0"/>
              <a:t>Why These Skills Matter</a:t>
            </a:r>
          </a:p>
        </p:txBody>
      </p:sp>
      <p:sp>
        <p:nvSpPr>
          <p:cNvPr id="3" name="Content Placeholder 2"/>
          <p:cNvSpPr>
            <a:spLocks noGrp="1"/>
          </p:cNvSpPr>
          <p:nvPr>
            <p:ph idx="1"/>
          </p:nvPr>
        </p:nvSpPr>
        <p:spPr>
          <a:xfrm>
            <a:off x="1371600" y="1600200"/>
            <a:ext cx="7620000" cy="4525963"/>
          </a:xfrm>
        </p:spPr>
        <p:txBody>
          <a:bodyPr/>
          <a:lstStyle/>
          <a:p>
            <a:pPr marL="114300" indent="0">
              <a:buNone/>
            </a:pPr>
            <a:r>
              <a:rPr dirty="0"/>
              <a:t>Good Academic Writing Needs Good Information</a:t>
            </a:r>
            <a:endParaRPr lang="en-US" dirty="0"/>
          </a:p>
          <a:p>
            <a:pPr marL="114300" indent="0">
              <a:buNone/>
            </a:pPr>
            <a:endParaRPr dirty="0"/>
          </a:p>
          <a:p>
            <a:pPr marL="114300" indent="0">
              <a:buNone/>
            </a:pPr>
            <a:r>
              <a:rPr dirty="0"/>
              <a:t>- Weak sources = weak arguments</a:t>
            </a:r>
          </a:p>
          <a:p>
            <a:pPr marL="114300" indent="0">
              <a:buNone/>
            </a:pPr>
            <a:r>
              <a:rPr dirty="0"/>
              <a:t>- Strong research = credible writing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2A4DB-F908-46B8-A5CE-C8F7B9745EE0}"/>
              </a:ext>
            </a:extLst>
          </p:cNvPr>
          <p:cNvSpPr>
            <a:spLocks noGrp="1"/>
          </p:cNvSpPr>
          <p:nvPr>
            <p:ph type="title"/>
          </p:nvPr>
        </p:nvSpPr>
        <p:spPr>
          <a:xfrm>
            <a:off x="1371600" y="274638"/>
            <a:ext cx="7315200" cy="639762"/>
          </a:xfrm>
        </p:spPr>
        <p:txBody>
          <a:bodyPr/>
          <a:lstStyle/>
          <a:p>
            <a:r>
              <a:rPr lang="en-US" dirty="0"/>
              <a:t>Further reading</a:t>
            </a:r>
          </a:p>
        </p:txBody>
      </p:sp>
      <p:sp>
        <p:nvSpPr>
          <p:cNvPr id="3" name="Content Placeholder 2">
            <a:extLst>
              <a:ext uri="{FF2B5EF4-FFF2-40B4-BE49-F238E27FC236}">
                <a16:creationId xmlns:a16="http://schemas.microsoft.com/office/drawing/2014/main" id="{BFB20B25-FB04-4AAC-A6DF-1E6EEF315E94}"/>
              </a:ext>
            </a:extLst>
          </p:cNvPr>
          <p:cNvSpPr>
            <a:spLocks noGrp="1"/>
          </p:cNvSpPr>
          <p:nvPr>
            <p:ph idx="1"/>
          </p:nvPr>
        </p:nvSpPr>
        <p:spPr>
          <a:xfrm>
            <a:off x="1371600" y="1066800"/>
            <a:ext cx="7696200" cy="5059363"/>
          </a:xfrm>
        </p:spPr>
        <p:txBody>
          <a:bodyPr/>
          <a:lstStyle/>
          <a:p>
            <a:pPr marL="0" indent="0">
              <a:buNone/>
            </a:pPr>
            <a:r>
              <a:rPr lang="en-US" sz="1400" u="sng" dirty="0">
                <a:hlinkClick r:id="rId2">
                  <a:extLst>
                    <a:ext uri="{A12FA001-AC4F-418D-AE19-62706E023703}">
                      <ahyp:hlinkClr xmlns:ahyp="http://schemas.microsoft.com/office/drawing/2018/hyperlinkcolor" val="tx"/>
                    </a:ext>
                  </a:extLst>
                </a:hlinkClick>
              </a:rPr>
              <a:t>1. </a:t>
            </a:r>
            <a:r>
              <a:rPr lang="en-US" sz="1400" u="sng" dirty="0" err="1">
                <a:hlinkClick r:id="rId2">
                  <a:extLst>
                    <a:ext uri="{A12FA001-AC4F-418D-AE19-62706E023703}">
                      <ahyp:hlinkClr xmlns:ahyp="http://schemas.microsoft.com/office/drawing/2018/hyperlinkcolor" val="tx"/>
                    </a:ext>
                  </a:extLst>
                </a:hlinkClick>
              </a:rPr>
              <a:t>Alewine</a:t>
            </a:r>
            <a:r>
              <a:rPr lang="en-US" sz="1400" u="sng" dirty="0">
                <a:hlinkClick r:id="rId2">
                  <a:extLst>
                    <a:ext uri="{A12FA001-AC4F-418D-AE19-62706E023703}">
                      <ahyp:hlinkClr xmlns:ahyp="http://schemas.microsoft.com/office/drawing/2018/hyperlinkcolor" val="tx"/>
                    </a:ext>
                  </a:extLst>
                </a:hlinkClick>
              </a:rPr>
              <a:t>, Michael C.</a:t>
            </a:r>
            <a:r>
              <a:rPr lang="en-US" sz="1400" u="sng" dirty="0"/>
              <a:t> </a:t>
            </a:r>
            <a:r>
              <a:rPr lang="en-US" sz="1400" dirty="0"/>
              <a:t>Introduction to information literacy for students.</a:t>
            </a:r>
          </a:p>
          <a:p>
            <a:pPr marL="0" indent="0">
              <a:buNone/>
            </a:pPr>
            <a:r>
              <a:rPr lang="en-US" sz="1400" dirty="0">
                <a:hlinkClick r:id="rId3"/>
              </a:rPr>
              <a:t>https://ebookcentral.proquest.com/ebc/lib/kcauebooks/#/detail?docID=7104385&amp;query=information%2520literacy</a:t>
            </a:r>
            <a:endParaRPr lang="en-US" sz="1400" dirty="0"/>
          </a:p>
          <a:p>
            <a:pPr marL="0" indent="0">
              <a:buNone/>
            </a:pPr>
            <a:endParaRPr lang="en-US" sz="1400" dirty="0"/>
          </a:p>
          <a:p>
            <a:pPr marL="0" indent="0">
              <a:buNone/>
            </a:pPr>
            <a:r>
              <a:rPr lang="en-US" sz="1400" dirty="0"/>
              <a:t>2. Strongman, Luke. Academic writing</a:t>
            </a:r>
          </a:p>
          <a:p>
            <a:pPr marL="0" indent="0">
              <a:buNone/>
            </a:pPr>
            <a:r>
              <a:rPr lang="en-US" sz="1400" dirty="0">
                <a:hlinkClick r:id="rId4"/>
              </a:rPr>
              <a:t>https://ebookcentral.proquest.com/ebc/lib/kcauebooks/#/detail?docID=1753150&amp;query=academic%2520writing</a:t>
            </a:r>
            <a:endParaRPr lang="en-US" sz="1400" dirty="0"/>
          </a:p>
          <a:p>
            <a:pPr marL="0" indent="0">
              <a:buNone/>
            </a:pPr>
            <a:endParaRPr lang="en-US" sz="1400" dirty="0"/>
          </a:p>
          <a:p>
            <a:pPr marL="0" indent="0">
              <a:buNone/>
            </a:pPr>
            <a:r>
              <a:rPr lang="en-US" sz="1400" dirty="0"/>
              <a:t>The above books can be accessed through the ProQuest eBook central database on the </a:t>
            </a:r>
            <a:r>
              <a:rPr lang="en-US" sz="1400"/>
              <a:t>KCAU E- library </a:t>
            </a:r>
            <a:endParaRPr lang="en-US" sz="1400" dirty="0"/>
          </a:p>
        </p:txBody>
      </p:sp>
    </p:spTree>
    <p:extLst>
      <p:ext uri="{BB962C8B-B14F-4D97-AF65-F5344CB8AC3E}">
        <p14:creationId xmlns:p14="http://schemas.microsoft.com/office/powerpoint/2010/main" val="14806967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  </a:t>
            </a:r>
          </a:p>
        </p:txBody>
      </p:sp>
      <p:sp>
        <p:nvSpPr>
          <p:cNvPr id="3" name="Text Placeholder 2"/>
          <p:cNvSpPr>
            <a:spLocks noGrp="1"/>
          </p:cNvSpPr>
          <p:nvPr>
            <p:ph type="body" idx="1"/>
          </p:nvPr>
        </p:nvSpPr>
        <p:spPr/>
        <p:txBody>
          <a:bodyPr/>
          <a:lstStyle/>
          <a:p>
            <a:pPr marL="114300" indent="0">
              <a:buNone/>
            </a:pPr>
            <a:r>
              <a:rPr lang="en-US"/>
              <a:t> </a:t>
            </a: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a:t>22</a:t>
            </a:fld>
            <a:endParaRPr lang="en-US"/>
          </a:p>
        </p:txBody>
      </p:sp>
      <p:sp>
        <p:nvSpPr>
          <p:cNvPr id="5" name="Rectangles 4"/>
          <p:cNvSpPr/>
          <p:nvPr/>
        </p:nvSpPr>
        <p:spPr>
          <a:xfrm>
            <a:off x="2193608" y="2829560"/>
            <a:ext cx="4756785" cy="1198880"/>
          </a:xfrm>
          <a:prstGeom prst="rect">
            <a:avLst/>
          </a:prstGeom>
          <a:noFill/>
          <a:ln>
            <a:noFill/>
          </a:ln>
        </p:spPr>
        <p:txBody>
          <a:bodyPr wrap="none" rtlCol="0" anchor="t">
            <a:spAutoFit/>
            <a:scene3d>
              <a:camera prst="orthographicFront"/>
              <a:lightRig rig="soft" dir="t">
                <a:rot lat="0" lon="0" rev="15600000"/>
              </a:lightRig>
            </a:scene3d>
            <a:sp3d extrusionH="57150" prstMaterial="softEdge">
              <a:bevelT w="25400" h="38100"/>
            </a:sp3d>
          </a:bodyPr>
          <a:lstStyle/>
          <a:p>
            <a:pPr algn="ctr"/>
            <a:r>
              <a:rPr lang="en-US" altLang="zh-CN" sz="7200" b="1">
                <a:solidFill>
                  <a:schemeClr val="accent4"/>
                </a:solidFill>
                <a:effectLst/>
              </a:rPr>
              <a:t>Thank you</a:t>
            </a: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373</TotalTime>
  <Words>929</Words>
  <Application>Microsoft Office PowerPoint</Application>
  <PresentationFormat>On-screen Show (4:3)</PresentationFormat>
  <Paragraphs>145</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Arial Black</vt:lpstr>
      <vt:lpstr>Bauhaus 93</vt:lpstr>
      <vt:lpstr>Calibri</vt:lpstr>
      <vt:lpstr>Californian FB</vt:lpstr>
      <vt:lpstr>Times New Roman</vt:lpstr>
      <vt:lpstr>1_Office Theme</vt:lpstr>
      <vt:lpstr>       </vt:lpstr>
      <vt:lpstr>Picture speak</vt:lpstr>
      <vt:lpstr>   Objective   </vt:lpstr>
      <vt:lpstr> </vt:lpstr>
      <vt:lpstr> </vt:lpstr>
      <vt:lpstr>   The world we live in   </vt:lpstr>
      <vt:lpstr>Important</vt:lpstr>
      <vt:lpstr>    Information   </vt:lpstr>
      <vt:lpstr> </vt:lpstr>
      <vt:lpstr>   Information/ Literacy defined   </vt:lpstr>
      <vt:lpstr>   How  information affects us.   </vt:lpstr>
      <vt:lpstr>   How information affects us   </vt:lpstr>
      <vt:lpstr>   Material dimension of information   </vt:lpstr>
      <vt:lpstr>   Information Skills   </vt:lpstr>
      <vt:lpstr>   Information Society   </vt:lpstr>
      <vt:lpstr>   Development of the information society   </vt:lpstr>
      <vt:lpstr>   Information Literacy Definition   </vt:lpstr>
      <vt:lpstr>What Is Academic Writing?</vt:lpstr>
      <vt:lpstr>Common Types of Academic Writing</vt:lpstr>
      <vt:lpstr>Why These Skills Matter</vt:lpstr>
      <vt:lpstr>Further reading</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Benjamin Mutungi</dc:creator>
  <cp:lastModifiedBy>Benjamin Mutungi</cp:lastModifiedBy>
  <cp:revision>79</cp:revision>
  <dcterms:created xsi:type="dcterms:W3CDTF">2012-12-05T15:17:00Z</dcterms:created>
  <dcterms:modified xsi:type="dcterms:W3CDTF">2026-05-26T19:44:41Z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092F5BF3B939459E9049B670716304CC</vt:lpwstr>
  </property>
  <property fmtid="{D5CDD505-2E9C-101B-9397-08002B2CF9AE}" pid="3" name="KSOProductBuildVer">
    <vt:lpwstr>1033-12.2.0.13201</vt:lpwstr>
  </property>
</Properties>
</file>